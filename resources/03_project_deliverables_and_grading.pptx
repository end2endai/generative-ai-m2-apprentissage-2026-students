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deck is the practical companion to the course intro: what to hand in, how you're graded, and how to work efficiently during the hackathon.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things: what you hand in, how grading works for TDs and the project, the hackathon subject, and Claude Code with its quotas and best practices.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five labs build one system brick by brick, and the hackathon is where you turn those skills into your own product. All five TDs are mandatory and chained — each feeds the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new private git repo per group — groups of two, same as the TDs. It holds your filled TD1 to TD5 notebooks plus a projet folder for the hackathon.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Private repo, not a fork. Add End2EndAI as a collaborator. Fill the Excel with one row per group. Commit notebooks executed. Deadline is everything pushed before presentations — Thursday 15:30 push freeze. Push time counts, not commit dates.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final grade is 30% TDs plus 70% hackathon, and up to a +1 bonus from peer voting.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TDs are 30%, graded on the five completed notebooks plus the TD3/4/5 mini-projects. Ten points for notebooks, ten for mini-projects, out of twenty. Your analysis answers must be written by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tracks. Track 1, free innovation, ceiling 20 — build the agentic product you want, a real agent loop with tools. Track 2, extend the PIM Copilot, ceiling 16 — ship at least two new features on the TD5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single LLM call is one input, one output, no outside world. You need an agent — a reason, act, observe loop — when you need live data, actions, an unknown number of steps, reaction to results, or a constraint met by iteration. Litmus test: can I answer in one shot without looking anything up or changing anything?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Hackathon deliverables: a working POC that runs end-to-end, a short live demo, a pitch, and a clean repo — no API key, requirements.txt, README with run instructions. All in the projet folder.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Hackathon rubric out of twenty, 70% of your grade. The agentic toolkit plus features row is worth the most — more features means more points. Track 1 tops at 20, Track 2 at 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 the presentations you rate every other group on a Google Form — four criteria, each 1 to 10. The top group gets +1 on its final grade. Remember: this is a SCORE, not a grade — it only decides the bonus, it's not part of your project grade.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five labs are your toolkit — reuse RAG, MCP, agent, at least one, ideally combined. Agent frameworks like LangGraph or Google ADK are allowed. Mocked data and APIs are allowed. Model: Haiku only, claude-haiku-4-5. Use Claude Code to write your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separate things, don't confuse them. Claude Code on your Pro/Max subscription is your coding assistant, with rolling-window and weekly limits. The Anthropic API with Haiku is what your app calls — one key per group, and the budget is SHARED across all groups, so be mindful. Track usage with /usage, /cost, /context.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 Code best practices: plan first with plan mode, manage context with /clear and /context, give it something to verify, keep a short CLAUDE.md, delegate to subagents, and pick the right model — Sonnet for most coding, Opus sparingly, Haiku for simple tasks.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Day 1 Wednesday 9:00 — kickoff and idea validation, then build. Day 2 Thursday until 19:15 — build, push freeze at 15:30, presentations 16:00 to 19:00. Format: a pitch with a live demo, 5 minutes sharp plus 5 minutes Q&amp;A. Order drawn at random.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forget: never commit your API key, use a gitignored .env. All 5 TDs are mandatory. Commit notebooks executed. Analysis answers in your own words. Keep scope tight — one killer flow beats an over-ambitious half-working demo. Stuck? Ask Claude first, then the instructor.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Questions? Ask Claude first, then reach out to me. Good luck — keep scope tight and have fun building.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21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3121298"/>
            <a:ext cx="178117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08B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GENERATIVE AI · M2 IASD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3702323"/>
            <a:ext cx="15716250" cy="10088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7800" b="1" spc="-225" kern="0" dirty="0">
                <a:solidFill>
                  <a:srgbClr val="F3ED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Labs &amp; Hackathon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1047750" y="4806404"/>
            <a:ext cx="17811750" cy="5828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900" spc="-75" kern="0" dirty="0">
                <a:solidFill>
                  <a:srgbClr val="C9B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Deliverables, Grading &amp; Practical Guide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1047750" y="5732190"/>
            <a:ext cx="117348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A99E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hand in, how you're graded, and how to work efficiently.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1047750" y="7001396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E08B64"/>
          </a:solidFill>
          <a:ln/>
        </p:spPr>
      </p:sp>
      <p:sp>
        <p:nvSpPr>
          <p:cNvPr id="7" name="Text 5"/>
          <p:cNvSpPr/>
          <p:nvPr/>
        </p:nvSpPr>
        <p:spPr>
          <a:xfrm>
            <a:off x="1333500" y="6913290"/>
            <a:ext cx="141357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8F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notebooks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3089970" y="7001396"/>
            <a:ext cx="152400" cy="152400"/>
          </a:xfrm>
          <a:prstGeom prst="ellipse">
            <a:avLst/>
          </a:prstGeom>
          <a:solidFill>
            <a:srgbClr val="E08B64"/>
          </a:solidFill>
          <a:ln/>
        </p:spPr>
      </p:sp>
      <p:sp>
        <p:nvSpPr>
          <p:cNvPr id="9" name="Text 7"/>
          <p:cNvSpPr/>
          <p:nvPr/>
        </p:nvSpPr>
        <p:spPr>
          <a:xfrm>
            <a:off x="3375720" y="6913290"/>
            <a:ext cx="81915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8F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 rot="2700000">
            <a:off x="4537770" y="7001396"/>
            <a:ext cx="152400" cy="152400"/>
          </a:xfrm>
          <a:prstGeom prst="rect">
            <a:avLst/>
          </a:prstGeom>
          <a:solidFill>
            <a:srgbClr val="E08B64"/>
          </a:solidFill>
          <a:ln/>
        </p:spPr>
      </p:sp>
      <p:sp>
        <p:nvSpPr>
          <p:cNvPr id="11" name="Text 9"/>
          <p:cNvSpPr/>
          <p:nvPr/>
        </p:nvSpPr>
        <p:spPr>
          <a:xfrm>
            <a:off x="4823520" y="6913290"/>
            <a:ext cx="141357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8F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hackathon</a:t>
            </a:r>
            <a:endParaRPr lang="en-US" sz="1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76300"/>
            <a:ext cx="178117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AGENDA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23975"/>
            <a:ext cx="1781175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500" b="1" spc="-112" kern="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deck covers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47750" y="4367213"/>
            <a:ext cx="7962900" cy="1481138"/>
          </a:xfrm>
          <a:prstGeom prst="roundRect">
            <a:avLst>
              <a:gd name="adj" fmla="val 10289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38275" y="4738688"/>
            <a:ext cx="372889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C05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2001664" y="4738688"/>
            <a:ext cx="464186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hand in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2001664" y="5186363"/>
            <a:ext cx="4641860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74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repo, notebooks + project folder.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277350" y="4367213"/>
            <a:ext cx="7962900" cy="1481138"/>
          </a:xfrm>
          <a:prstGeom prst="roundRect">
            <a:avLst>
              <a:gd name="adj" fmla="val 10289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67875" y="4738688"/>
            <a:ext cx="372889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C05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0231264" y="4738688"/>
            <a:ext cx="3114191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you're graded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0231264" y="5186363"/>
            <a:ext cx="3114191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74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TDs + hackathon project.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047750" y="6115050"/>
            <a:ext cx="7962900" cy="1481138"/>
          </a:xfrm>
          <a:prstGeom prst="roundRect">
            <a:avLst>
              <a:gd name="adj" fmla="val 10289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438275" y="6486525"/>
            <a:ext cx="372889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C05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2001664" y="6486525"/>
            <a:ext cx="3584451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hackathon subject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2001664" y="6934200"/>
            <a:ext cx="3584451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74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tracks to choose from.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277350" y="6115050"/>
            <a:ext cx="7962900" cy="1481138"/>
          </a:xfrm>
          <a:prstGeom prst="roundRect">
            <a:avLst>
              <a:gd name="adj" fmla="val 10289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67875" y="6486525"/>
            <a:ext cx="372889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C05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10231264" y="6486525"/>
            <a:ext cx="358461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&amp; quotas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0231264" y="6934200"/>
            <a:ext cx="358461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74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Tools, limits, best practices.</a:t>
            </a:r>
            <a:endParaRPr lang="en-US" sz="1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76300"/>
            <a:ext cx="178117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BIG PICTURE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23975"/>
            <a:ext cx="1466850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500" b="1" spc="-112" kern="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labs build one thing, brick by brick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47750" y="4350544"/>
            <a:ext cx="2119982" cy="1271588"/>
          </a:xfrm>
          <a:prstGeom prst="roundRect">
            <a:avLst>
              <a:gd name="adj" fmla="val 10487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9868" y="4645819"/>
            <a:ext cx="197574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19868" y="5017294"/>
            <a:ext cx="197574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Embeddings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301082" y="4350544"/>
            <a:ext cx="400050" cy="13096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C9B8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3758282" y="4350544"/>
            <a:ext cx="2120057" cy="1271588"/>
          </a:xfrm>
          <a:prstGeom prst="roundRect">
            <a:avLst>
              <a:gd name="adj" fmla="val 10487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30397" y="4645819"/>
            <a:ext cx="197582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830397" y="5017294"/>
            <a:ext cx="1975827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011689" y="4350544"/>
            <a:ext cx="400050" cy="13096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C9B8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6468889" y="4350544"/>
            <a:ext cx="2119982" cy="1271588"/>
          </a:xfrm>
          <a:prstGeom prst="roundRect">
            <a:avLst>
              <a:gd name="adj" fmla="val 10487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41007" y="4645819"/>
            <a:ext cx="197574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41007" y="5017294"/>
            <a:ext cx="197574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22221" y="4350544"/>
            <a:ext cx="400050" cy="13096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C9B8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79421" y="4350544"/>
            <a:ext cx="2119982" cy="1271588"/>
          </a:xfrm>
          <a:prstGeom prst="roundRect">
            <a:avLst>
              <a:gd name="adj" fmla="val 10487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51539" y="4645819"/>
            <a:ext cx="197574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251539" y="5017294"/>
            <a:ext cx="197574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1432753" y="4350544"/>
            <a:ext cx="400050" cy="13096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C9B8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11889953" y="4350544"/>
            <a:ext cx="2119982" cy="1271588"/>
          </a:xfrm>
          <a:prstGeom prst="roundRect">
            <a:avLst>
              <a:gd name="adj" fmla="val 10487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962072" y="4645819"/>
            <a:ext cx="197574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TD5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1962072" y="5017294"/>
            <a:ext cx="197574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14143286" y="4350544"/>
            <a:ext cx="400050" cy="13096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C05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14600486" y="4350544"/>
            <a:ext cx="2639764" cy="1271588"/>
          </a:xfrm>
          <a:prstGeom prst="roundRect">
            <a:avLst>
              <a:gd name="adj" fmla="val 10487"/>
            </a:avLst>
          </a:prstGeom>
          <a:solidFill>
            <a:srgbClr val="C05F38"/>
          </a:solidFill>
          <a:ln/>
        </p:spPr>
      </p:sp>
      <p:sp>
        <p:nvSpPr>
          <p:cNvPr id="25" name="Text 23"/>
          <p:cNvSpPr/>
          <p:nvPr/>
        </p:nvSpPr>
        <p:spPr>
          <a:xfrm>
            <a:off x="14636137" y="4636294"/>
            <a:ext cx="256846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D8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GOAL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4636137" y="5007769"/>
            <a:ext cx="2568461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1047750" y="6155531"/>
            <a:ext cx="12753975" cy="962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hackathon is where you turn those skills into </a:t>
            </a:r>
            <a:pPr algn="l" indent="0" marL="0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own product</a:t>
            </a:r>
            <a:pPr algn="l"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pPr algn="l" indent="0" marL="0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C05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completes all 5 TDs </a:t>
            </a:r>
            <a:pPr algn="l"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they're chained, each one feeds the next.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76300"/>
            <a:ext cx="178117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DELIVERABLE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23975"/>
            <a:ext cx="1781175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500" b="1" spc="-112" kern="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repo per group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047750" y="4783931"/>
            <a:ext cx="8261111" cy="1019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55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</a:t>
            </a:r>
            <a:pPr algn="l" indent="0" marL="0">
              <a:lnSpc>
                <a:spcPct val="150000"/>
              </a:lnSpc>
              <a:buNone/>
            </a:pPr>
            <a:r>
              <a:rPr lang="en-US" sz="255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private git repo per group </a:t>
            </a:r>
            <a:pPr algn="l" indent="0" marL="0">
              <a:lnSpc>
                <a:spcPct val="150000"/>
              </a:lnSpc>
              <a:buNone/>
            </a:pPr>
            <a:r>
              <a:rPr lang="en-US" sz="255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groups of 2, the </a:t>
            </a:r>
            <a:pPr algn="l" indent="0" marL="0">
              <a:lnSpc>
                <a:spcPct val="150000"/>
              </a:lnSpc>
              <a:buNone/>
            </a:pPr>
            <a:r>
              <a:rPr lang="en-US" sz="255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groups as the TDs</a:t>
            </a:r>
            <a:pPr algn="l" indent="0" marL="0">
              <a:lnSpc>
                <a:spcPct val="150000"/>
              </a:lnSpc>
              <a:buNone/>
            </a:pPr>
            <a:r>
              <a:rPr lang="en-US" sz="255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1047750" y="6088856"/>
            <a:ext cx="8261111" cy="1014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550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contains your </a:t>
            </a:r>
            <a:pPr algn="l" indent="0" marL="0">
              <a:lnSpc>
                <a:spcPct val="150000"/>
              </a:lnSpc>
              <a:buNone/>
            </a:pPr>
            <a:r>
              <a:rPr lang="en-US" sz="2550" b="1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filled TD1–TD5 notebooks </a:t>
            </a:r>
            <a:pPr algn="l" indent="0" marL="0">
              <a:lnSpc>
                <a:spcPct val="150000"/>
              </a:lnSpc>
              <a:buNone/>
            </a:pPr>
            <a:r>
              <a:rPr lang="en-US" sz="2550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 </a:t>
            </a:r>
            <a:pPr algn="l" indent="0" marL="0">
              <a:lnSpc>
                <a:spcPct val="150000"/>
              </a:lnSpc>
              <a:buNone/>
            </a:pPr>
            <a:r>
              <a:rPr lang="en-US" sz="2550" b="1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projet/ </a:t>
            </a:r>
            <a:pPr algn="l" indent="0" marL="0">
              <a:lnSpc>
                <a:spcPct val="150000"/>
              </a:lnSpc>
              <a:buNone/>
            </a:pPr>
            <a:r>
              <a:rPr lang="en-US" sz="2550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folder — the hackathon.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601646" y="4419600"/>
            <a:ext cx="7638604" cy="3009900"/>
          </a:xfrm>
          <a:prstGeom prst="roundRect">
            <a:avLst>
              <a:gd name="adj" fmla="val 5696"/>
            </a:avLst>
          </a:prstGeom>
          <a:solidFill>
            <a:srgbClr val="24211C"/>
          </a:solidFill>
          <a:ln/>
        </p:spPr>
      </p:sp>
      <p:sp>
        <p:nvSpPr>
          <p:cNvPr id="7" name="Text 5"/>
          <p:cNvSpPr/>
          <p:nvPr/>
        </p:nvSpPr>
        <p:spPr>
          <a:xfrm>
            <a:off x="10058846" y="4838700"/>
            <a:ext cx="6925930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90000"/>
              </a:lnSpc>
              <a:buNone/>
            </a:pPr>
            <a:r>
              <a:rPr lang="en-US" sz="2250" dirty="0">
                <a:solidFill>
                  <a:srgbClr val="E08B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repo/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0058846" y="5381625"/>
            <a:ext cx="6925930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90000"/>
              </a:lnSpc>
              <a:buNone/>
            </a:pPr>
            <a:r>
              <a:rPr lang="en-US" sz="2250" dirty="0">
                <a:solidFill>
                  <a:srgbClr val="E8DD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notebooks/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0058846" y="5924550"/>
            <a:ext cx="6925930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90000"/>
              </a:lnSpc>
              <a:buNone/>
            </a:pPr>
            <a:r>
              <a:rPr lang="en-US" sz="2250" dirty="0">
                <a:solidFill>
                  <a:srgbClr val="A99E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├─ TD1 … TD5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0058846" y="6467475"/>
            <a:ext cx="6925930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90000"/>
              </a:lnSpc>
              <a:buNone/>
            </a:pPr>
            <a:r>
              <a:rPr lang="en-US" sz="2250" dirty="0">
                <a:solidFill>
                  <a:srgbClr val="E8DD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projet/ </a:t>
            </a:r>
            <a:pPr algn="l" indent="0" marL="0">
              <a:lnSpc>
                <a:spcPct val="190000"/>
              </a:lnSpc>
              <a:buNone/>
            </a:pPr>
            <a:r>
              <a:rPr lang="en-US" sz="2250" dirty="0">
                <a:solidFill>
                  <a:srgbClr val="A99E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hackathon</a:t>
            </a:r>
            <a:endParaRPr lang="en-US" sz="2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76300"/>
            <a:ext cx="178117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SUBMISSION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23975"/>
            <a:ext cx="1781175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500" b="1" spc="-112" kern="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checklist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047750" y="3836789"/>
            <a:ext cx="309116" cy="4038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2F8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471166" y="3836789"/>
            <a:ext cx="8211904" cy="811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75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repo (</a:t>
            </a:r>
            <a:pPr algn="l" indent="0" marL="0">
              <a:lnSpc>
                <a:spcPct val="140000"/>
              </a:lnSpc>
              <a:buNone/>
            </a:pPr>
            <a:r>
              <a:rPr lang="en-US" sz="2175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fork</a:t>
            </a:r>
            <a:pPr algn="l" indent="0" marL="0">
              <a:lnSpc>
                <a:spcPct val="140000"/>
              </a:lnSpc>
              <a:buNone/>
            </a:pPr>
            <a:r>
              <a:rPr lang="en-US" sz="2175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add </a:t>
            </a:r>
            <a:pPr algn="l" indent="0" marL="0">
              <a:lnSpc>
                <a:spcPct val="140000"/>
              </a:lnSpc>
              <a:buNone/>
            </a:pPr>
            <a:r>
              <a:rPr lang="en-US" sz="2175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End2EndAI </a:t>
            </a:r>
            <a:pPr algn="l" indent="0" marL="0">
              <a:lnSpc>
                <a:spcPct val="140000"/>
              </a:lnSpc>
              <a:buNone/>
            </a:pPr>
            <a:r>
              <a:rPr lang="en-US" sz="2175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 collaborator on GitHub.</a:t>
            </a:r>
            <a:endParaRPr lang="en-US" sz="2175" dirty="0"/>
          </a:p>
        </p:txBody>
      </p:sp>
      <p:sp>
        <p:nvSpPr>
          <p:cNvPr id="6" name="Text 4"/>
          <p:cNvSpPr/>
          <p:nvPr/>
        </p:nvSpPr>
        <p:spPr>
          <a:xfrm>
            <a:off x="1047750" y="4838700"/>
            <a:ext cx="309116" cy="4038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2F8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471166" y="4838700"/>
            <a:ext cx="4729445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75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the Excel </a:t>
            </a:r>
            <a:pPr algn="l" indent="0" marL="0">
              <a:lnSpc>
                <a:spcPct val="140000"/>
              </a:lnSpc>
              <a:buNone/>
            </a:pPr>
            <a:r>
              <a:rPr lang="en-US" sz="2175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row per group.</a:t>
            </a:r>
            <a:endParaRPr lang="en-US" sz="2175" dirty="0"/>
          </a:p>
        </p:txBody>
      </p:sp>
      <p:sp>
        <p:nvSpPr>
          <p:cNvPr id="8" name="Text 6"/>
          <p:cNvSpPr/>
          <p:nvPr/>
        </p:nvSpPr>
        <p:spPr>
          <a:xfrm>
            <a:off x="1047750" y="5453955"/>
            <a:ext cx="309116" cy="4038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2F8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471166" y="5453955"/>
            <a:ext cx="8502982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75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your notebooks </a:t>
            </a:r>
            <a:pPr algn="l" indent="0" marL="0">
              <a:lnSpc>
                <a:spcPct val="140000"/>
              </a:lnSpc>
              <a:buNone/>
            </a:pPr>
            <a:r>
              <a:rPr lang="en-US" sz="2175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executed </a:t>
            </a:r>
            <a:pPr algn="l" indent="0" marL="0">
              <a:lnSpc>
                <a:spcPct val="140000"/>
              </a:lnSpc>
              <a:buNone/>
            </a:pPr>
            <a:r>
              <a:rPr lang="en-US" sz="2175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cells run, outputs visible.</a:t>
            </a:r>
            <a:endParaRPr lang="en-US" sz="2175" dirty="0"/>
          </a:p>
        </p:txBody>
      </p:sp>
      <p:sp>
        <p:nvSpPr>
          <p:cNvPr id="10" name="Shape 8"/>
          <p:cNvSpPr/>
          <p:nvPr/>
        </p:nvSpPr>
        <p:spPr>
          <a:xfrm>
            <a:off x="1047750" y="6145411"/>
            <a:ext cx="8396139" cy="1866900"/>
          </a:xfrm>
          <a:prstGeom prst="roundRect">
            <a:avLst>
              <a:gd name="adj" fmla="val 6122"/>
            </a:avLst>
          </a:prstGeom>
          <a:solidFill>
            <a:srgbClr val="B83227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54961"/>
            <a:ext cx="8690923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FFFFFF">
                    <a:alpha val="8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DEADLINE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95400" y="6712148"/>
            <a:ext cx="8137864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pushed before presentations — Thu 15:30 push freeze.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295400" y="7531298"/>
            <a:ext cx="8690923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Pushed later lowers the grade. Push time counts, not commit dates.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939189" y="4202906"/>
            <a:ext cx="7300987" cy="3443288"/>
          </a:xfrm>
          <a:prstGeom prst="roundRect">
            <a:avLst>
              <a:gd name="adj" fmla="val 4426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253514" y="4536281"/>
            <a:ext cx="7339571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746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EXCEL — ONE ROW PER GROUP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253514" y="5026819"/>
            <a:ext cx="37341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0684073" y="5045869"/>
            <a:ext cx="1730871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number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0253514" y="5488781"/>
            <a:ext cx="37341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0684073" y="5507831"/>
            <a:ext cx="2464296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1 · Student 2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0253514" y="5950744"/>
            <a:ext cx="37341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10684073" y="5969794"/>
            <a:ext cx="3035661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URL (private repo)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0253514" y="6412706"/>
            <a:ext cx="37341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0684073" y="6431756"/>
            <a:ext cx="3982628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 End2EndAI as collaborator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0253514" y="6969919"/>
            <a:ext cx="7339571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9A8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docs.google.com/spreadsheets/d/19yEol…/edit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76300"/>
            <a:ext cx="178117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GRADING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23975"/>
            <a:ext cx="1781175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500" b="1" spc="-112" kern="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your final grade is computed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047750" y="4469606"/>
            <a:ext cx="1929333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900" b="1" dirty="0">
                <a:solidFill>
                  <a:srgbClr val="3A6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1047750" y="5422106"/>
            <a:ext cx="1929333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TDs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3258889" y="4469606"/>
            <a:ext cx="1929333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900" b="1" dirty="0">
                <a:solidFill>
                  <a:srgbClr val="C05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6900" dirty="0"/>
          </a:p>
        </p:txBody>
      </p:sp>
      <p:sp>
        <p:nvSpPr>
          <p:cNvPr id="7" name="Text 5"/>
          <p:cNvSpPr/>
          <p:nvPr/>
        </p:nvSpPr>
        <p:spPr>
          <a:xfrm>
            <a:off x="3258889" y="5422106"/>
            <a:ext cx="1929333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14936912" y="5088731"/>
            <a:ext cx="2303338" cy="671513"/>
          </a:xfrm>
          <a:prstGeom prst="roundRect">
            <a:avLst>
              <a:gd name="adj" fmla="val 50000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232187" y="5269706"/>
            <a:ext cx="1788988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F8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</a:t>
            </a:r>
            <a:pPr algn="l" indent="0" marL="0">
              <a:buNone/>
            </a:pPr>
            <a:r>
              <a:rPr lang="en-US" sz="2100" b="1" dirty="0">
                <a:solidFill>
                  <a:srgbClr val="1F1C18"/>
                </a:solidFill>
                <a:highlight>
                  <a:srgbClr val="FFFDF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peer bonus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1047750" y="6217444"/>
            <a:ext cx="4979640" cy="742950"/>
          </a:xfrm>
          <a:prstGeom prst="rect">
            <a:avLst/>
          </a:prstGeom>
          <a:solidFill>
            <a:srgbClr val="3A63B0"/>
          </a:solidFill>
          <a:ln/>
        </p:spPr>
      </p:sp>
      <p:sp>
        <p:nvSpPr>
          <p:cNvPr id="11" name="Text 9"/>
          <p:cNvSpPr/>
          <p:nvPr/>
        </p:nvSpPr>
        <p:spPr>
          <a:xfrm>
            <a:off x="1352550" y="6217444"/>
            <a:ext cx="4824229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· TDs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6027390" y="6217444"/>
            <a:ext cx="11212860" cy="742950"/>
          </a:xfrm>
          <a:prstGeom prst="rect">
            <a:avLst/>
          </a:prstGeom>
          <a:solidFill>
            <a:srgbClr val="C05F38"/>
          </a:solidFill>
          <a:ln/>
        </p:spPr>
      </p:sp>
      <p:sp>
        <p:nvSpPr>
          <p:cNvPr id="13" name="Text 11"/>
          <p:cNvSpPr/>
          <p:nvPr/>
        </p:nvSpPr>
        <p:spPr>
          <a:xfrm>
            <a:off x="6332190" y="6217444"/>
            <a:ext cx="11244446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 · Hackathon</a:t>
            </a:r>
            <a:endParaRPr lang="en-US" sz="1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76300"/>
            <a:ext cx="178117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GRADING · TDS · 30%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23975"/>
            <a:ext cx="1781175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500" b="1" spc="-112" kern="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 grading breakdown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219200" y="3888581"/>
            <a:ext cx="11883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spc="75" kern="0" dirty="0">
                <a:solidFill>
                  <a:srgbClr val="746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598093" y="3888581"/>
            <a:ext cx="146164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800" b="1" spc="75" kern="0" dirty="0">
                <a:solidFill>
                  <a:srgbClr val="746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326434" y="3888581"/>
            <a:ext cx="216820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800" b="1" spc="75" kern="0" dirty="0">
                <a:solidFill>
                  <a:srgbClr val="746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NOTEBOOK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736218" y="3888581"/>
            <a:ext cx="313570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800" b="1" spc="75" kern="0" dirty="0">
                <a:solidFill>
                  <a:srgbClr val="746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MINI-PROJECT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47750" y="4283869"/>
            <a:ext cx="8995618" cy="9525"/>
          </a:xfrm>
          <a:prstGeom prst="rect">
            <a:avLst/>
          </a:prstGeom>
          <a:solidFill>
            <a:srgbClr val="E2D8C9"/>
          </a:solidFill>
          <a:ln/>
        </p:spPr>
      </p:sp>
      <p:sp>
        <p:nvSpPr>
          <p:cNvPr id="9" name="Text 7"/>
          <p:cNvSpPr/>
          <p:nvPr/>
        </p:nvSpPr>
        <p:spPr>
          <a:xfrm>
            <a:off x="1219200" y="4436269"/>
            <a:ext cx="1188393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TD1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2598093" y="4436269"/>
            <a:ext cx="1461641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10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326434" y="4436269"/>
            <a:ext cx="2168203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10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736218" y="4436269"/>
            <a:ext cx="3135701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100" dirty="0">
                <a:solidFill>
                  <a:srgbClr val="B3A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047750" y="4912519"/>
            <a:ext cx="8995618" cy="9525"/>
          </a:xfrm>
          <a:prstGeom prst="rect">
            <a:avLst/>
          </a:prstGeom>
          <a:solidFill>
            <a:srgbClr val="E2D8C9"/>
          </a:solidFill>
          <a:ln/>
        </p:spPr>
      </p:sp>
      <p:sp>
        <p:nvSpPr>
          <p:cNvPr id="14" name="Text 12"/>
          <p:cNvSpPr/>
          <p:nvPr/>
        </p:nvSpPr>
        <p:spPr>
          <a:xfrm>
            <a:off x="1219200" y="5064919"/>
            <a:ext cx="1188393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TD2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2598093" y="5064919"/>
            <a:ext cx="1461641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10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4326434" y="5064919"/>
            <a:ext cx="2168203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10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6736218" y="5064919"/>
            <a:ext cx="3135701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100" dirty="0">
                <a:solidFill>
                  <a:srgbClr val="B3A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1047750" y="5541169"/>
            <a:ext cx="8995618" cy="9525"/>
          </a:xfrm>
          <a:prstGeom prst="rect">
            <a:avLst/>
          </a:prstGeom>
          <a:solidFill>
            <a:srgbClr val="E2D8C9"/>
          </a:solidFill>
          <a:ln/>
        </p:spPr>
      </p:sp>
      <p:sp>
        <p:nvSpPr>
          <p:cNvPr id="19" name="Text 17"/>
          <p:cNvSpPr/>
          <p:nvPr/>
        </p:nvSpPr>
        <p:spPr>
          <a:xfrm>
            <a:off x="1219200" y="5693569"/>
            <a:ext cx="1188393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TD3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2598093" y="5693569"/>
            <a:ext cx="1461641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10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4326434" y="5693569"/>
            <a:ext cx="2168203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10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736218" y="5693569"/>
            <a:ext cx="3135701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10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1047750" y="6169819"/>
            <a:ext cx="8995618" cy="9525"/>
          </a:xfrm>
          <a:prstGeom prst="rect">
            <a:avLst/>
          </a:prstGeom>
          <a:solidFill>
            <a:srgbClr val="E2D8C9"/>
          </a:solidFill>
          <a:ln/>
        </p:spPr>
      </p:sp>
      <p:sp>
        <p:nvSpPr>
          <p:cNvPr id="24" name="Text 22"/>
          <p:cNvSpPr/>
          <p:nvPr/>
        </p:nvSpPr>
        <p:spPr>
          <a:xfrm>
            <a:off x="1219200" y="6322219"/>
            <a:ext cx="1188393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TD4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2598093" y="6322219"/>
            <a:ext cx="1461641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10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4326434" y="6322219"/>
            <a:ext cx="2168203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10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6736218" y="6322219"/>
            <a:ext cx="3135701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10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1047750" y="6798469"/>
            <a:ext cx="8995618" cy="9525"/>
          </a:xfrm>
          <a:prstGeom prst="rect">
            <a:avLst/>
          </a:prstGeom>
          <a:solidFill>
            <a:srgbClr val="E2D8C9"/>
          </a:solidFill>
          <a:ln/>
        </p:spPr>
      </p:sp>
      <p:sp>
        <p:nvSpPr>
          <p:cNvPr id="29" name="Text 27"/>
          <p:cNvSpPr/>
          <p:nvPr/>
        </p:nvSpPr>
        <p:spPr>
          <a:xfrm>
            <a:off x="1219200" y="6950869"/>
            <a:ext cx="1188393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TD5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2598093" y="6950869"/>
            <a:ext cx="1461641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10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4326434" y="6950869"/>
            <a:ext cx="2168203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10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6736218" y="6950869"/>
            <a:ext cx="3135701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10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100" dirty="0"/>
          </a:p>
        </p:txBody>
      </p:sp>
      <p:sp>
        <p:nvSpPr>
          <p:cNvPr id="33" name="Shape 31"/>
          <p:cNvSpPr/>
          <p:nvPr/>
        </p:nvSpPr>
        <p:spPr>
          <a:xfrm>
            <a:off x="1047750" y="7431881"/>
            <a:ext cx="8995618" cy="19050"/>
          </a:xfrm>
          <a:prstGeom prst="rect">
            <a:avLst/>
          </a:prstGeom>
          <a:solidFill>
            <a:srgbClr val="C05F38"/>
          </a:solidFill>
          <a:ln/>
        </p:spPr>
      </p:sp>
      <p:sp>
        <p:nvSpPr>
          <p:cNvPr id="34" name="Text 32"/>
          <p:cNvSpPr/>
          <p:nvPr/>
        </p:nvSpPr>
        <p:spPr>
          <a:xfrm>
            <a:off x="1219200" y="7584281"/>
            <a:ext cx="1188393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2598093" y="7584281"/>
            <a:ext cx="1461641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4326434" y="7584281"/>
            <a:ext cx="2168203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6736218" y="7584281"/>
            <a:ext cx="3135701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10576768" y="3974306"/>
            <a:ext cx="6663482" cy="1404938"/>
          </a:xfrm>
          <a:prstGeom prst="roundRect">
            <a:avLst>
              <a:gd name="adj" fmla="val 9492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872043" y="4250531"/>
            <a:ext cx="6680225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C05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600" dirty="0"/>
          </a:p>
        </p:txBody>
      </p:sp>
      <p:sp>
        <p:nvSpPr>
          <p:cNvPr id="40" name="Text 38"/>
          <p:cNvSpPr/>
          <p:nvPr/>
        </p:nvSpPr>
        <p:spPr>
          <a:xfrm>
            <a:off x="10872043" y="4812506"/>
            <a:ext cx="668022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notebooks (code + analysis)</a:t>
            </a:r>
            <a:endParaRPr lang="en-US" sz="1950" dirty="0"/>
          </a:p>
        </p:txBody>
      </p:sp>
      <p:sp>
        <p:nvSpPr>
          <p:cNvPr id="41" name="Shape 39"/>
          <p:cNvSpPr/>
          <p:nvPr/>
        </p:nvSpPr>
        <p:spPr>
          <a:xfrm>
            <a:off x="10576768" y="5569744"/>
            <a:ext cx="6663482" cy="1404938"/>
          </a:xfrm>
          <a:prstGeom prst="roundRect">
            <a:avLst>
              <a:gd name="adj" fmla="val 9492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872043" y="5845969"/>
            <a:ext cx="6680225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C05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600" dirty="0"/>
          </a:p>
        </p:txBody>
      </p:sp>
      <p:sp>
        <p:nvSpPr>
          <p:cNvPr id="43" name="Text 41"/>
          <p:cNvSpPr/>
          <p:nvPr/>
        </p:nvSpPr>
        <p:spPr>
          <a:xfrm>
            <a:off x="10872043" y="6407944"/>
            <a:ext cx="668022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mini-projects (TD3/4/5)</a:t>
            </a:r>
            <a:endParaRPr lang="en-US" sz="1950" dirty="0"/>
          </a:p>
        </p:txBody>
      </p:sp>
      <p:sp>
        <p:nvSpPr>
          <p:cNvPr id="44" name="Text 42"/>
          <p:cNvSpPr/>
          <p:nvPr/>
        </p:nvSpPr>
        <p:spPr>
          <a:xfrm>
            <a:off x="10576768" y="7165181"/>
            <a:ext cx="6863386" cy="709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answers must be </a:t>
            </a:r>
            <a:pPr algn="l" indent="0" marL="0">
              <a:lnSpc>
                <a:spcPct val="140000"/>
              </a:lnSpc>
              <a:buNone/>
            </a:pPr>
            <a:r>
              <a:rPr lang="en-US" sz="1875" b="1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written by you </a:t>
            </a:r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AI may help you think, the written answer is yours.</a:t>
            </a:r>
            <a:endParaRPr lang="en-US" sz="187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76300"/>
            <a:ext cx="178117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HACKATHON SUBJECT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23975"/>
            <a:ext cx="1781175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500" b="1" spc="-112" kern="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tracks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47750" y="2343150"/>
            <a:ext cx="7924800" cy="7162800"/>
          </a:xfrm>
          <a:prstGeom prst="roundRect">
            <a:avLst>
              <a:gd name="adj" fmla="val 2128"/>
            </a:avLst>
          </a:prstGeom>
          <a:solidFill>
            <a:srgbClr val="FFFDF9"/>
          </a:solidFill>
          <a:ln/>
        </p:spPr>
      </p:sp>
      <p:sp>
        <p:nvSpPr>
          <p:cNvPr id="5" name="Shape 3"/>
          <p:cNvSpPr/>
          <p:nvPr/>
        </p:nvSpPr>
        <p:spPr>
          <a:xfrm>
            <a:off x="1047750" y="9496425"/>
            <a:ext cx="7924800" cy="9525"/>
          </a:xfrm>
          <a:prstGeom prst="rect">
            <a:avLst/>
          </a:prstGeom>
          <a:solidFill>
            <a:srgbClr val="E5DCCD"/>
          </a:solidFill>
          <a:ln/>
        </p:spPr>
      </p:sp>
      <p:sp>
        <p:nvSpPr>
          <p:cNvPr id="6" name="Shape 4"/>
          <p:cNvSpPr/>
          <p:nvPr/>
        </p:nvSpPr>
        <p:spPr>
          <a:xfrm>
            <a:off x="1047750" y="2343150"/>
            <a:ext cx="7924800" cy="57150"/>
          </a:xfrm>
          <a:prstGeom prst="rect">
            <a:avLst/>
          </a:prstGeom>
          <a:solidFill>
            <a:srgbClr val="C05F38"/>
          </a:solidFill>
          <a:ln/>
        </p:spPr>
      </p:sp>
      <p:sp>
        <p:nvSpPr>
          <p:cNvPr id="7" name="Shape 5"/>
          <p:cNvSpPr/>
          <p:nvPr/>
        </p:nvSpPr>
        <p:spPr>
          <a:xfrm>
            <a:off x="1047750" y="2343150"/>
            <a:ext cx="9525" cy="7162800"/>
          </a:xfrm>
          <a:prstGeom prst="rect">
            <a:avLst/>
          </a:prstGeom>
          <a:solidFill>
            <a:srgbClr val="E5DCCD"/>
          </a:solidFill>
          <a:ln/>
        </p:spPr>
      </p:sp>
      <p:sp>
        <p:nvSpPr>
          <p:cNvPr id="8" name="Shape 6"/>
          <p:cNvSpPr/>
          <p:nvPr/>
        </p:nvSpPr>
        <p:spPr>
          <a:xfrm>
            <a:off x="8963025" y="2343150"/>
            <a:ext cx="9525" cy="7162800"/>
          </a:xfrm>
          <a:prstGeom prst="rect">
            <a:avLst/>
          </a:prstGeom>
          <a:solidFill>
            <a:srgbClr val="E5DCCD"/>
          </a:solidFill>
          <a:ln/>
        </p:spPr>
      </p:sp>
      <p:sp>
        <p:nvSpPr>
          <p:cNvPr id="9" name="Text 7"/>
          <p:cNvSpPr/>
          <p:nvPr/>
        </p:nvSpPr>
        <p:spPr>
          <a:xfrm>
            <a:off x="1476375" y="2819400"/>
            <a:ext cx="4410946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Free innovation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7343552" y="2914650"/>
            <a:ext cx="1320411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≤ 20/20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476375" y="3467100"/>
            <a:ext cx="7279577" cy="1333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250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agentic product </a:t>
            </a:r>
            <a:pPr algn="l" indent="0" marL="0">
              <a:lnSpc>
                <a:spcPct val="150000"/>
              </a:lnSpc>
              <a:buNone/>
            </a:pPr>
            <a:r>
              <a:rPr lang="en-US" sz="2250" i="1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</a:t>
            </a:r>
            <a:pPr algn="l" indent="0" marL="0">
              <a:lnSpc>
                <a:spcPct val="150000"/>
              </a:lnSpc>
              <a:buNone/>
            </a:pPr>
            <a:r>
              <a:rPr lang="en-US" sz="2250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 — any use case. Must be a real </a:t>
            </a:r>
            <a:pPr algn="l" indent="0" marL="0">
              <a:lnSpc>
                <a:spcPct val="150000"/>
              </a:lnSpc>
              <a:buNone/>
            </a:pPr>
            <a:r>
              <a:rPr lang="en-US" sz="2250" b="1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loop with tools </a:t>
            </a:r>
            <a:pPr algn="l" indent="0" marL="0">
              <a:lnSpc>
                <a:spcPct val="150000"/>
              </a:lnSpc>
              <a:buNone/>
            </a:pPr>
            <a:r>
              <a:rPr lang="en-US" sz="2250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Could seed a real project or startup.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15450" y="2343150"/>
            <a:ext cx="7924800" cy="7162800"/>
          </a:xfrm>
          <a:prstGeom prst="roundRect">
            <a:avLst>
              <a:gd name="adj" fmla="val 2128"/>
            </a:avLst>
          </a:prstGeom>
          <a:solidFill>
            <a:srgbClr val="FFFDF9"/>
          </a:solidFill>
          <a:ln/>
        </p:spPr>
      </p:sp>
      <p:sp>
        <p:nvSpPr>
          <p:cNvPr id="13" name="Shape 11"/>
          <p:cNvSpPr/>
          <p:nvPr/>
        </p:nvSpPr>
        <p:spPr>
          <a:xfrm>
            <a:off x="9315450" y="9496425"/>
            <a:ext cx="7924800" cy="9525"/>
          </a:xfrm>
          <a:prstGeom prst="rect">
            <a:avLst/>
          </a:prstGeom>
          <a:solidFill>
            <a:srgbClr val="E5DCCD"/>
          </a:solidFill>
          <a:ln/>
        </p:spPr>
      </p:sp>
      <p:sp>
        <p:nvSpPr>
          <p:cNvPr id="14" name="Shape 12"/>
          <p:cNvSpPr/>
          <p:nvPr/>
        </p:nvSpPr>
        <p:spPr>
          <a:xfrm>
            <a:off x="9315450" y="2343150"/>
            <a:ext cx="7924800" cy="57150"/>
          </a:xfrm>
          <a:prstGeom prst="rect">
            <a:avLst/>
          </a:prstGeom>
          <a:solidFill>
            <a:srgbClr val="3A63B0"/>
          </a:solidFill>
          <a:ln/>
        </p:spPr>
      </p:sp>
      <p:sp>
        <p:nvSpPr>
          <p:cNvPr id="15" name="Shape 13"/>
          <p:cNvSpPr/>
          <p:nvPr/>
        </p:nvSpPr>
        <p:spPr>
          <a:xfrm>
            <a:off x="9315450" y="2343150"/>
            <a:ext cx="9525" cy="7162800"/>
          </a:xfrm>
          <a:prstGeom prst="rect">
            <a:avLst/>
          </a:prstGeom>
          <a:solidFill>
            <a:srgbClr val="E5DCCD"/>
          </a:solidFill>
          <a:ln/>
        </p:spPr>
      </p:sp>
      <p:sp>
        <p:nvSpPr>
          <p:cNvPr id="16" name="Shape 14"/>
          <p:cNvSpPr/>
          <p:nvPr/>
        </p:nvSpPr>
        <p:spPr>
          <a:xfrm>
            <a:off x="17230725" y="2343150"/>
            <a:ext cx="9525" cy="7162800"/>
          </a:xfrm>
          <a:prstGeom prst="rect">
            <a:avLst/>
          </a:prstGeom>
          <a:solidFill>
            <a:srgbClr val="E5DCCD"/>
          </a:solidFill>
          <a:ln/>
        </p:spPr>
      </p:sp>
      <p:sp>
        <p:nvSpPr>
          <p:cNvPr id="17" name="Text 15"/>
          <p:cNvSpPr/>
          <p:nvPr/>
        </p:nvSpPr>
        <p:spPr>
          <a:xfrm>
            <a:off x="9744075" y="2819400"/>
            <a:ext cx="5074466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2 · Extend PIM Copilot</a:t>
            </a:r>
            <a:endParaRPr lang="en-US" sz="2850" dirty="0"/>
          </a:p>
        </p:txBody>
      </p:sp>
      <p:sp>
        <p:nvSpPr>
          <p:cNvPr id="18" name="Text 16"/>
          <p:cNvSpPr/>
          <p:nvPr/>
        </p:nvSpPr>
        <p:spPr>
          <a:xfrm>
            <a:off x="15611252" y="2914650"/>
            <a:ext cx="1320411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3A6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≤ 16/20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9744075" y="3467100"/>
            <a:ext cx="7279577" cy="1762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250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idea? Take the TD5 PIM Copilot and ship </a:t>
            </a:r>
            <a:pPr algn="l" indent="0" marL="0">
              <a:lnSpc>
                <a:spcPct val="150000"/>
              </a:lnSpc>
              <a:buNone/>
            </a:pPr>
            <a:r>
              <a:rPr lang="en-US" sz="2250" b="1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2 new features </a:t>
            </a:r>
            <a:pPr algn="l" indent="0" marL="0">
              <a:lnSpc>
                <a:spcPct val="150000"/>
              </a:lnSpc>
              <a:buNone/>
            </a:pPr>
            <a:r>
              <a:rPr lang="en-US" sz="2250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new tools, better UI, batch enrichment, an eval harness, human-in-the-loop. A real graded project, lower ceiling.</a:t>
            </a:r>
            <a:endParaRPr lang="en-US" sz="2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76300"/>
            <a:ext cx="178117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CONCEPTS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23975"/>
            <a:ext cx="17811750" cy="6429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500" b="1" spc="-112" kern="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an </a:t>
            </a:r>
            <a:pPr algn="l" indent="0" marL="0">
              <a:lnSpc>
                <a:spcPct val="105000"/>
              </a:lnSpc>
              <a:buNone/>
            </a:pPr>
            <a:r>
              <a:rPr lang="en-US" sz="4500" b="1" i="1" spc="-112" kern="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pPr algn="l" indent="0" marL="0">
              <a:lnSpc>
                <a:spcPct val="105000"/>
              </a:lnSpc>
              <a:buNone/>
            </a:pPr>
            <a:r>
              <a:rPr lang="en-US" sz="4500" b="1" spc="-112" kern="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just an LLM call?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47750" y="4114800"/>
            <a:ext cx="7886700" cy="1690688"/>
          </a:xfrm>
          <a:prstGeom prst="roundRect">
            <a:avLst>
              <a:gd name="adj" fmla="val 7887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62075" y="4391025"/>
            <a:ext cx="7983855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75" kern="0" dirty="0">
                <a:solidFill>
                  <a:srgbClr val="746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CALL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62075" y="4805363"/>
            <a:ext cx="7983855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1F1C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→ answer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362075" y="5253038"/>
            <a:ext cx="798385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input, one output. No outside world.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1047750" y="6053138"/>
            <a:ext cx="7886700" cy="1647825"/>
          </a:xfrm>
          <a:prstGeom prst="roundRect">
            <a:avLst>
              <a:gd name="adj" fmla="val 8092"/>
            </a:avLst>
          </a:prstGeom>
          <a:solidFill>
            <a:srgbClr val="24211C"/>
          </a:solidFill>
          <a:ln/>
        </p:spPr>
      </p:sp>
      <p:sp>
        <p:nvSpPr>
          <p:cNvPr id="9" name="Text 7"/>
          <p:cNvSpPr/>
          <p:nvPr/>
        </p:nvSpPr>
        <p:spPr>
          <a:xfrm>
            <a:off x="1352550" y="6319838"/>
            <a:ext cx="800481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75" kern="0" dirty="0">
                <a:solidFill>
                  <a:srgbClr val="E08B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52550" y="6734175"/>
            <a:ext cx="800481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F3ED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reason → act → observe → ↻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1352550" y="7158038"/>
            <a:ext cx="800481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C9B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Loops until the job is done.</a:t>
            </a:r>
            <a:endParaRPr lang="en-US" sz="1875" dirty="0"/>
          </a:p>
        </p:txBody>
      </p:sp>
      <p:sp>
        <p:nvSpPr>
          <p:cNvPr id="12" name="Text 10"/>
          <p:cNvSpPr/>
          <p:nvPr/>
        </p:nvSpPr>
        <p:spPr>
          <a:xfrm>
            <a:off x="9353550" y="3929360"/>
            <a:ext cx="8675370" cy="4433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75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an agent when </a:t>
            </a:r>
            <a:pPr algn="l" indent="0" marL="0">
              <a:lnSpc>
                <a:spcPct val="145000"/>
              </a:lnSpc>
              <a:buNone/>
            </a:pPr>
            <a:r>
              <a:rPr lang="en-US" sz="2175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</a:t>
            </a:r>
            <a:pPr algn="l" indent="0" marL="0">
              <a:lnSpc>
                <a:spcPct val="145000"/>
              </a:lnSpc>
              <a:buNone/>
            </a:pPr>
            <a:r>
              <a:rPr lang="en-US" sz="2175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applies:</a:t>
            </a:r>
            <a:endParaRPr lang="en-US" sz="2175" dirty="0"/>
          </a:p>
        </p:txBody>
      </p:sp>
      <p:sp>
        <p:nvSpPr>
          <p:cNvPr id="13" name="Text 11"/>
          <p:cNvSpPr/>
          <p:nvPr/>
        </p:nvSpPr>
        <p:spPr>
          <a:xfrm>
            <a:off x="9353550" y="4544169"/>
            <a:ext cx="8675370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live / external data via tools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353550" y="4958507"/>
            <a:ext cx="8675370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actions in the world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353550" y="5372844"/>
            <a:ext cx="8675370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number of steps unknown ahead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353550" y="5787182"/>
            <a:ext cx="8675370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must react to results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9353550" y="6201519"/>
            <a:ext cx="8675370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a constraint met by iteration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9353550" y="6739682"/>
            <a:ext cx="7886700" cy="1146721"/>
          </a:xfrm>
          <a:prstGeom prst="roundRect">
            <a:avLst>
              <a:gd name="adj" fmla="val 6645"/>
            </a:avLst>
          </a:prstGeom>
          <a:solidFill>
            <a:srgbClr val="F3E3DA"/>
          </a:solidFill>
          <a:ln/>
        </p:spPr>
      </p:sp>
      <p:sp>
        <p:nvSpPr>
          <p:cNvPr id="19" name="Shape 17"/>
          <p:cNvSpPr/>
          <p:nvPr/>
        </p:nvSpPr>
        <p:spPr>
          <a:xfrm>
            <a:off x="9353550" y="6739682"/>
            <a:ext cx="47625" cy="1146721"/>
          </a:xfrm>
          <a:prstGeom prst="rect">
            <a:avLst/>
          </a:prstGeom>
          <a:solidFill>
            <a:srgbClr val="C05F38"/>
          </a:solidFill>
          <a:ln/>
        </p:spPr>
      </p:sp>
      <p:sp>
        <p:nvSpPr>
          <p:cNvPr id="20" name="Text 18"/>
          <p:cNvSpPr/>
          <p:nvPr/>
        </p:nvSpPr>
        <p:spPr>
          <a:xfrm>
            <a:off x="9648825" y="6949232"/>
            <a:ext cx="7580376" cy="765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Litmus test: </a:t>
            </a:r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1F1C18"/>
                </a:solidFill>
                <a:highlight>
                  <a:srgbClr val="F3E3DA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can I answer in one shot, without looking anything up or changing anything? </a:t>
            </a:r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 </a:t>
            </a:r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1F1C18"/>
                </a:solidFill>
                <a:highlight>
                  <a:srgbClr val="F3E3DA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→ a call. </a:t>
            </a:r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</a:t>
            </a:r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1F1C18"/>
                </a:solidFill>
                <a:highlight>
                  <a:srgbClr val="F3E3DA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→ an agent.</a:t>
            </a:r>
            <a:endParaRPr lang="en-US" sz="1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76300"/>
            <a:ext cx="178117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HACKATHON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23975"/>
            <a:ext cx="1781175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500" b="1" spc="-112" kern="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 deliverables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47750" y="4495800"/>
            <a:ext cx="3862387" cy="2233613"/>
          </a:xfrm>
          <a:prstGeom prst="roundRect">
            <a:avLst>
              <a:gd name="adj" fmla="val 6823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62075" y="4886325"/>
            <a:ext cx="3557111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62075" y="5338763"/>
            <a:ext cx="3557111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POC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62075" y="5786438"/>
            <a:ext cx="355711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74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end-to-end.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5157788" y="4495800"/>
            <a:ext cx="3862387" cy="2233613"/>
          </a:xfrm>
          <a:prstGeom prst="roundRect">
            <a:avLst>
              <a:gd name="adj" fmla="val 6823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72113" y="4886325"/>
            <a:ext cx="3557111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72113" y="5338763"/>
            <a:ext cx="3557111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472113" y="5786438"/>
            <a:ext cx="355711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74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Short, shown live.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9267825" y="4495800"/>
            <a:ext cx="3862387" cy="2233613"/>
          </a:xfrm>
          <a:prstGeom prst="roundRect">
            <a:avLst>
              <a:gd name="adj" fmla="val 6823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82150" y="4886325"/>
            <a:ext cx="3557111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PITCH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582150" y="5338763"/>
            <a:ext cx="3557111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582150" y="5786438"/>
            <a:ext cx="355711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74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few slides.</a:t>
            </a:r>
            <a:endParaRPr lang="en-US" sz="1875" dirty="0"/>
          </a:p>
        </p:txBody>
      </p:sp>
      <p:sp>
        <p:nvSpPr>
          <p:cNvPr id="16" name="Shape 14"/>
          <p:cNvSpPr/>
          <p:nvPr/>
        </p:nvSpPr>
        <p:spPr>
          <a:xfrm>
            <a:off x="13377863" y="4495800"/>
            <a:ext cx="3862387" cy="2233613"/>
          </a:xfrm>
          <a:prstGeom prst="roundRect">
            <a:avLst>
              <a:gd name="adj" fmla="val 6823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692188" y="4886325"/>
            <a:ext cx="3557111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692188" y="5338763"/>
            <a:ext cx="3557111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repo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3692188" y="5786438"/>
            <a:ext cx="33307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74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API key · requirements.txt · README.</a:t>
            </a:r>
            <a:endParaRPr lang="en-US" sz="1875" dirty="0"/>
          </a:p>
        </p:txBody>
      </p:sp>
      <p:sp>
        <p:nvSpPr>
          <p:cNvPr id="20" name="Text 18"/>
          <p:cNvSpPr/>
          <p:nvPr/>
        </p:nvSpPr>
        <p:spPr>
          <a:xfrm>
            <a:off x="1047750" y="9186863"/>
            <a:ext cx="1781175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lives in the </a:t>
            </a:r>
            <a:pPr algn="l" indent="0" marL="0">
              <a:buNone/>
            </a:pPr>
            <a:r>
              <a:rPr lang="en-US" sz="2025" b="1" dirty="0">
                <a:solidFill>
                  <a:srgbClr val="4B43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projet/ </a:t>
            </a:r>
            <a:pPr algn="l" indent="0" marL="0">
              <a:buNone/>
            </a:pPr>
            <a:r>
              <a:rPr lang="en-US" sz="2025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folder.</a:t>
            </a:r>
            <a:endParaRPr lang="en-US" sz="202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76300"/>
            <a:ext cx="178117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GRADING · HACKATHON · 70%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23975"/>
            <a:ext cx="1781175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500" b="1" spc="-112" kern="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 grading rubric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219200" y="2495550"/>
            <a:ext cx="935862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spc="75" kern="0" dirty="0">
                <a:solidFill>
                  <a:srgbClr val="746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DIMENSION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561960" y="2495550"/>
            <a:ext cx="182388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800" b="1" spc="75" kern="0" dirty="0">
                <a:solidFill>
                  <a:srgbClr val="746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652549" y="2495550"/>
            <a:ext cx="207466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800" b="1" spc="75" kern="0" dirty="0">
                <a:solidFill>
                  <a:srgbClr val="746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TRACK 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993913" y="2495550"/>
            <a:ext cx="207488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800" b="1" spc="75" kern="0" dirty="0">
                <a:solidFill>
                  <a:srgbClr val="746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TRACK 2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47750" y="2909888"/>
            <a:ext cx="16192500" cy="647700"/>
          </a:xfrm>
          <a:prstGeom prst="rect">
            <a:avLst/>
          </a:prstGeom>
          <a:solidFill>
            <a:srgbClr val="F3E3DA"/>
          </a:solidFill>
          <a:ln/>
        </p:spPr>
      </p:sp>
      <p:sp>
        <p:nvSpPr>
          <p:cNvPr id="9" name="Shape 7"/>
          <p:cNvSpPr/>
          <p:nvPr/>
        </p:nvSpPr>
        <p:spPr>
          <a:xfrm>
            <a:off x="1047750" y="2909888"/>
            <a:ext cx="16192500" cy="9525"/>
          </a:xfrm>
          <a:prstGeom prst="rect">
            <a:avLst/>
          </a:prstGeom>
          <a:solidFill>
            <a:srgbClr val="E2D8C9"/>
          </a:solidFill>
          <a:ln/>
        </p:spPr>
      </p:sp>
      <p:sp>
        <p:nvSpPr>
          <p:cNvPr id="10" name="Text 8"/>
          <p:cNvSpPr/>
          <p:nvPr/>
        </p:nvSpPr>
        <p:spPr>
          <a:xfrm>
            <a:off x="1219200" y="3081338"/>
            <a:ext cx="9358629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toolkit </a:t>
            </a:r>
            <a:pPr algn="l" indent="0" marL="0">
              <a:buNone/>
            </a:pPr>
            <a:r>
              <a:rPr lang="en-US" sz="2025" b="1" dirty="0">
                <a:solidFill>
                  <a:srgbClr val="C05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features </a:t>
            </a:r>
            <a:pPr algn="l" indent="0" marL="0">
              <a:buNone/>
            </a:pPr>
            <a:r>
              <a:rPr lang="en-US" sz="1800" dirty="0">
                <a:solidFill>
                  <a:srgbClr val="74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(more → more points)</a:t>
            </a:r>
            <a:endParaRPr lang="en-US" sz="2025" dirty="0"/>
          </a:p>
        </p:txBody>
      </p:sp>
      <p:sp>
        <p:nvSpPr>
          <p:cNvPr id="11" name="Text 9"/>
          <p:cNvSpPr/>
          <p:nvPr/>
        </p:nvSpPr>
        <p:spPr>
          <a:xfrm>
            <a:off x="10561960" y="3081338"/>
            <a:ext cx="1823889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2025" dirty="0"/>
          </a:p>
        </p:txBody>
      </p:sp>
      <p:sp>
        <p:nvSpPr>
          <p:cNvPr id="12" name="Text 10"/>
          <p:cNvSpPr/>
          <p:nvPr/>
        </p:nvSpPr>
        <p:spPr>
          <a:xfrm>
            <a:off x="12652549" y="3081338"/>
            <a:ext cx="2074664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025" dirty="0"/>
          </a:p>
        </p:txBody>
      </p:sp>
      <p:sp>
        <p:nvSpPr>
          <p:cNvPr id="13" name="Text 11"/>
          <p:cNvSpPr/>
          <p:nvPr/>
        </p:nvSpPr>
        <p:spPr>
          <a:xfrm>
            <a:off x="14993913" y="3081338"/>
            <a:ext cx="2074887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025" dirty="0"/>
          </a:p>
        </p:txBody>
      </p:sp>
      <p:sp>
        <p:nvSpPr>
          <p:cNvPr id="14" name="Shape 12"/>
          <p:cNvSpPr/>
          <p:nvPr/>
        </p:nvSpPr>
        <p:spPr>
          <a:xfrm>
            <a:off x="1047750" y="3557588"/>
            <a:ext cx="16192500" cy="9525"/>
          </a:xfrm>
          <a:prstGeom prst="rect">
            <a:avLst/>
          </a:prstGeom>
          <a:solidFill>
            <a:srgbClr val="E2D8C9"/>
          </a:solidFill>
          <a:ln/>
        </p:spPr>
      </p:sp>
      <p:sp>
        <p:nvSpPr>
          <p:cNvPr id="15" name="Text 13"/>
          <p:cNvSpPr/>
          <p:nvPr/>
        </p:nvSpPr>
        <p:spPr>
          <a:xfrm>
            <a:off x="1219200" y="3709988"/>
            <a:ext cx="935862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POC + live demo</a:t>
            </a:r>
            <a:endParaRPr lang="en-US" sz="2025" dirty="0"/>
          </a:p>
        </p:txBody>
      </p:sp>
      <p:sp>
        <p:nvSpPr>
          <p:cNvPr id="16" name="Text 14"/>
          <p:cNvSpPr/>
          <p:nvPr/>
        </p:nvSpPr>
        <p:spPr>
          <a:xfrm>
            <a:off x="10561960" y="3709988"/>
            <a:ext cx="182388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2025" dirty="0"/>
          </a:p>
        </p:txBody>
      </p:sp>
      <p:sp>
        <p:nvSpPr>
          <p:cNvPr id="17" name="Text 15"/>
          <p:cNvSpPr/>
          <p:nvPr/>
        </p:nvSpPr>
        <p:spPr>
          <a:xfrm>
            <a:off x="12652549" y="3709988"/>
            <a:ext cx="207466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25" dirty="0"/>
          </a:p>
        </p:txBody>
      </p:sp>
      <p:sp>
        <p:nvSpPr>
          <p:cNvPr id="18" name="Text 16"/>
          <p:cNvSpPr/>
          <p:nvPr/>
        </p:nvSpPr>
        <p:spPr>
          <a:xfrm>
            <a:off x="14993913" y="3709988"/>
            <a:ext cx="2074887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25" dirty="0"/>
          </a:p>
        </p:txBody>
      </p:sp>
      <p:sp>
        <p:nvSpPr>
          <p:cNvPr id="19" name="Shape 17"/>
          <p:cNvSpPr/>
          <p:nvPr/>
        </p:nvSpPr>
        <p:spPr>
          <a:xfrm>
            <a:off x="1047750" y="4171950"/>
            <a:ext cx="16192500" cy="9525"/>
          </a:xfrm>
          <a:prstGeom prst="rect">
            <a:avLst/>
          </a:prstGeom>
          <a:solidFill>
            <a:srgbClr val="E2D8C9"/>
          </a:solidFill>
          <a:ln/>
        </p:spPr>
      </p:sp>
      <p:sp>
        <p:nvSpPr>
          <p:cNvPr id="20" name="Text 18"/>
          <p:cNvSpPr/>
          <p:nvPr/>
        </p:nvSpPr>
        <p:spPr>
          <a:xfrm>
            <a:off x="1219200" y="4324350"/>
            <a:ext cx="935862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Ambition, originality &amp; usefulness</a:t>
            </a:r>
            <a:endParaRPr lang="en-US" sz="2025" dirty="0"/>
          </a:p>
        </p:txBody>
      </p:sp>
      <p:sp>
        <p:nvSpPr>
          <p:cNvPr id="21" name="Text 19"/>
          <p:cNvSpPr/>
          <p:nvPr/>
        </p:nvSpPr>
        <p:spPr>
          <a:xfrm>
            <a:off x="10561960" y="4324350"/>
            <a:ext cx="182388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2025" dirty="0"/>
          </a:p>
        </p:txBody>
      </p:sp>
      <p:sp>
        <p:nvSpPr>
          <p:cNvPr id="22" name="Text 20"/>
          <p:cNvSpPr/>
          <p:nvPr/>
        </p:nvSpPr>
        <p:spPr>
          <a:xfrm>
            <a:off x="12652549" y="4324350"/>
            <a:ext cx="207466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25" dirty="0"/>
          </a:p>
        </p:txBody>
      </p:sp>
      <p:sp>
        <p:nvSpPr>
          <p:cNvPr id="23" name="Text 21"/>
          <p:cNvSpPr/>
          <p:nvPr/>
        </p:nvSpPr>
        <p:spPr>
          <a:xfrm>
            <a:off x="14993913" y="4324350"/>
            <a:ext cx="2074887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25" dirty="0"/>
          </a:p>
        </p:txBody>
      </p:sp>
      <p:sp>
        <p:nvSpPr>
          <p:cNvPr id="24" name="Shape 22"/>
          <p:cNvSpPr/>
          <p:nvPr/>
        </p:nvSpPr>
        <p:spPr>
          <a:xfrm>
            <a:off x="1047750" y="4786313"/>
            <a:ext cx="16192500" cy="9525"/>
          </a:xfrm>
          <a:prstGeom prst="rect">
            <a:avLst/>
          </a:prstGeom>
          <a:solidFill>
            <a:srgbClr val="E2D8C9"/>
          </a:solidFill>
          <a:ln/>
        </p:spPr>
      </p:sp>
      <p:sp>
        <p:nvSpPr>
          <p:cNvPr id="25" name="Text 23"/>
          <p:cNvSpPr/>
          <p:nvPr/>
        </p:nvSpPr>
        <p:spPr>
          <a:xfrm>
            <a:off x="1219200" y="4938713"/>
            <a:ext cx="935862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quality &amp; repo hygiene</a:t>
            </a:r>
            <a:endParaRPr lang="en-US" sz="2025" dirty="0"/>
          </a:p>
        </p:txBody>
      </p:sp>
      <p:sp>
        <p:nvSpPr>
          <p:cNvPr id="26" name="Text 24"/>
          <p:cNvSpPr/>
          <p:nvPr/>
        </p:nvSpPr>
        <p:spPr>
          <a:xfrm>
            <a:off x="10561960" y="4938713"/>
            <a:ext cx="182388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2025" dirty="0"/>
          </a:p>
        </p:txBody>
      </p:sp>
      <p:sp>
        <p:nvSpPr>
          <p:cNvPr id="27" name="Text 25"/>
          <p:cNvSpPr/>
          <p:nvPr/>
        </p:nvSpPr>
        <p:spPr>
          <a:xfrm>
            <a:off x="12652549" y="4938713"/>
            <a:ext cx="207466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25" dirty="0"/>
          </a:p>
        </p:txBody>
      </p:sp>
      <p:sp>
        <p:nvSpPr>
          <p:cNvPr id="28" name="Text 26"/>
          <p:cNvSpPr/>
          <p:nvPr/>
        </p:nvSpPr>
        <p:spPr>
          <a:xfrm>
            <a:off x="14993913" y="4938713"/>
            <a:ext cx="2074887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25" dirty="0"/>
          </a:p>
        </p:txBody>
      </p:sp>
      <p:sp>
        <p:nvSpPr>
          <p:cNvPr id="29" name="Shape 27"/>
          <p:cNvSpPr/>
          <p:nvPr/>
        </p:nvSpPr>
        <p:spPr>
          <a:xfrm>
            <a:off x="1047750" y="5400675"/>
            <a:ext cx="16192500" cy="9525"/>
          </a:xfrm>
          <a:prstGeom prst="rect">
            <a:avLst/>
          </a:prstGeom>
          <a:solidFill>
            <a:srgbClr val="E2D8C9"/>
          </a:solidFill>
          <a:ln/>
        </p:spPr>
      </p:sp>
      <p:sp>
        <p:nvSpPr>
          <p:cNvPr id="30" name="Text 28"/>
          <p:cNvSpPr/>
          <p:nvPr/>
        </p:nvSpPr>
        <p:spPr>
          <a:xfrm>
            <a:off x="1219200" y="5553075"/>
            <a:ext cx="9358629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&amp; demo clarity</a:t>
            </a:r>
            <a:endParaRPr lang="en-US" sz="2025" dirty="0"/>
          </a:p>
        </p:txBody>
      </p:sp>
      <p:sp>
        <p:nvSpPr>
          <p:cNvPr id="31" name="Text 29"/>
          <p:cNvSpPr/>
          <p:nvPr/>
        </p:nvSpPr>
        <p:spPr>
          <a:xfrm>
            <a:off x="10561960" y="5553075"/>
            <a:ext cx="1823889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2025" dirty="0"/>
          </a:p>
        </p:txBody>
      </p:sp>
      <p:sp>
        <p:nvSpPr>
          <p:cNvPr id="32" name="Text 30"/>
          <p:cNvSpPr/>
          <p:nvPr/>
        </p:nvSpPr>
        <p:spPr>
          <a:xfrm>
            <a:off x="12652549" y="5553075"/>
            <a:ext cx="2074664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25" dirty="0"/>
          </a:p>
        </p:txBody>
      </p:sp>
      <p:sp>
        <p:nvSpPr>
          <p:cNvPr id="33" name="Text 31"/>
          <p:cNvSpPr/>
          <p:nvPr/>
        </p:nvSpPr>
        <p:spPr>
          <a:xfrm>
            <a:off x="14993913" y="5553075"/>
            <a:ext cx="2074887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25" dirty="0"/>
          </a:p>
        </p:txBody>
      </p:sp>
      <p:sp>
        <p:nvSpPr>
          <p:cNvPr id="34" name="Shape 32"/>
          <p:cNvSpPr/>
          <p:nvPr/>
        </p:nvSpPr>
        <p:spPr>
          <a:xfrm>
            <a:off x="1047750" y="6019800"/>
            <a:ext cx="16192500" cy="19050"/>
          </a:xfrm>
          <a:prstGeom prst="rect">
            <a:avLst/>
          </a:prstGeom>
          <a:solidFill>
            <a:srgbClr val="C05F38"/>
          </a:solidFill>
          <a:ln/>
        </p:spPr>
      </p:sp>
      <p:sp>
        <p:nvSpPr>
          <p:cNvPr id="35" name="Text 33"/>
          <p:cNvSpPr/>
          <p:nvPr/>
        </p:nvSpPr>
        <p:spPr>
          <a:xfrm>
            <a:off x="1219200" y="6172200"/>
            <a:ext cx="9358629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2025" dirty="0"/>
          </a:p>
        </p:txBody>
      </p:sp>
      <p:sp>
        <p:nvSpPr>
          <p:cNvPr id="36" name="Text 34"/>
          <p:cNvSpPr/>
          <p:nvPr/>
        </p:nvSpPr>
        <p:spPr>
          <a:xfrm>
            <a:off x="10561960" y="6172200"/>
            <a:ext cx="1823889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2025" dirty="0"/>
          </a:p>
        </p:txBody>
      </p:sp>
      <p:sp>
        <p:nvSpPr>
          <p:cNvPr id="37" name="Text 35"/>
          <p:cNvSpPr/>
          <p:nvPr/>
        </p:nvSpPr>
        <p:spPr>
          <a:xfrm>
            <a:off x="12652549" y="6172200"/>
            <a:ext cx="2074664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025" dirty="0"/>
          </a:p>
        </p:txBody>
      </p:sp>
      <p:sp>
        <p:nvSpPr>
          <p:cNvPr id="38" name="Text 36"/>
          <p:cNvSpPr/>
          <p:nvPr/>
        </p:nvSpPr>
        <p:spPr>
          <a:xfrm>
            <a:off x="14993913" y="6172200"/>
            <a:ext cx="2074887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2025" dirty="0"/>
          </a:p>
        </p:txBody>
      </p:sp>
      <p:sp>
        <p:nvSpPr>
          <p:cNvPr id="39" name="Text 37"/>
          <p:cNvSpPr/>
          <p:nvPr/>
        </p:nvSpPr>
        <p:spPr>
          <a:xfrm>
            <a:off x="1047750" y="6953250"/>
            <a:ext cx="17811750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highlighted row is where you earn the most — </a:t>
            </a:r>
            <a:pPr algn="l" indent="0" marL="0">
              <a:buNone/>
            </a:pPr>
            <a:r>
              <a:rPr lang="en-US" sz="1950" b="1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more features</a:t>
            </a:r>
            <a:pPr algn="l" indent="0" marL="0">
              <a:buNone/>
            </a:pPr>
            <a:r>
              <a:rPr lang="en-US" sz="1950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76300"/>
            <a:ext cx="178117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PEER EVALUATION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23975"/>
            <a:ext cx="1781175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500" b="1" spc="-112" kern="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 evaluation → +1 bonus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47750" y="4341019"/>
            <a:ext cx="9786938" cy="1238250"/>
          </a:xfrm>
          <a:prstGeom prst="roundRect">
            <a:avLst>
              <a:gd name="adj" fmla="val 10769"/>
            </a:avLst>
          </a:prstGeom>
          <a:solidFill>
            <a:srgbClr val="24211C"/>
          </a:solidFill>
          <a:ln/>
        </p:spPr>
      </p:sp>
      <p:sp>
        <p:nvSpPr>
          <p:cNvPr id="5" name="Text 3"/>
          <p:cNvSpPr/>
          <p:nvPr/>
        </p:nvSpPr>
        <p:spPr>
          <a:xfrm>
            <a:off x="1390650" y="4662488"/>
            <a:ext cx="4084015" cy="633412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E08B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≠ grade</a:t>
            </a:r>
            <a:endParaRPr lang="en-US" sz="4050" dirty="0"/>
          </a:p>
        </p:txBody>
      </p:sp>
      <p:sp>
        <p:nvSpPr>
          <p:cNvPr id="6" name="Text 4"/>
          <p:cNvSpPr/>
          <p:nvPr/>
        </p:nvSpPr>
        <p:spPr>
          <a:xfrm>
            <a:off x="5331991" y="4626769"/>
            <a:ext cx="5314591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C9B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part of your project grade — it only decides the bonus.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1047750" y="5865019"/>
            <a:ext cx="10080546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75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rate every other group on </a:t>
            </a:r>
            <a:pPr algn="l" indent="0" marL="0">
              <a:lnSpc>
                <a:spcPct val="150000"/>
              </a:lnSpc>
              <a:buNone/>
            </a:pPr>
            <a:r>
              <a:rPr lang="en-US" sz="2175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criteria, each 1–10 </a:t>
            </a:r>
            <a:pPr algn="l" indent="0" marL="0">
              <a:lnSpc>
                <a:spcPct val="150000"/>
              </a:lnSpc>
              <a:buNone/>
            </a:pPr>
            <a:r>
              <a:rPr lang="en-US" sz="2175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clarity · demo · usefulness · pitch. The </a:t>
            </a:r>
            <a:pPr algn="l" indent="0" marL="0">
              <a:lnSpc>
                <a:spcPct val="150000"/>
              </a:lnSpc>
              <a:buNone/>
            </a:pPr>
            <a:r>
              <a:rPr lang="en-US" sz="2175" b="1" dirty="0">
                <a:solidFill>
                  <a:srgbClr val="C05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group gets +1 </a:t>
            </a:r>
            <a:pPr algn="l" indent="0" marL="0">
              <a:lnSpc>
                <a:spcPct val="150000"/>
              </a:lnSpc>
              <a:buNone/>
            </a:pPr>
            <a:r>
              <a:rPr lang="en-US" sz="2175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its final grade.</a:t>
            </a:r>
            <a:endParaRPr lang="en-US" sz="2175" dirty="0"/>
          </a:p>
        </p:txBody>
      </p:sp>
      <p:sp>
        <p:nvSpPr>
          <p:cNvPr id="8" name="Shape 6"/>
          <p:cNvSpPr/>
          <p:nvPr/>
        </p:nvSpPr>
        <p:spPr>
          <a:xfrm>
            <a:off x="1047750" y="6884194"/>
            <a:ext cx="894829" cy="585788"/>
          </a:xfrm>
          <a:prstGeom prst="roundRect">
            <a:avLst>
              <a:gd name="adj" fmla="val 13008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19175" y="7027069"/>
            <a:ext cx="951979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F1C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037829" y="6884194"/>
            <a:ext cx="894904" cy="585788"/>
          </a:xfrm>
          <a:prstGeom prst="roundRect">
            <a:avLst>
              <a:gd name="adj" fmla="val 13008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09254" y="7027069"/>
            <a:ext cx="952054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F1C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027983" y="6884194"/>
            <a:ext cx="894829" cy="585788"/>
          </a:xfrm>
          <a:prstGeom prst="roundRect">
            <a:avLst>
              <a:gd name="adj" fmla="val 13008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99408" y="7027069"/>
            <a:ext cx="951979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F1C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018062" y="6884194"/>
            <a:ext cx="894904" cy="585788"/>
          </a:xfrm>
          <a:prstGeom prst="roundRect">
            <a:avLst>
              <a:gd name="adj" fmla="val 13008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89487" y="7027069"/>
            <a:ext cx="952054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F1C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008215" y="6884194"/>
            <a:ext cx="894829" cy="585788"/>
          </a:xfrm>
          <a:prstGeom prst="roundRect">
            <a:avLst>
              <a:gd name="adj" fmla="val 13008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79640" y="7027069"/>
            <a:ext cx="951979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F1C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998294" y="6884194"/>
            <a:ext cx="894904" cy="585788"/>
          </a:xfrm>
          <a:prstGeom prst="roundRect">
            <a:avLst>
              <a:gd name="adj" fmla="val 13008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69719" y="7027069"/>
            <a:ext cx="952054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F1C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988448" y="6884194"/>
            <a:ext cx="894829" cy="585788"/>
          </a:xfrm>
          <a:prstGeom prst="roundRect">
            <a:avLst>
              <a:gd name="adj" fmla="val 13008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59873" y="7027069"/>
            <a:ext cx="951979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F1C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978527" y="6884194"/>
            <a:ext cx="894904" cy="585788"/>
          </a:xfrm>
          <a:prstGeom prst="roundRect">
            <a:avLst>
              <a:gd name="adj" fmla="val 13008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49952" y="7027069"/>
            <a:ext cx="952054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F1C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8968680" y="6884194"/>
            <a:ext cx="894904" cy="585788"/>
          </a:xfrm>
          <a:prstGeom prst="roundRect">
            <a:avLst>
              <a:gd name="adj" fmla="val 13008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40105" y="7027069"/>
            <a:ext cx="952054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F1C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958834" y="6884194"/>
            <a:ext cx="875854" cy="585788"/>
          </a:xfrm>
          <a:prstGeom prst="roundRect">
            <a:avLst>
              <a:gd name="adj" fmla="val 13008"/>
            </a:avLst>
          </a:prstGeom>
          <a:solidFill>
            <a:srgbClr val="C05F38"/>
          </a:solidFill>
          <a:ln/>
        </p:spPr>
      </p:sp>
      <p:sp>
        <p:nvSpPr>
          <p:cNvPr id="27" name="Text 25"/>
          <p:cNvSpPr/>
          <p:nvPr/>
        </p:nvSpPr>
        <p:spPr>
          <a:xfrm>
            <a:off x="9920734" y="7017544"/>
            <a:ext cx="952054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2732544" y="4088606"/>
            <a:ext cx="3143250" cy="314325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E5DCCD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70669" y="4326731"/>
            <a:ext cx="2667000" cy="266700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2690351" y="7422356"/>
            <a:ext cx="3550317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75" kern="0" dirty="0">
                <a:solidFill>
                  <a:srgbClr val="746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 → EVALUATION FORM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76300"/>
            <a:ext cx="178117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GROUND RULES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23975"/>
            <a:ext cx="1781175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500" b="1" spc="-112" kern="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may use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47750" y="4143375"/>
            <a:ext cx="7962900" cy="1443038"/>
          </a:xfrm>
          <a:prstGeom prst="roundRect">
            <a:avLst>
              <a:gd name="adj" fmla="val 10561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38275" y="4495800"/>
            <a:ext cx="7900035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5 labs are your toolkit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438275" y="4943475"/>
            <a:ext cx="790003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74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Reuse RAG / MCP / agent — at least one, ideally combined.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277350" y="4143375"/>
            <a:ext cx="7962900" cy="1443038"/>
          </a:xfrm>
          <a:prstGeom prst="roundRect">
            <a:avLst>
              <a:gd name="adj" fmla="val 10561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67875" y="4495800"/>
            <a:ext cx="7900035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frameworks allowed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667875" y="4943475"/>
            <a:ext cx="790003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74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LangGraph, Google ADK… a framework is fine.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047750" y="5853113"/>
            <a:ext cx="7962900" cy="1890713"/>
          </a:xfrm>
          <a:prstGeom prst="roundRect">
            <a:avLst>
              <a:gd name="adj" fmla="val 8060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38275" y="6205538"/>
            <a:ext cx="7900035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Mocked data / APIs allowed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438275" y="6653213"/>
            <a:ext cx="790003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74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Stub what you need so the POC works.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277350" y="5853113"/>
            <a:ext cx="7962900" cy="1890713"/>
          </a:xfrm>
          <a:prstGeom prst="roundRect">
            <a:avLst>
              <a:gd name="adj" fmla="val 8060"/>
            </a:avLst>
          </a:prstGeom>
          <a:solidFill>
            <a:srgbClr val="24211C"/>
          </a:solidFill>
          <a:ln/>
        </p:spPr>
      </p:sp>
      <p:sp>
        <p:nvSpPr>
          <p:cNvPr id="14" name="Text 12"/>
          <p:cNvSpPr/>
          <p:nvPr/>
        </p:nvSpPr>
        <p:spPr>
          <a:xfrm>
            <a:off x="9658350" y="6205538"/>
            <a:ext cx="906363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3ED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10640913" y="6196013"/>
            <a:ext cx="1714723" cy="371475"/>
          </a:xfrm>
          <a:prstGeom prst="roundRect">
            <a:avLst>
              <a:gd name="adj" fmla="val 50000"/>
            </a:avLst>
          </a:prstGeom>
          <a:solidFill>
            <a:srgbClr val="C05F38"/>
          </a:solidFill>
          <a:ln/>
        </p:spPr>
      </p:sp>
      <p:sp>
        <p:nvSpPr>
          <p:cNvPr id="16" name="Text 14"/>
          <p:cNvSpPr/>
          <p:nvPr/>
        </p:nvSpPr>
        <p:spPr>
          <a:xfrm>
            <a:off x="10812363" y="6253163"/>
            <a:ext cx="1448023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Haiku only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658350" y="6700838"/>
            <a:ext cx="792099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E8DD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claude-haiku-4-5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658350" y="7124700"/>
            <a:ext cx="792099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C9B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Claude Code to write your code.</a:t>
            </a:r>
            <a:endParaRPr lang="en-US" sz="187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76300"/>
            <a:ext cx="178117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 · QUOTAS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23975"/>
            <a:ext cx="1781175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500" b="1" spc="-112" kern="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separate things — don't confuse them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47750" y="2305050"/>
            <a:ext cx="7943850" cy="6386513"/>
          </a:xfrm>
          <a:prstGeom prst="roundRect">
            <a:avLst>
              <a:gd name="adj" fmla="val 2386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38275" y="2676525"/>
            <a:ext cx="787908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</a:t>
            </a:r>
            <a:pPr algn="l" indent="0" marL="0">
              <a:buNone/>
            </a:pPr>
            <a:r>
              <a:rPr lang="en-US" sz="1950" dirty="0">
                <a:solidFill>
                  <a:srgbClr val="74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your Pro/Max sub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438275" y="3219450"/>
            <a:ext cx="7377684" cy="1204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025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coding assistant. Usage is </a:t>
            </a:r>
            <a:pPr algn="l" indent="0" marL="0">
              <a:lnSpc>
                <a:spcPct val="150000"/>
              </a:lnSpc>
              <a:buNone/>
            </a:pPr>
            <a:r>
              <a:rPr lang="en-US" sz="2025" b="1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</a:t>
            </a:r>
            <a:pPr algn="l" indent="0" marL="0">
              <a:lnSpc>
                <a:spcPct val="150000"/>
              </a:lnSpc>
              <a:buNone/>
            </a:pPr>
            <a:r>
              <a:rPr lang="en-US" sz="2025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short rolling-window limits (a few hours) </a:t>
            </a:r>
            <a:pPr algn="l" indent="0" marL="0">
              <a:lnSpc>
                <a:spcPct val="150000"/>
              </a:lnSpc>
              <a:buNone/>
            </a:pPr>
            <a:r>
              <a:rPr lang="en-US" sz="2025" b="1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a weekly limit </a:t>
            </a:r>
            <a:pPr algn="l" indent="0" marL="0">
              <a:lnSpc>
                <a:spcPct val="150000"/>
              </a:lnSpc>
              <a:buNone/>
            </a:pPr>
            <a:r>
              <a:rPr lang="en-US" sz="2025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Hit a limit → wait for the reset. Heavier models (Opus) burn faster.</a:t>
            </a:r>
            <a:endParaRPr lang="en-US" sz="2025" dirty="0"/>
          </a:p>
        </p:txBody>
      </p:sp>
      <p:sp>
        <p:nvSpPr>
          <p:cNvPr id="7" name="Shape 5"/>
          <p:cNvSpPr/>
          <p:nvPr/>
        </p:nvSpPr>
        <p:spPr>
          <a:xfrm>
            <a:off x="9296400" y="2305050"/>
            <a:ext cx="7943850" cy="6386513"/>
          </a:xfrm>
          <a:prstGeom prst="roundRect">
            <a:avLst>
              <a:gd name="adj" fmla="val 2386"/>
            </a:avLst>
          </a:prstGeom>
          <a:solidFill>
            <a:srgbClr val="24211C"/>
          </a:solidFill>
          <a:ln/>
        </p:spPr>
      </p:sp>
      <p:sp>
        <p:nvSpPr>
          <p:cNvPr id="8" name="Text 6"/>
          <p:cNvSpPr/>
          <p:nvPr/>
        </p:nvSpPr>
        <p:spPr>
          <a:xfrm>
            <a:off x="9677400" y="2667000"/>
            <a:ext cx="790003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F3ED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Anthropic API </a:t>
            </a:r>
            <a:pPr algn="l" indent="0" marL="0">
              <a:buNone/>
            </a:pPr>
            <a:r>
              <a:rPr lang="en-US" sz="1950" dirty="0">
                <a:solidFill>
                  <a:srgbClr val="A99E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Haiku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9677400" y="3209925"/>
            <a:ext cx="7397306" cy="1204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025" dirty="0">
                <a:solidFill>
                  <a:srgbClr val="D8CD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your </a:t>
            </a:r>
            <a:pPr algn="l" indent="0" marL="0">
              <a:lnSpc>
                <a:spcPct val="150000"/>
              </a:lnSpc>
              <a:buNone/>
            </a:pPr>
            <a:r>
              <a:rPr lang="en-US" sz="2025" b="1" dirty="0">
                <a:solidFill>
                  <a:srgbClr val="D8CD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/ notebooks </a:t>
            </a:r>
            <a:pPr algn="l" indent="0" marL="0">
              <a:lnSpc>
                <a:spcPct val="150000"/>
              </a:lnSpc>
              <a:buNone/>
            </a:pPr>
            <a:r>
              <a:rPr lang="en-US" sz="2025" dirty="0">
                <a:solidFill>
                  <a:srgbClr val="D8CD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call. </a:t>
            </a:r>
            <a:pPr algn="l" indent="0" marL="0">
              <a:lnSpc>
                <a:spcPct val="150000"/>
              </a:lnSpc>
              <a:buNone/>
            </a:pPr>
            <a:r>
              <a:rPr lang="en-US" sz="2025" b="1" dirty="0">
                <a:solidFill>
                  <a:srgbClr val="D8CD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API key per group. </a:t>
            </a:r>
            <a:pPr algn="l" indent="0" marL="0">
              <a:lnSpc>
                <a:spcPct val="150000"/>
              </a:lnSpc>
              <a:buNone/>
            </a:pPr>
            <a:r>
              <a:rPr lang="en-US" sz="2025" dirty="0">
                <a:solidFill>
                  <a:srgbClr val="D8CD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budget is </a:t>
            </a:r>
            <a:pPr algn="l" indent="0" marL="0">
              <a:lnSpc>
                <a:spcPct val="150000"/>
              </a:lnSpc>
              <a:buNone/>
            </a:pPr>
            <a:r>
              <a:rPr lang="en-US" sz="2025" b="1" dirty="0">
                <a:solidFill>
                  <a:srgbClr val="E08B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across all groups </a:t>
            </a:r>
            <a:pPr algn="l" indent="0" marL="0">
              <a:lnSpc>
                <a:spcPct val="150000"/>
              </a:lnSpc>
              <a:buNone/>
            </a:pPr>
            <a:r>
              <a:rPr lang="en-US" sz="2025" dirty="0">
                <a:solidFill>
                  <a:srgbClr val="D8CD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keep </a:t>
            </a:r>
            <a:pPr algn="l" indent="0" marL="0">
              <a:lnSpc>
                <a:spcPct val="150000"/>
              </a:lnSpc>
              <a:buNone/>
            </a:pPr>
            <a:r>
              <a:rPr lang="en-US" sz="2025" dirty="0">
                <a:solidFill>
                  <a:srgbClr val="D8CD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max_tokens </a:t>
            </a:r>
            <a:pPr algn="l" indent="0" marL="0">
              <a:lnSpc>
                <a:spcPct val="150000"/>
              </a:lnSpc>
              <a:buNone/>
            </a:pPr>
            <a:r>
              <a:rPr lang="en-US" sz="2025" dirty="0">
                <a:solidFill>
                  <a:srgbClr val="D8CD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small, no wasteful loops.</a:t>
            </a:r>
            <a:endParaRPr lang="en-US" sz="2025" dirty="0"/>
          </a:p>
        </p:txBody>
      </p:sp>
      <p:sp>
        <p:nvSpPr>
          <p:cNvPr id="10" name="Text 8"/>
          <p:cNvSpPr/>
          <p:nvPr/>
        </p:nvSpPr>
        <p:spPr>
          <a:xfrm>
            <a:off x="1047750" y="9122569"/>
            <a:ext cx="153667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74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usage:</a:t>
            </a:r>
            <a:endParaRPr lang="en-US" sz="1875" dirty="0"/>
          </a:p>
        </p:txBody>
      </p:sp>
      <p:sp>
        <p:nvSpPr>
          <p:cNvPr id="11" name="Shape 9"/>
          <p:cNvSpPr/>
          <p:nvPr/>
        </p:nvSpPr>
        <p:spPr>
          <a:xfrm>
            <a:off x="2635225" y="9015413"/>
            <a:ext cx="1165920" cy="490538"/>
          </a:xfrm>
          <a:prstGeom prst="roundRect">
            <a:avLst>
              <a:gd name="adj" fmla="val 15534"/>
            </a:avLst>
          </a:prstGeom>
          <a:solidFill>
            <a:srgbClr val="EFE6D7"/>
          </a:solidFill>
          <a:ln/>
        </p:spPr>
      </p:sp>
      <p:sp>
        <p:nvSpPr>
          <p:cNvPr id="12" name="Text 10"/>
          <p:cNvSpPr/>
          <p:nvPr/>
        </p:nvSpPr>
        <p:spPr>
          <a:xfrm>
            <a:off x="2806675" y="9110663"/>
            <a:ext cx="89922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F1C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/usage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991645" y="9015413"/>
            <a:ext cx="1028700" cy="490538"/>
          </a:xfrm>
          <a:prstGeom prst="roundRect">
            <a:avLst>
              <a:gd name="adj" fmla="val 15534"/>
            </a:avLst>
          </a:prstGeom>
          <a:solidFill>
            <a:srgbClr val="EFE6D7"/>
          </a:solidFill>
          <a:ln/>
        </p:spPr>
      </p:sp>
      <p:sp>
        <p:nvSpPr>
          <p:cNvPr id="14" name="Text 12"/>
          <p:cNvSpPr/>
          <p:nvPr/>
        </p:nvSpPr>
        <p:spPr>
          <a:xfrm>
            <a:off x="4163095" y="9110663"/>
            <a:ext cx="76200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F1C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/cost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210845" y="9015413"/>
            <a:ext cx="1440210" cy="490538"/>
          </a:xfrm>
          <a:prstGeom prst="roundRect">
            <a:avLst>
              <a:gd name="adj" fmla="val 15534"/>
            </a:avLst>
          </a:prstGeom>
          <a:solidFill>
            <a:srgbClr val="EFE6D7"/>
          </a:solidFill>
          <a:ln/>
        </p:spPr>
      </p:sp>
      <p:sp>
        <p:nvSpPr>
          <p:cNvPr id="16" name="Text 14"/>
          <p:cNvSpPr/>
          <p:nvPr/>
        </p:nvSpPr>
        <p:spPr>
          <a:xfrm>
            <a:off x="5382295" y="9110663"/>
            <a:ext cx="117351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F1C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/context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841554" y="9124950"/>
            <a:ext cx="3118039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4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API spend → the Console.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76300"/>
            <a:ext cx="178117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 · BEST PRACTICES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23975"/>
            <a:ext cx="1781175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500" b="1" spc="-112" kern="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efficiently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47750" y="2343150"/>
            <a:ext cx="5245075" cy="3467100"/>
          </a:xfrm>
          <a:prstGeom prst="roundRect">
            <a:avLst>
              <a:gd name="adj" fmla="val 3846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62075" y="2638425"/>
            <a:ext cx="5078068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75" kern="0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62075" y="3052763"/>
            <a:ext cx="5078068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first</a:t>
            </a:r>
            <a:endParaRPr lang="en-US" sz="2175" dirty="0"/>
          </a:p>
        </p:txBody>
      </p:sp>
      <p:sp>
        <p:nvSpPr>
          <p:cNvPr id="7" name="Text 5"/>
          <p:cNvSpPr/>
          <p:nvPr/>
        </p:nvSpPr>
        <p:spPr>
          <a:xfrm>
            <a:off x="1362075" y="3448050"/>
            <a:ext cx="4754918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4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 (Shift+Tab) — agree the approach before it codes.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521425" y="2343150"/>
            <a:ext cx="5245075" cy="3467100"/>
          </a:xfrm>
          <a:prstGeom prst="roundRect">
            <a:avLst>
              <a:gd name="adj" fmla="val 3846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35750" y="2638425"/>
            <a:ext cx="5078068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75" kern="0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35750" y="3052763"/>
            <a:ext cx="5078068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context</a:t>
            </a:r>
            <a:endParaRPr lang="en-US" sz="2175" dirty="0"/>
          </a:p>
        </p:txBody>
      </p:sp>
      <p:sp>
        <p:nvSpPr>
          <p:cNvPr id="11" name="Text 9"/>
          <p:cNvSpPr/>
          <p:nvPr/>
        </p:nvSpPr>
        <p:spPr>
          <a:xfrm>
            <a:off x="6835750" y="3448050"/>
            <a:ext cx="4754918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46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/clear </a:t>
            </a:r>
            <a:pPr algn="l" indent="0" marL="0">
              <a:buNone/>
            </a:pPr>
            <a:r>
              <a:rPr lang="en-US" sz="1800" dirty="0">
                <a:solidFill>
                  <a:srgbClr val="74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between tasks; stale sessions waste quota.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1995100" y="2343150"/>
            <a:ext cx="5245150" cy="3467100"/>
          </a:xfrm>
          <a:prstGeom prst="roundRect">
            <a:avLst>
              <a:gd name="adj" fmla="val 3846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09425" y="2638425"/>
            <a:ext cx="507815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75" kern="0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309425" y="3052763"/>
            <a:ext cx="507815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it something to verify</a:t>
            </a:r>
            <a:endParaRPr lang="en-US" sz="2175" dirty="0"/>
          </a:p>
        </p:txBody>
      </p:sp>
      <p:sp>
        <p:nvSpPr>
          <p:cNvPr id="15" name="Text 13"/>
          <p:cNvSpPr/>
          <p:nvPr/>
        </p:nvSpPr>
        <p:spPr>
          <a:xfrm>
            <a:off x="12309425" y="3448050"/>
            <a:ext cx="4754995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4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Tests, a run command, a screenshot → it self-corrects.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47750" y="6038850"/>
            <a:ext cx="5245075" cy="3467100"/>
          </a:xfrm>
          <a:prstGeom prst="roundRect">
            <a:avLst>
              <a:gd name="adj" fmla="val 3846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62075" y="6334125"/>
            <a:ext cx="5078068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75" kern="0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62075" y="6748463"/>
            <a:ext cx="5078068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a CLAUDE.md</a:t>
            </a:r>
            <a:endParaRPr lang="en-US" sz="2175" dirty="0"/>
          </a:p>
        </p:txBody>
      </p:sp>
      <p:sp>
        <p:nvSpPr>
          <p:cNvPr id="19" name="Text 17"/>
          <p:cNvSpPr/>
          <p:nvPr/>
        </p:nvSpPr>
        <p:spPr>
          <a:xfrm>
            <a:off x="1362075" y="7143750"/>
            <a:ext cx="4754918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4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conventions, loaded every session — keep it short.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521425" y="6038850"/>
            <a:ext cx="5245075" cy="3467100"/>
          </a:xfrm>
          <a:prstGeom prst="roundRect">
            <a:avLst>
              <a:gd name="adj" fmla="val 3846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35750" y="6334125"/>
            <a:ext cx="5078068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75" kern="0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SUBAGENTS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835750" y="6748463"/>
            <a:ext cx="5078068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Delegate to subagents</a:t>
            </a:r>
            <a:endParaRPr lang="en-US" sz="2175" dirty="0"/>
          </a:p>
        </p:txBody>
      </p:sp>
      <p:sp>
        <p:nvSpPr>
          <p:cNvPr id="23" name="Text 21"/>
          <p:cNvSpPr/>
          <p:nvPr/>
        </p:nvSpPr>
        <p:spPr>
          <a:xfrm>
            <a:off x="6835750" y="7143750"/>
            <a:ext cx="4754918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4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 investigation to keep your main context clean.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1995100" y="6038850"/>
            <a:ext cx="5245150" cy="3467100"/>
          </a:xfrm>
          <a:prstGeom prst="roundRect">
            <a:avLst>
              <a:gd name="adj" fmla="val 3846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309425" y="6334125"/>
            <a:ext cx="507815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75" kern="0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2309425" y="6748463"/>
            <a:ext cx="507815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right model</a:t>
            </a:r>
            <a:endParaRPr lang="en-US" sz="2175" dirty="0"/>
          </a:p>
        </p:txBody>
      </p:sp>
      <p:sp>
        <p:nvSpPr>
          <p:cNvPr id="27" name="Text 25"/>
          <p:cNvSpPr/>
          <p:nvPr/>
        </p:nvSpPr>
        <p:spPr>
          <a:xfrm>
            <a:off x="12309425" y="7143750"/>
            <a:ext cx="4754995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4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 for most; Opus sparingly (burns quota); Haiku for simple tasks.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76300"/>
            <a:ext cx="178117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LOGISTICS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23975"/>
            <a:ext cx="1781175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500" b="1" spc="-112" kern="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 days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47750" y="2343150"/>
            <a:ext cx="7943850" cy="6014145"/>
          </a:xfrm>
          <a:prstGeom prst="roundRect">
            <a:avLst>
              <a:gd name="adj" fmla="val 2534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57325" y="2733675"/>
            <a:ext cx="783717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746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1 · WEDNESDAY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57325" y="3128963"/>
            <a:ext cx="783717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09:00 — Kickoff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457325" y="3748087"/>
            <a:ext cx="783717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validation → build.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296400" y="2343150"/>
            <a:ext cx="7943850" cy="6014145"/>
          </a:xfrm>
          <a:prstGeom prst="roundRect">
            <a:avLst>
              <a:gd name="adj" fmla="val 2534"/>
            </a:avLst>
          </a:prstGeom>
          <a:solidFill>
            <a:srgbClr val="FFFDF9"/>
          </a:solidFill>
          <a:ln w="9525">
            <a:solidFill>
              <a:srgbClr val="E5DCC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05975" y="2733675"/>
            <a:ext cx="783717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746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2 · THURSDAY · UNTIL 19:15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705975" y="3167063"/>
            <a:ext cx="1889820" cy="957263"/>
          </a:xfrm>
          <a:prstGeom prst="roundRect">
            <a:avLst>
              <a:gd name="adj" fmla="val 9950"/>
            </a:avLst>
          </a:prstGeom>
          <a:solidFill>
            <a:srgbClr val="B83227"/>
          </a:solidFill>
          <a:ln/>
        </p:spPr>
      </p:sp>
      <p:sp>
        <p:nvSpPr>
          <p:cNvPr id="11" name="Text 9"/>
          <p:cNvSpPr/>
          <p:nvPr/>
        </p:nvSpPr>
        <p:spPr>
          <a:xfrm>
            <a:off x="9896475" y="3300413"/>
            <a:ext cx="1659701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8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 FREEZE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896475" y="3600450"/>
            <a:ext cx="1659701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15:30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11786295" y="3167063"/>
            <a:ext cx="2287935" cy="957263"/>
          </a:xfrm>
          <a:prstGeom prst="roundRect">
            <a:avLst>
              <a:gd name="adj" fmla="val 9950"/>
            </a:avLst>
          </a:prstGeom>
          <a:solidFill>
            <a:srgbClr val="24211C"/>
          </a:solidFill>
          <a:ln/>
        </p:spPr>
      </p:sp>
      <p:sp>
        <p:nvSpPr>
          <p:cNvPr id="14" name="Text 12"/>
          <p:cNvSpPr/>
          <p:nvPr/>
        </p:nvSpPr>
        <p:spPr>
          <a:xfrm>
            <a:off x="11976795" y="3300413"/>
            <a:ext cx="2097628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8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PRESENTATIONS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976795" y="3600450"/>
            <a:ext cx="2097628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16:00–19:00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705975" y="4276725"/>
            <a:ext cx="7837170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4B4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→ freeze → present.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1047750" y="8662095"/>
            <a:ext cx="16192500" cy="843855"/>
          </a:xfrm>
          <a:prstGeom prst="roundRect">
            <a:avLst>
              <a:gd name="adj" fmla="val 13545"/>
            </a:avLst>
          </a:prstGeom>
          <a:solidFill>
            <a:srgbClr val="F3E3DA"/>
          </a:solidFill>
          <a:ln/>
        </p:spPr>
      </p:sp>
      <p:sp>
        <p:nvSpPr>
          <p:cNvPr id="18" name="Text 16"/>
          <p:cNvSpPr/>
          <p:nvPr/>
        </p:nvSpPr>
        <p:spPr>
          <a:xfrm>
            <a:off x="1333500" y="8890695"/>
            <a:ext cx="16106775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0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Format: </a:t>
            </a:r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1F1C18"/>
                </a:solidFill>
                <a:highlight>
                  <a:srgbClr val="F3E3DA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a pitch with a live demo — </a:t>
            </a:r>
            <a:pPr algn="l" indent="0" marL="0">
              <a:lnSpc>
                <a:spcPct val="145000"/>
              </a:lnSpc>
              <a:buNone/>
            </a:pPr>
            <a:r>
              <a:rPr lang="en-US" sz="2100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 sharp + 5 min Q&amp;A </a:t>
            </a:r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1F1C18"/>
                </a:solidFill>
                <a:highlight>
                  <a:srgbClr val="F3E3DA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per group. Order drawn at random.</a:t>
            </a:r>
            <a:endParaRPr lang="en-US" sz="2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76300"/>
            <a:ext cx="178117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C05F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YOU GO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23975"/>
            <a:ext cx="1781175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500" b="1" spc="-112" kern="0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forget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047750" y="4748361"/>
            <a:ext cx="14793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dirty="0">
                <a:solidFill>
                  <a:srgbClr val="B83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1290935" y="4748361"/>
            <a:ext cx="7018452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75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commit your API key </a:t>
            </a:r>
            <a:pPr algn="l" indent="0" marL="0">
              <a:lnSpc>
                <a:spcPct val="140000"/>
              </a:lnSpc>
              <a:buNone/>
            </a:pPr>
            <a:r>
              <a:rPr lang="en-US" sz="2175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use </a:t>
            </a:r>
            <a:pPr algn="l" indent="0" marL="0">
              <a:lnSpc>
                <a:spcPct val="140000"/>
              </a:lnSpc>
              <a:buNone/>
            </a:pPr>
            <a:r>
              <a:rPr lang="en-US" sz="2175" dirty="0">
                <a:solidFill>
                  <a:srgbClr val="1F1C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pPr algn="l" indent="0" marL="0">
              <a:lnSpc>
                <a:spcPct val="140000"/>
              </a:lnSpc>
              <a:buNone/>
            </a:pPr>
            <a:r>
              <a:rPr lang="en-US" sz="2175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gitignored.</a:t>
            </a:r>
            <a:endParaRPr lang="en-US" sz="2175" dirty="0"/>
          </a:p>
        </p:txBody>
      </p:sp>
      <p:sp>
        <p:nvSpPr>
          <p:cNvPr id="6" name="Text 4"/>
          <p:cNvSpPr/>
          <p:nvPr/>
        </p:nvSpPr>
        <p:spPr>
          <a:xfrm>
            <a:off x="9391650" y="4748361"/>
            <a:ext cx="16668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dirty="0">
                <a:solidFill>
                  <a:srgbClr val="C05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9653588" y="4748361"/>
            <a:ext cx="7814262" cy="811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75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5 TDs are mandatory </a:t>
            </a:r>
            <a:pPr algn="l" indent="0" marL="0">
              <a:lnSpc>
                <a:spcPct val="140000"/>
              </a:lnSpc>
              <a:buNone/>
            </a:pPr>
            <a:r>
              <a:rPr lang="en-US" sz="2175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do them before / around the hackathon.</a:t>
            </a:r>
            <a:endParaRPr lang="en-US" sz="2175" dirty="0"/>
          </a:p>
        </p:txBody>
      </p:sp>
      <p:sp>
        <p:nvSpPr>
          <p:cNvPr id="8" name="Text 6"/>
          <p:cNvSpPr/>
          <p:nvPr/>
        </p:nvSpPr>
        <p:spPr>
          <a:xfrm>
            <a:off x="1047750" y="5731222"/>
            <a:ext cx="16668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dirty="0">
                <a:solidFill>
                  <a:srgbClr val="C05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309688" y="5731222"/>
            <a:ext cx="8304155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75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notebooks executed </a:t>
            </a:r>
            <a:pPr algn="l" indent="0" marL="0">
              <a:lnSpc>
                <a:spcPct val="140000"/>
              </a:lnSpc>
              <a:buNone/>
            </a:pPr>
            <a:r>
              <a:rPr lang="en-US" sz="2175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no outputs = harder to grade.</a:t>
            </a:r>
            <a:endParaRPr lang="en-US" sz="2175" dirty="0"/>
          </a:p>
        </p:txBody>
      </p:sp>
      <p:sp>
        <p:nvSpPr>
          <p:cNvPr id="10" name="Text 8"/>
          <p:cNvSpPr/>
          <p:nvPr/>
        </p:nvSpPr>
        <p:spPr>
          <a:xfrm>
            <a:off x="9391650" y="5731222"/>
            <a:ext cx="16668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dirty="0">
                <a:solidFill>
                  <a:srgbClr val="C05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9653588" y="5731222"/>
            <a:ext cx="4905844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75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answers = your own words.</a:t>
            </a:r>
            <a:endParaRPr lang="en-US" sz="2175" dirty="0"/>
          </a:p>
        </p:txBody>
      </p:sp>
      <p:sp>
        <p:nvSpPr>
          <p:cNvPr id="12" name="Text 10"/>
          <p:cNvSpPr/>
          <p:nvPr/>
        </p:nvSpPr>
        <p:spPr>
          <a:xfrm>
            <a:off x="1047750" y="6327428"/>
            <a:ext cx="16668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dirty="0">
                <a:solidFill>
                  <a:srgbClr val="C05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309688" y="6327428"/>
            <a:ext cx="7814262" cy="811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75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scope tight </a:t>
            </a:r>
            <a:pPr algn="l" indent="0" marL="0">
              <a:lnSpc>
                <a:spcPct val="140000"/>
              </a:lnSpc>
              <a:buNone/>
            </a:pPr>
            <a:r>
              <a:rPr lang="en-US" sz="2175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killer flow + one agent loop + a simple UI beats an over-ambitious half-working demo.</a:t>
            </a:r>
            <a:endParaRPr lang="en-US" sz="2175" dirty="0"/>
          </a:p>
        </p:txBody>
      </p:sp>
      <p:sp>
        <p:nvSpPr>
          <p:cNvPr id="14" name="Text 12"/>
          <p:cNvSpPr/>
          <p:nvPr/>
        </p:nvSpPr>
        <p:spPr>
          <a:xfrm>
            <a:off x="9391650" y="6327428"/>
            <a:ext cx="16668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dirty="0">
                <a:solidFill>
                  <a:srgbClr val="C05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653588" y="6327428"/>
            <a:ext cx="8339599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75" b="1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Stuck? </a:t>
            </a:r>
            <a:pPr algn="l" indent="0" marL="0">
              <a:lnSpc>
                <a:spcPct val="140000"/>
              </a:lnSpc>
              <a:buNone/>
            </a:pPr>
            <a:r>
              <a:rPr lang="en-US" sz="2175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Claude first, then </a:t>
            </a:r>
            <a:pPr algn="l" indent="0" marL="0">
              <a:lnSpc>
                <a:spcPct val="140000"/>
              </a:lnSpc>
              <a:buNone/>
            </a:pPr>
            <a:r>
              <a:rPr lang="en-US" sz="2175" dirty="0">
                <a:solidFill>
                  <a:srgbClr val="C05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louis.fontaine.pro@gmail.com</a:t>
            </a:r>
            <a:pPr algn="l" indent="0" marL="0">
              <a:lnSpc>
                <a:spcPct val="140000"/>
              </a:lnSpc>
              <a:buNone/>
            </a:pPr>
            <a:r>
              <a:rPr lang="en-US" sz="2175" dirty="0">
                <a:solidFill>
                  <a:srgbClr val="1F1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175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421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3652838"/>
            <a:ext cx="178117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08B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GENERATIVE AI · M2 IASD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4195763"/>
            <a:ext cx="17811750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0" b="1" spc="-225" kern="0" dirty="0">
                <a:solidFill>
                  <a:srgbClr val="F3ED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1047750" y="5681663"/>
            <a:ext cx="11525250" cy="5572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700" dirty="0">
                <a:solidFill>
                  <a:srgbClr val="C9B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</a:t>
            </a:r>
            <a:pPr algn="l" indent="0" marL="0">
              <a:lnSpc>
                <a:spcPct val="150000"/>
              </a:lnSpc>
              <a:buNone/>
            </a:pPr>
            <a:r>
              <a:rPr lang="en-US" sz="2700" b="1" dirty="0">
                <a:solidFill>
                  <a:srgbClr val="F3ED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first </a:t>
            </a:r>
            <a:pPr algn="l" indent="0" marL="0">
              <a:lnSpc>
                <a:spcPct val="150000"/>
              </a:lnSpc>
              <a:buNone/>
            </a:pPr>
            <a:r>
              <a:rPr lang="en-US" sz="2700" dirty="0">
                <a:solidFill>
                  <a:srgbClr val="C9B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then reach out.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047750" y="6334125"/>
            <a:ext cx="17811750" cy="4143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E08B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louis.fontaine.pro@gmail.com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2026-07-06T22:33:07Z</dcterms:created>
  <dcterms:modified xsi:type="dcterms:W3CDTF">2026-07-06T22:33:07Z</dcterms:modified>
</cp:coreProperties>
</file>