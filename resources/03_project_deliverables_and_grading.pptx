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" name="Shape 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Welcome. This deck is the practical companion to the course intro: what to hand in, how you're graded, and how to work efficiently during the hackathon.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" name="Shape 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Four things: what you hand in, how grading works for TDs and the project, the hackathon subject, and Claude Code with its quotas and best practices.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" name="Shape 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five labs build one system brick by brick, and the hackathon is where you turn those skills into your own product. All five TDs are mandatory and chained — each feeds the next.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One new private git repo per group — groups of two, same as the TDs. It holds your filled TD1 to TD5 notebooks plus a projet folder for the hackathon.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Private repo, not a fork. Add End2EndAI as a collaborator. Fill the Excel with one row per group. Commit notebooks executed. Deadline is everything pushed before presentations — Thursday 15:30 push freeze. Push time counts, not commit dates.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Your final grade is 30% TDs plus 70% hackathon, and up to a +1 bonus from peer voting.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Shape 1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TDs are 30%, graded on the five completed notebooks plus the TD3/4/5 mini-projects. Ten points for notebooks, ten for mini-projects, out of twenty. Your analysis answers must be written by you.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tracks. Track 1, free innovation, ceiling 20 — build the agentic product you want, a real agent loop with tools. Track 2, extend the PIM Copilot, ceiling 16 — ship at least two new features on the TD5 base.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single LLM call is one input, one output, no outside world. You need an agent — a reason, act, observe loop — when you need live data, actions, an unknown number of steps, reaction to results, or a constraint met by iteration. Litmus test: can I answer in one shot without looking anything up or changing anything?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Grid to sort project ideas: agentic vs. plain LLM call.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8" name="Shape 3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Hackathon deliverables: a working POC that runs end-to-end, a short live demo, a pitch, and a clean repo — no API key, requirements.txt, README with run instructions. All in the projet folder.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Hackathon rubric out of twenty, 70% of your grade. The agentic toolkit plus features row is worth the most — more features means more points. Track 1 tops at 20, Track 2 at 16.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1" name="Shape 4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At the presentations you rate every other group on a Google Form — four criteria, each 1 to 10. The top group gets +1 on its final grade. Remember: this is a SCORE, not a grade — it only decides the bonus, it's not part of your project grade.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1" name="Shape 4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Your five labs are your toolkit — reuse RAG, MCP, agent, at least one, ideally combined. Agent frameworks like LangGraph or Google ADK are allowed. Mocked data and APIs are allowed. Model: Haiku only, claude-haiku-4-5. Use Claude Code to write your code.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0" name="Shape 4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separate things, don't confuse them. Claude Code on your Pro/Max subscription is your coding assistant, with rolling-window and weekly limits. The Anthropic API with Haiku is what your app calls — one key per group, and the budget is SHARED across all groups, so be mindful. Track usage with /usage, /cost, /context.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9" name="Shape 4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Claude Code best practices: plan first with plan mode, manage context with /clear and /context, give it something to verify, keep a short CLAUDE.md, delegate to subagents, and pick the right model — Sonnet for most coding, Opus sparingly, Haiku for simple tasks.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9" name="Shape 4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Day 1 Wednesday 9:00 — kickoff and idea validation, then build. Day 2 Thursday until 19:15 — build, push freeze at 15:30, presentations 16:00 to 19:00. Format: a pitch with a live demo, 5 minutes sharp plus 5 minutes Q&amp;A. Order drawn at random.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6" name="Shape 5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Don't forget: never commit your API key, use a gitignored .env. All 5 TDs are mandatory. Commit notebooks executed. Analysis answers in your own words. Keep scope tight — one killer flow beats an over-ambitious half-working demo. Stuck? Ask Claude first, then the instructor.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3" name="Shape 5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Questions? Ask Claude first, then reach out to me. Good luck — keep scope tight and have fun building.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047750" y="3121298"/>
            <a:ext cx="17811750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288" sz="1727">
                <a:solidFill>
                  <a:srgbClr val="E08B6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GENERATIVE AI · M2 IASD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047750" y="3702322"/>
            <a:ext cx="15716250" cy="100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lnSpc>
                <a:spcPct val="98000"/>
              </a:lnSpc>
              <a:defRPr b="1" spc="-261" sz="6786">
                <a:solidFill>
                  <a:srgbClr val="F3EDE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Labs &amp; Hackathon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1047750" y="4806403"/>
            <a:ext cx="17811750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lnSpc>
                <a:spcPct val="110000"/>
              </a:lnSpc>
              <a:defRPr spc="-97" sz="3783">
                <a:solidFill>
                  <a:srgbClr val="C9BF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Deliverables, Grading &amp; Practical Guide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047750" y="5732190"/>
            <a:ext cx="117348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0000"/>
              </a:lnSpc>
              <a:defRPr sz="2400">
                <a:solidFill>
                  <a:srgbClr val="A99E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to hand in, how you're graded, and how to work efficiently.</a:t>
            </a:r>
          </a:p>
        </p:txBody>
      </p:sp>
      <p:sp>
        <p:nvSpPr>
          <p:cNvPr id="24" name="Shape 4"/>
          <p:cNvSpPr/>
          <p:nvPr/>
        </p:nvSpPr>
        <p:spPr>
          <a:xfrm>
            <a:off x="1047750" y="7001395"/>
            <a:ext cx="152400" cy="152401"/>
          </a:xfrm>
          <a:prstGeom prst="roundRect">
            <a:avLst>
              <a:gd name="adj" fmla="val 25000"/>
            </a:avLst>
          </a:prstGeom>
          <a:solidFill>
            <a:srgbClr val="E08B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1333499" y="6913289"/>
            <a:ext cx="1413572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8F847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notebooks</a:t>
            </a:r>
          </a:p>
        </p:txBody>
      </p:sp>
      <p:sp>
        <p:nvSpPr>
          <p:cNvPr id="26" name="Shape 6"/>
          <p:cNvSpPr/>
          <p:nvPr/>
        </p:nvSpPr>
        <p:spPr>
          <a:xfrm>
            <a:off x="3089969" y="7001395"/>
            <a:ext cx="152401" cy="152401"/>
          </a:xfrm>
          <a:prstGeom prst="ellipse">
            <a:avLst/>
          </a:prstGeom>
          <a:solidFill>
            <a:srgbClr val="E08B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3375719" y="6913289"/>
            <a:ext cx="81915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8F847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28" name="Shape 8"/>
          <p:cNvSpPr/>
          <p:nvPr/>
        </p:nvSpPr>
        <p:spPr>
          <a:xfrm rot="2700000">
            <a:off x="4537769" y="7001395"/>
            <a:ext cx="152401" cy="152401"/>
          </a:xfrm>
          <a:prstGeom prst="rect">
            <a:avLst/>
          </a:prstGeom>
          <a:solidFill>
            <a:srgbClr val="E08B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4823519" y="6913289"/>
            <a:ext cx="141357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8F847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hackathon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4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this deck covers</a:t>
            </a:r>
          </a:p>
        </p:txBody>
      </p:sp>
      <p:sp>
        <p:nvSpPr>
          <p:cNvPr id="35" name="Shape 2"/>
          <p:cNvSpPr/>
          <p:nvPr/>
        </p:nvSpPr>
        <p:spPr>
          <a:xfrm>
            <a:off x="1047750" y="4367212"/>
            <a:ext cx="7962900" cy="1481139"/>
          </a:xfrm>
          <a:prstGeom prst="roundRect">
            <a:avLst>
              <a:gd name="adj" fmla="val 10289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3"/>
          <p:cNvSpPr txBox="1"/>
          <p:nvPr/>
        </p:nvSpPr>
        <p:spPr>
          <a:xfrm>
            <a:off x="1438274" y="4738687"/>
            <a:ext cx="37289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defRPr b="1" sz="3696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" name="Text 4"/>
          <p:cNvSpPr txBox="1"/>
          <p:nvPr/>
        </p:nvSpPr>
        <p:spPr>
          <a:xfrm>
            <a:off x="2001664" y="4738687"/>
            <a:ext cx="464186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you hand in</a:t>
            </a:r>
          </a:p>
        </p:txBody>
      </p:sp>
      <p:sp>
        <p:nvSpPr>
          <p:cNvPr id="38" name="Text 5"/>
          <p:cNvSpPr txBox="1"/>
          <p:nvPr/>
        </p:nvSpPr>
        <p:spPr>
          <a:xfrm>
            <a:off x="2001664" y="5186362"/>
            <a:ext cx="4641861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repo, notebooks + project folder.</a:t>
            </a:r>
          </a:p>
        </p:txBody>
      </p:sp>
      <p:sp>
        <p:nvSpPr>
          <p:cNvPr id="39" name="Shape 6"/>
          <p:cNvSpPr/>
          <p:nvPr/>
        </p:nvSpPr>
        <p:spPr>
          <a:xfrm>
            <a:off x="9277350" y="4367212"/>
            <a:ext cx="7962900" cy="1481139"/>
          </a:xfrm>
          <a:prstGeom prst="roundRect">
            <a:avLst>
              <a:gd name="adj" fmla="val 10289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7"/>
          <p:cNvSpPr txBox="1"/>
          <p:nvPr/>
        </p:nvSpPr>
        <p:spPr>
          <a:xfrm>
            <a:off x="9667874" y="4738687"/>
            <a:ext cx="37289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defRPr b="1" sz="3696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" name="Text 8"/>
          <p:cNvSpPr txBox="1"/>
          <p:nvPr/>
        </p:nvSpPr>
        <p:spPr>
          <a:xfrm>
            <a:off x="10231263" y="4738687"/>
            <a:ext cx="3114192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you're graded</a:t>
            </a:r>
          </a:p>
        </p:txBody>
      </p:sp>
      <p:sp>
        <p:nvSpPr>
          <p:cNvPr id="42" name="Text 9"/>
          <p:cNvSpPr txBox="1"/>
          <p:nvPr/>
        </p:nvSpPr>
        <p:spPr>
          <a:xfrm>
            <a:off x="10231263" y="5186362"/>
            <a:ext cx="311419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TDs + hackathon project.</a:t>
            </a:r>
          </a:p>
        </p:txBody>
      </p:sp>
      <p:sp>
        <p:nvSpPr>
          <p:cNvPr id="43" name="Shape 10"/>
          <p:cNvSpPr/>
          <p:nvPr/>
        </p:nvSpPr>
        <p:spPr>
          <a:xfrm>
            <a:off x="1047750" y="6115050"/>
            <a:ext cx="7962900" cy="1481138"/>
          </a:xfrm>
          <a:prstGeom prst="roundRect">
            <a:avLst>
              <a:gd name="adj" fmla="val 10289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1"/>
          <p:cNvSpPr txBox="1"/>
          <p:nvPr/>
        </p:nvSpPr>
        <p:spPr>
          <a:xfrm>
            <a:off x="1438274" y="6486525"/>
            <a:ext cx="37289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defRPr b="1" sz="3696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" name="Text 12"/>
          <p:cNvSpPr txBox="1"/>
          <p:nvPr/>
        </p:nvSpPr>
        <p:spPr>
          <a:xfrm>
            <a:off x="2001664" y="6486525"/>
            <a:ext cx="3584452" cy="409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hackathon subject</a:t>
            </a:r>
          </a:p>
        </p:txBody>
      </p:sp>
      <p:sp>
        <p:nvSpPr>
          <p:cNvPr id="46" name="Text 13"/>
          <p:cNvSpPr txBox="1"/>
          <p:nvPr/>
        </p:nvSpPr>
        <p:spPr>
          <a:xfrm>
            <a:off x="2001664" y="6934199"/>
            <a:ext cx="3584452" cy="328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tracks to choose from.</a:t>
            </a:r>
          </a:p>
        </p:txBody>
      </p:sp>
      <p:sp>
        <p:nvSpPr>
          <p:cNvPr id="47" name="Shape 14"/>
          <p:cNvSpPr/>
          <p:nvPr/>
        </p:nvSpPr>
        <p:spPr>
          <a:xfrm>
            <a:off x="9277350" y="6115050"/>
            <a:ext cx="7962900" cy="1481138"/>
          </a:xfrm>
          <a:prstGeom prst="roundRect">
            <a:avLst>
              <a:gd name="adj" fmla="val 10289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5"/>
          <p:cNvSpPr txBox="1"/>
          <p:nvPr/>
        </p:nvSpPr>
        <p:spPr>
          <a:xfrm>
            <a:off x="9667874" y="6486525"/>
            <a:ext cx="37289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defRPr b="1" sz="3696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" name="Text 16"/>
          <p:cNvSpPr txBox="1"/>
          <p:nvPr/>
        </p:nvSpPr>
        <p:spPr>
          <a:xfrm>
            <a:off x="10231263" y="6486525"/>
            <a:ext cx="3584616" cy="409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Code &amp; quotas</a:t>
            </a:r>
          </a:p>
        </p:txBody>
      </p:sp>
      <p:sp>
        <p:nvSpPr>
          <p:cNvPr id="50" name="Text 17"/>
          <p:cNvSpPr txBox="1"/>
          <p:nvPr/>
        </p:nvSpPr>
        <p:spPr>
          <a:xfrm>
            <a:off x="10231263" y="6934199"/>
            <a:ext cx="3584616" cy="328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Tools, limits, best practices.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BIG PICTURE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1047750" y="1323975"/>
            <a:ext cx="1466850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Five labs build one thing, brick by brick</a:t>
            </a:r>
          </a:p>
        </p:txBody>
      </p:sp>
      <p:sp>
        <p:nvSpPr>
          <p:cNvPr id="56" name="Shape 2"/>
          <p:cNvSpPr/>
          <p:nvPr/>
        </p:nvSpPr>
        <p:spPr>
          <a:xfrm>
            <a:off x="1047750" y="4350544"/>
            <a:ext cx="2119983" cy="1271589"/>
          </a:xfrm>
          <a:prstGeom prst="roundRect">
            <a:avLst>
              <a:gd name="adj" fmla="val 104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"/>
          <p:cNvSpPr txBox="1"/>
          <p:nvPr/>
        </p:nvSpPr>
        <p:spPr>
          <a:xfrm>
            <a:off x="1119868" y="4645819"/>
            <a:ext cx="1975744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TD1</a:t>
            </a:r>
          </a:p>
        </p:txBody>
      </p:sp>
      <p:sp>
        <p:nvSpPr>
          <p:cNvPr id="58" name="Text 4"/>
          <p:cNvSpPr txBox="1"/>
          <p:nvPr/>
        </p:nvSpPr>
        <p:spPr>
          <a:xfrm>
            <a:off x="1119868" y="5017294"/>
            <a:ext cx="1975744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Embeddings</a:t>
            </a:r>
          </a:p>
        </p:txBody>
      </p:sp>
      <p:sp>
        <p:nvSpPr>
          <p:cNvPr id="59" name="Text 5"/>
          <p:cNvSpPr txBox="1"/>
          <p:nvPr/>
        </p:nvSpPr>
        <p:spPr>
          <a:xfrm>
            <a:off x="3301081" y="4350544"/>
            <a:ext cx="400051" cy="130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C9B8A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" name="Shape 6"/>
          <p:cNvSpPr/>
          <p:nvPr/>
        </p:nvSpPr>
        <p:spPr>
          <a:xfrm>
            <a:off x="3758281" y="4350544"/>
            <a:ext cx="2120058" cy="1271589"/>
          </a:xfrm>
          <a:prstGeom prst="roundRect">
            <a:avLst>
              <a:gd name="adj" fmla="val 104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7"/>
          <p:cNvSpPr txBox="1"/>
          <p:nvPr/>
        </p:nvSpPr>
        <p:spPr>
          <a:xfrm>
            <a:off x="3830396" y="4645819"/>
            <a:ext cx="1975828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TD2</a:t>
            </a:r>
          </a:p>
        </p:txBody>
      </p:sp>
      <p:sp>
        <p:nvSpPr>
          <p:cNvPr id="62" name="Text 8"/>
          <p:cNvSpPr txBox="1"/>
          <p:nvPr/>
        </p:nvSpPr>
        <p:spPr>
          <a:xfrm>
            <a:off x="3830396" y="5017294"/>
            <a:ext cx="1975828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63" name="Text 9"/>
          <p:cNvSpPr txBox="1"/>
          <p:nvPr/>
        </p:nvSpPr>
        <p:spPr>
          <a:xfrm>
            <a:off x="6011688" y="4350544"/>
            <a:ext cx="400051" cy="130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C9B8A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4" name="Shape 10"/>
          <p:cNvSpPr/>
          <p:nvPr/>
        </p:nvSpPr>
        <p:spPr>
          <a:xfrm>
            <a:off x="6468888" y="4350544"/>
            <a:ext cx="2119983" cy="1271589"/>
          </a:xfrm>
          <a:prstGeom prst="roundRect">
            <a:avLst>
              <a:gd name="adj" fmla="val 104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1"/>
          <p:cNvSpPr txBox="1"/>
          <p:nvPr/>
        </p:nvSpPr>
        <p:spPr>
          <a:xfrm>
            <a:off x="6541006" y="4645819"/>
            <a:ext cx="1975745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66" name="Text 12"/>
          <p:cNvSpPr txBox="1"/>
          <p:nvPr/>
        </p:nvSpPr>
        <p:spPr>
          <a:xfrm>
            <a:off x="6541006" y="5017294"/>
            <a:ext cx="19757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</a:t>
            </a:r>
          </a:p>
        </p:txBody>
      </p:sp>
      <p:sp>
        <p:nvSpPr>
          <p:cNvPr id="67" name="Text 13"/>
          <p:cNvSpPr txBox="1"/>
          <p:nvPr/>
        </p:nvSpPr>
        <p:spPr>
          <a:xfrm>
            <a:off x="8722221" y="4350544"/>
            <a:ext cx="400051" cy="130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C9B8A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8" name="Shape 14"/>
          <p:cNvSpPr/>
          <p:nvPr/>
        </p:nvSpPr>
        <p:spPr>
          <a:xfrm>
            <a:off x="9179421" y="4350544"/>
            <a:ext cx="2119983" cy="1271589"/>
          </a:xfrm>
          <a:prstGeom prst="roundRect">
            <a:avLst>
              <a:gd name="adj" fmla="val 104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5"/>
          <p:cNvSpPr txBox="1"/>
          <p:nvPr/>
        </p:nvSpPr>
        <p:spPr>
          <a:xfrm>
            <a:off x="9251539" y="4645819"/>
            <a:ext cx="1975745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TD4</a:t>
            </a:r>
          </a:p>
        </p:txBody>
      </p:sp>
      <p:sp>
        <p:nvSpPr>
          <p:cNvPr id="70" name="Text 16"/>
          <p:cNvSpPr txBox="1"/>
          <p:nvPr/>
        </p:nvSpPr>
        <p:spPr>
          <a:xfrm>
            <a:off x="9251539" y="5017294"/>
            <a:ext cx="19757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71" name="Text 17"/>
          <p:cNvSpPr txBox="1"/>
          <p:nvPr/>
        </p:nvSpPr>
        <p:spPr>
          <a:xfrm>
            <a:off x="11432753" y="4350544"/>
            <a:ext cx="400051" cy="130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C9B8A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2" name="Shape 18"/>
          <p:cNvSpPr/>
          <p:nvPr/>
        </p:nvSpPr>
        <p:spPr>
          <a:xfrm>
            <a:off x="11889953" y="4350544"/>
            <a:ext cx="2119983" cy="1271589"/>
          </a:xfrm>
          <a:prstGeom prst="roundRect">
            <a:avLst>
              <a:gd name="adj" fmla="val 104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9"/>
          <p:cNvSpPr txBox="1"/>
          <p:nvPr/>
        </p:nvSpPr>
        <p:spPr>
          <a:xfrm>
            <a:off x="11962072" y="4645819"/>
            <a:ext cx="1975745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TD5</a:t>
            </a:r>
          </a:p>
        </p:txBody>
      </p:sp>
      <p:sp>
        <p:nvSpPr>
          <p:cNvPr id="74" name="Text 20"/>
          <p:cNvSpPr txBox="1"/>
          <p:nvPr/>
        </p:nvSpPr>
        <p:spPr>
          <a:xfrm>
            <a:off x="11962072" y="5017294"/>
            <a:ext cx="19757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75" name="Text 21"/>
          <p:cNvSpPr txBox="1"/>
          <p:nvPr/>
        </p:nvSpPr>
        <p:spPr>
          <a:xfrm>
            <a:off x="14143285" y="4350544"/>
            <a:ext cx="400051" cy="130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5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6" name="Shape 22"/>
          <p:cNvSpPr/>
          <p:nvPr/>
        </p:nvSpPr>
        <p:spPr>
          <a:xfrm>
            <a:off x="14600485" y="4350544"/>
            <a:ext cx="2639765" cy="1271589"/>
          </a:xfrm>
          <a:prstGeom prst="roundRect">
            <a:avLst>
              <a:gd name="adj" fmla="val 10487"/>
            </a:avLst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23"/>
          <p:cNvSpPr txBox="1"/>
          <p:nvPr/>
        </p:nvSpPr>
        <p:spPr>
          <a:xfrm>
            <a:off x="14636137" y="4636294"/>
            <a:ext cx="2568462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77823">
              <a:defRPr b="1" sz="1727">
                <a:solidFill>
                  <a:srgbClr val="F6D8C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GOAL</a:t>
            </a:r>
          </a:p>
        </p:txBody>
      </p:sp>
      <p:sp>
        <p:nvSpPr>
          <p:cNvPr id="78" name="Text 24"/>
          <p:cNvSpPr txBox="1"/>
          <p:nvPr/>
        </p:nvSpPr>
        <p:spPr>
          <a:xfrm>
            <a:off x="14636137" y="5007769"/>
            <a:ext cx="2568462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 defTabSz="886968">
              <a:defRPr b="1" sz="20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Hackathon</a:t>
            </a:r>
          </a:p>
        </p:txBody>
      </p:sp>
      <p:sp>
        <p:nvSpPr>
          <p:cNvPr id="79" name="Text 25"/>
          <p:cNvSpPr txBox="1"/>
          <p:nvPr/>
        </p:nvSpPr>
        <p:spPr>
          <a:xfrm>
            <a:off x="1047750" y="6155530"/>
            <a:ext cx="12753975" cy="962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4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hackathon is where you turn those skills into </a:t>
            </a:r>
            <a:r>
              <a:rPr b="1"/>
              <a:t>your own product</a:t>
            </a:r>
            <a:r>
              <a:t>. </a:t>
            </a:r>
            <a:r>
              <a:rPr b="1">
                <a:solidFill>
                  <a:srgbClr val="C05F38"/>
                </a:solidFill>
              </a:rPr>
              <a:t>Everyone completes all 5 TDs </a:t>
            </a:r>
            <a:r>
              <a:t>— they're chained, each one feeds the next.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DELIVERABLE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repo per group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1047749" y="4783930"/>
            <a:ext cx="8261113" cy="101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5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</a:t>
            </a:r>
            <a:r>
              <a:rPr b="1"/>
              <a:t>new private git repo per group </a:t>
            </a:r>
            <a:r>
              <a:t>— groups of 2, the </a:t>
            </a:r>
            <a:r>
              <a:rPr b="1"/>
              <a:t>same groups as the TDs</a:t>
            </a:r>
            <a:r>
              <a:t>.</a:t>
            </a:r>
          </a:p>
        </p:txBody>
      </p:sp>
      <p:sp>
        <p:nvSpPr>
          <p:cNvPr id="86" name="Text 3"/>
          <p:cNvSpPr txBox="1"/>
          <p:nvPr/>
        </p:nvSpPr>
        <p:spPr>
          <a:xfrm>
            <a:off x="1047749" y="6088855"/>
            <a:ext cx="8261113" cy="1014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5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It contains your </a:t>
            </a:r>
            <a:r>
              <a:rPr b="1"/>
              <a:t>filled TD1–TD5 notebooks </a:t>
            </a:r>
            <a:r>
              <a:t>and a </a:t>
            </a:r>
            <a:r>
              <a:rPr b="1"/>
              <a:t>projet/ </a:t>
            </a:r>
            <a:r>
              <a:t>folder — the hackathon.</a:t>
            </a:r>
          </a:p>
        </p:txBody>
      </p:sp>
      <p:sp>
        <p:nvSpPr>
          <p:cNvPr id="87" name="Shape 4"/>
          <p:cNvSpPr/>
          <p:nvPr/>
        </p:nvSpPr>
        <p:spPr>
          <a:xfrm>
            <a:off x="9601645" y="4419600"/>
            <a:ext cx="7638605" cy="3009900"/>
          </a:xfrm>
          <a:prstGeom prst="roundRect">
            <a:avLst>
              <a:gd name="adj" fmla="val 5696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5"/>
          <p:cNvSpPr txBox="1"/>
          <p:nvPr/>
        </p:nvSpPr>
        <p:spPr>
          <a:xfrm>
            <a:off x="10058845" y="4838700"/>
            <a:ext cx="6925931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90000"/>
              </a:lnSpc>
              <a:defRPr sz="2200">
                <a:solidFill>
                  <a:srgbClr val="E08B6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repo/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10058845" y="5381625"/>
            <a:ext cx="6925931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90000"/>
              </a:lnSpc>
              <a:defRPr sz="2200">
                <a:solidFill>
                  <a:srgbClr val="E8DDC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├─ notebooks/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10058845" y="5924550"/>
            <a:ext cx="6925931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90000"/>
              </a:lnSpc>
              <a:defRPr sz="2200">
                <a:solidFill>
                  <a:srgbClr val="A99E8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 ├─ TD1 … TD5</a:t>
            </a:r>
          </a:p>
        </p:txBody>
      </p:sp>
      <p:sp>
        <p:nvSpPr>
          <p:cNvPr id="91" name="Text 8"/>
          <p:cNvSpPr txBox="1"/>
          <p:nvPr/>
        </p:nvSpPr>
        <p:spPr>
          <a:xfrm>
            <a:off x="10058845" y="6467475"/>
            <a:ext cx="6925931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90000"/>
              </a:lnSpc>
              <a:defRPr sz="2200">
                <a:solidFill>
                  <a:srgbClr val="E8DDC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 projet/ </a:t>
            </a:r>
            <a:r>
              <a:rPr>
                <a:solidFill>
                  <a:srgbClr val="A99E8D"/>
                </a:solidFill>
              </a:rPr>
              <a:t># hackathon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SUBMISSION</a:t>
            </a:r>
          </a:p>
        </p:txBody>
      </p:sp>
      <p:sp>
        <p:nvSpPr>
          <p:cNvPr id="96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Submission checklist</a:t>
            </a:r>
          </a:p>
        </p:txBody>
      </p:sp>
      <p:sp>
        <p:nvSpPr>
          <p:cNvPr id="97" name="Text 2"/>
          <p:cNvSpPr txBox="1"/>
          <p:nvPr/>
        </p:nvSpPr>
        <p:spPr>
          <a:xfrm>
            <a:off x="1047749" y="3836789"/>
            <a:ext cx="309118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b="1" sz="2400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98" name="Text 3"/>
          <p:cNvSpPr txBox="1"/>
          <p:nvPr/>
        </p:nvSpPr>
        <p:spPr>
          <a:xfrm>
            <a:off x="1471165" y="3836789"/>
            <a:ext cx="8211906" cy="8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Private repo (</a:t>
            </a:r>
            <a:r>
              <a:rPr b="1"/>
              <a:t>not a fork</a:t>
            </a:r>
            <a:r>
              <a:t>) — add </a:t>
            </a:r>
            <a:r>
              <a:rPr b="1"/>
              <a:t>End2EndAI </a:t>
            </a:r>
            <a:r>
              <a:t>as a collaborator on GitHub.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1047749" y="4838700"/>
            <a:ext cx="309118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b="1" sz="2400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0" name="Text 5"/>
          <p:cNvSpPr txBox="1"/>
          <p:nvPr/>
        </p:nvSpPr>
        <p:spPr>
          <a:xfrm>
            <a:off x="1471165" y="4838699"/>
            <a:ext cx="4729447" cy="42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Fill the Excel </a:t>
            </a:r>
            <a:r>
              <a:rPr b="0"/>
              <a:t>— one row per group.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1047749" y="5453955"/>
            <a:ext cx="309118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b="1" sz="2400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1471166" y="5453955"/>
            <a:ext cx="8502982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Commit your notebooks </a:t>
            </a:r>
            <a:r>
              <a:rPr b="1"/>
              <a:t>executed </a:t>
            </a:r>
            <a:r>
              <a:t>— cells run, outputs visible.</a:t>
            </a:r>
          </a:p>
        </p:txBody>
      </p:sp>
      <p:sp>
        <p:nvSpPr>
          <p:cNvPr id="103" name="Shape 8"/>
          <p:cNvSpPr/>
          <p:nvPr/>
        </p:nvSpPr>
        <p:spPr>
          <a:xfrm>
            <a:off x="1047750" y="6145410"/>
            <a:ext cx="8396139" cy="1866901"/>
          </a:xfrm>
          <a:prstGeom prst="roundRect">
            <a:avLst>
              <a:gd name="adj" fmla="val 6122"/>
            </a:avLst>
          </a:prstGeom>
          <a:solidFill>
            <a:srgbClr val="B83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9"/>
          <p:cNvSpPr txBox="1"/>
          <p:nvPr/>
        </p:nvSpPr>
        <p:spPr>
          <a:xfrm>
            <a:off x="1295399" y="6354960"/>
            <a:ext cx="869092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FFFFFF">
                    <a:alpha val="85000"/>
                  </a:srgb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DEADLINE</a:t>
            </a:r>
          </a:p>
        </p:txBody>
      </p:sp>
      <p:sp>
        <p:nvSpPr>
          <p:cNvPr id="105" name="Text 10"/>
          <p:cNvSpPr txBox="1"/>
          <p:nvPr/>
        </p:nvSpPr>
        <p:spPr>
          <a:xfrm>
            <a:off x="1295400" y="6712147"/>
            <a:ext cx="8137863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lnSpc>
                <a:spcPct val="130000"/>
              </a:lnSpc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Everything pushed before presentations — Thu 15:30 push freeze.</a:t>
            </a:r>
          </a:p>
        </p:txBody>
      </p:sp>
      <p:sp>
        <p:nvSpPr>
          <p:cNvPr id="106" name="Text 11"/>
          <p:cNvSpPr txBox="1"/>
          <p:nvPr/>
        </p:nvSpPr>
        <p:spPr>
          <a:xfrm>
            <a:off x="1295399" y="7531297"/>
            <a:ext cx="8690925" cy="313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defRPr sz="1710">
                <a:solidFill>
                  <a:srgbClr val="FFFFFF">
                    <a:alpha val="9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Pushed later lowers the grade. Push time counts, not commit dates.</a:t>
            </a:r>
          </a:p>
        </p:txBody>
      </p:sp>
      <p:sp>
        <p:nvSpPr>
          <p:cNvPr id="107" name="Shape 12"/>
          <p:cNvSpPr/>
          <p:nvPr/>
        </p:nvSpPr>
        <p:spPr>
          <a:xfrm>
            <a:off x="9939188" y="4202905"/>
            <a:ext cx="7300988" cy="3443289"/>
          </a:xfrm>
          <a:prstGeom prst="roundRect">
            <a:avLst>
              <a:gd name="adj" fmla="val 442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3"/>
          <p:cNvSpPr txBox="1"/>
          <p:nvPr/>
        </p:nvSpPr>
        <p:spPr>
          <a:xfrm>
            <a:off x="10253513" y="4536280"/>
            <a:ext cx="733957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EXCEL — ONE ROW PER GROUP</a:t>
            </a:r>
          </a:p>
        </p:txBody>
      </p:sp>
      <p:sp>
        <p:nvSpPr>
          <p:cNvPr id="109" name="Text 14"/>
          <p:cNvSpPr txBox="1"/>
          <p:nvPr/>
        </p:nvSpPr>
        <p:spPr>
          <a:xfrm>
            <a:off x="10253513" y="5026819"/>
            <a:ext cx="37341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0" name="Text 15"/>
          <p:cNvSpPr txBox="1"/>
          <p:nvPr/>
        </p:nvSpPr>
        <p:spPr>
          <a:xfrm>
            <a:off x="10684072" y="5045869"/>
            <a:ext cx="173087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Group number</a:t>
            </a:r>
          </a:p>
        </p:txBody>
      </p:sp>
      <p:sp>
        <p:nvSpPr>
          <p:cNvPr id="111" name="Text 16"/>
          <p:cNvSpPr txBox="1"/>
          <p:nvPr/>
        </p:nvSpPr>
        <p:spPr>
          <a:xfrm>
            <a:off x="10253513" y="5488780"/>
            <a:ext cx="37341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2" name="Text 17"/>
          <p:cNvSpPr txBox="1"/>
          <p:nvPr/>
        </p:nvSpPr>
        <p:spPr>
          <a:xfrm>
            <a:off x="10684072" y="5507830"/>
            <a:ext cx="246429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Student 1 · Student 2</a:t>
            </a:r>
          </a:p>
        </p:txBody>
      </p:sp>
      <p:sp>
        <p:nvSpPr>
          <p:cNvPr id="113" name="Text 18"/>
          <p:cNvSpPr txBox="1"/>
          <p:nvPr/>
        </p:nvSpPr>
        <p:spPr>
          <a:xfrm>
            <a:off x="10253513" y="5950744"/>
            <a:ext cx="37341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4" name="Text 19"/>
          <p:cNvSpPr txBox="1"/>
          <p:nvPr/>
        </p:nvSpPr>
        <p:spPr>
          <a:xfrm>
            <a:off x="10684072" y="5969794"/>
            <a:ext cx="303566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GitHub URL (private repo)</a:t>
            </a:r>
          </a:p>
        </p:txBody>
      </p:sp>
      <p:sp>
        <p:nvSpPr>
          <p:cNvPr id="115" name="Text 20"/>
          <p:cNvSpPr txBox="1"/>
          <p:nvPr/>
        </p:nvSpPr>
        <p:spPr>
          <a:xfrm>
            <a:off x="10253513" y="6412705"/>
            <a:ext cx="373411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6" name="Text 21"/>
          <p:cNvSpPr txBox="1"/>
          <p:nvPr/>
        </p:nvSpPr>
        <p:spPr>
          <a:xfrm>
            <a:off x="10684072" y="6431755"/>
            <a:ext cx="398262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Added End2EndAI as collaborator</a:t>
            </a:r>
          </a:p>
        </p:txBody>
      </p:sp>
      <p:sp>
        <p:nvSpPr>
          <p:cNvPr id="117" name="Text 22"/>
          <p:cNvSpPr txBox="1"/>
          <p:nvPr/>
        </p:nvSpPr>
        <p:spPr>
          <a:xfrm>
            <a:off x="10069047" y="7016414"/>
            <a:ext cx="7041271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557784">
              <a:lnSpc>
                <a:spcPct val="150000"/>
              </a:lnSpc>
              <a:defRPr sz="1098">
                <a:solidFill>
                  <a:srgbClr val="9A8D7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https://docs.google.com/spreadsheets/d/19yEolHgaWHT1VMbZa1VUd3473oKw0GRLfp03FY61a2w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GRADING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your final grade is computed</a:t>
            </a:r>
          </a:p>
        </p:txBody>
      </p:sp>
      <p:sp>
        <p:nvSpPr>
          <p:cNvPr id="123" name="Text 2"/>
          <p:cNvSpPr txBox="1"/>
          <p:nvPr/>
        </p:nvSpPr>
        <p:spPr>
          <a:xfrm>
            <a:off x="1047749" y="4469605"/>
            <a:ext cx="1929335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defRPr b="1" sz="6003">
                <a:solidFill>
                  <a:srgbClr val="3A63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124" name="Text 3"/>
          <p:cNvSpPr txBox="1"/>
          <p:nvPr/>
        </p:nvSpPr>
        <p:spPr>
          <a:xfrm>
            <a:off x="1047749" y="5422105"/>
            <a:ext cx="1929335" cy="37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2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TDs</a:t>
            </a:r>
          </a:p>
        </p:txBody>
      </p:sp>
      <p:sp>
        <p:nvSpPr>
          <p:cNvPr id="125" name="Text 4"/>
          <p:cNvSpPr txBox="1"/>
          <p:nvPr/>
        </p:nvSpPr>
        <p:spPr>
          <a:xfrm>
            <a:off x="3258889" y="4469605"/>
            <a:ext cx="1929334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defRPr b="1" sz="6003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126" name="Text 5"/>
          <p:cNvSpPr txBox="1"/>
          <p:nvPr/>
        </p:nvSpPr>
        <p:spPr>
          <a:xfrm>
            <a:off x="3258889" y="5422105"/>
            <a:ext cx="1929334" cy="37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2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Hackathon</a:t>
            </a:r>
          </a:p>
        </p:txBody>
      </p:sp>
      <p:sp>
        <p:nvSpPr>
          <p:cNvPr id="127" name="Shape 6"/>
          <p:cNvSpPr/>
          <p:nvPr/>
        </p:nvSpPr>
        <p:spPr>
          <a:xfrm>
            <a:off x="14936911" y="5088730"/>
            <a:ext cx="2303339" cy="671514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7"/>
          <p:cNvSpPr txBox="1"/>
          <p:nvPr/>
        </p:nvSpPr>
        <p:spPr>
          <a:xfrm>
            <a:off x="15232186" y="5269705"/>
            <a:ext cx="1788989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68680">
              <a:defRPr b="1" sz="1994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+1 </a:t>
            </a:r>
            <a:r>
              <a:rPr>
                <a:solidFill>
                  <a:srgbClr val="1F1C18"/>
                </a:solidFill>
              </a:rPr>
              <a:t>peer bonus</a:t>
            </a:r>
          </a:p>
        </p:txBody>
      </p:sp>
      <p:sp>
        <p:nvSpPr>
          <p:cNvPr id="129" name="Shape 8"/>
          <p:cNvSpPr/>
          <p:nvPr/>
        </p:nvSpPr>
        <p:spPr>
          <a:xfrm>
            <a:off x="1047749" y="6217444"/>
            <a:ext cx="4979642" cy="742951"/>
          </a:xfrm>
          <a:prstGeom prst="rect">
            <a:avLst/>
          </a:prstGeom>
          <a:solidFill>
            <a:srgbClr val="3A63B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9"/>
          <p:cNvSpPr txBox="1"/>
          <p:nvPr/>
        </p:nvSpPr>
        <p:spPr>
          <a:xfrm>
            <a:off x="1352549" y="6217444"/>
            <a:ext cx="482423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30 · TDs</a:t>
            </a:r>
          </a:p>
        </p:txBody>
      </p:sp>
      <p:sp>
        <p:nvSpPr>
          <p:cNvPr id="131" name="Shape 10"/>
          <p:cNvSpPr/>
          <p:nvPr/>
        </p:nvSpPr>
        <p:spPr>
          <a:xfrm>
            <a:off x="6027389" y="6217444"/>
            <a:ext cx="11212862" cy="742951"/>
          </a:xfrm>
          <a:prstGeom prst="rect">
            <a:avLst/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11"/>
          <p:cNvSpPr txBox="1"/>
          <p:nvPr/>
        </p:nvSpPr>
        <p:spPr>
          <a:xfrm>
            <a:off x="6332189" y="6217444"/>
            <a:ext cx="11244447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70 · Hackathon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GRADING · TDS · 30%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 grading breakdown</a:t>
            </a:r>
          </a:p>
        </p:txBody>
      </p:sp>
      <p:sp>
        <p:nvSpPr>
          <p:cNvPr id="138" name="Text 2"/>
          <p:cNvSpPr txBox="1"/>
          <p:nvPr/>
        </p:nvSpPr>
        <p:spPr>
          <a:xfrm>
            <a:off x="1219199" y="3888580"/>
            <a:ext cx="1188395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</a:t>
            </a:r>
          </a:p>
        </p:txBody>
      </p:sp>
      <p:sp>
        <p:nvSpPr>
          <p:cNvPr id="139" name="Text 3"/>
          <p:cNvSpPr txBox="1"/>
          <p:nvPr/>
        </p:nvSpPr>
        <p:spPr>
          <a:xfrm>
            <a:off x="2598092" y="3888580"/>
            <a:ext cx="1461642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140" name="Text 4"/>
          <p:cNvSpPr txBox="1"/>
          <p:nvPr/>
        </p:nvSpPr>
        <p:spPr>
          <a:xfrm>
            <a:off x="4326434" y="3888580"/>
            <a:ext cx="2168203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NOTEBOOK</a:t>
            </a:r>
          </a:p>
        </p:txBody>
      </p:sp>
      <p:sp>
        <p:nvSpPr>
          <p:cNvPr id="141" name="Text 5"/>
          <p:cNvSpPr txBox="1"/>
          <p:nvPr/>
        </p:nvSpPr>
        <p:spPr>
          <a:xfrm>
            <a:off x="6736218" y="3888580"/>
            <a:ext cx="3135702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MINI-PROJECT</a:t>
            </a:r>
          </a:p>
        </p:txBody>
      </p:sp>
      <p:sp>
        <p:nvSpPr>
          <p:cNvPr id="142" name="Shape 6"/>
          <p:cNvSpPr/>
          <p:nvPr/>
        </p:nvSpPr>
        <p:spPr>
          <a:xfrm>
            <a:off x="1047749" y="4282281"/>
            <a:ext cx="899562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7"/>
          <p:cNvSpPr txBox="1"/>
          <p:nvPr/>
        </p:nvSpPr>
        <p:spPr>
          <a:xfrm>
            <a:off x="1219199" y="4436269"/>
            <a:ext cx="1188395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TD1</a:t>
            </a:r>
          </a:p>
        </p:txBody>
      </p:sp>
      <p:sp>
        <p:nvSpPr>
          <p:cNvPr id="144" name="Text 8"/>
          <p:cNvSpPr txBox="1"/>
          <p:nvPr/>
        </p:nvSpPr>
        <p:spPr>
          <a:xfrm>
            <a:off x="2598092" y="4436269"/>
            <a:ext cx="146164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5" name="Text 9"/>
          <p:cNvSpPr txBox="1"/>
          <p:nvPr/>
        </p:nvSpPr>
        <p:spPr>
          <a:xfrm>
            <a:off x="4326434" y="4436269"/>
            <a:ext cx="2168203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6" name="Text 10"/>
          <p:cNvSpPr txBox="1"/>
          <p:nvPr/>
        </p:nvSpPr>
        <p:spPr>
          <a:xfrm>
            <a:off x="6736218" y="4436269"/>
            <a:ext cx="313570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B3A79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147" name="Shape 11"/>
          <p:cNvSpPr/>
          <p:nvPr/>
        </p:nvSpPr>
        <p:spPr>
          <a:xfrm>
            <a:off x="1047749" y="4910931"/>
            <a:ext cx="899562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2"/>
          <p:cNvSpPr txBox="1"/>
          <p:nvPr/>
        </p:nvSpPr>
        <p:spPr>
          <a:xfrm>
            <a:off x="1219199" y="5064919"/>
            <a:ext cx="1188395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TD2</a:t>
            </a:r>
          </a:p>
        </p:txBody>
      </p:sp>
      <p:sp>
        <p:nvSpPr>
          <p:cNvPr id="149" name="Text 13"/>
          <p:cNvSpPr txBox="1"/>
          <p:nvPr/>
        </p:nvSpPr>
        <p:spPr>
          <a:xfrm>
            <a:off x="2598092" y="5064919"/>
            <a:ext cx="146164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0" name="Text 14"/>
          <p:cNvSpPr txBox="1"/>
          <p:nvPr/>
        </p:nvSpPr>
        <p:spPr>
          <a:xfrm>
            <a:off x="4326434" y="5064919"/>
            <a:ext cx="2168203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1" name="Text 15"/>
          <p:cNvSpPr txBox="1"/>
          <p:nvPr/>
        </p:nvSpPr>
        <p:spPr>
          <a:xfrm>
            <a:off x="6736218" y="5064919"/>
            <a:ext cx="313570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B3A79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152" name="Shape 16"/>
          <p:cNvSpPr/>
          <p:nvPr/>
        </p:nvSpPr>
        <p:spPr>
          <a:xfrm>
            <a:off x="1047749" y="5539581"/>
            <a:ext cx="899562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7"/>
          <p:cNvSpPr txBox="1"/>
          <p:nvPr/>
        </p:nvSpPr>
        <p:spPr>
          <a:xfrm>
            <a:off x="1219199" y="5693569"/>
            <a:ext cx="1188395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154" name="Text 18"/>
          <p:cNvSpPr txBox="1"/>
          <p:nvPr/>
        </p:nvSpPr>
        <p:spPr>
          <a:xfrm>
            <a:off x="2598092" y="5693569"/>
            <a:ext cx="146164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5" name="Text 19"/>
          <p:cNvSpPr txBox="1"/>
          <p:nvPr/>
        </p:nvSpPr>
        <p:spPr>
          <a:xfrm>
            <a:off x="4326434" y="5693569"/>
            <a:ext cx="2168203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6" name="Text 20"/>
          <p:cNvSpPr txBox="1"/>
          <p:nvPr/>
        </p:nvSpPr>
        <p:spPr>
          <a:xfrm>
            <a:off x="6736218" y="5693569"/>
            <a:ext cx="313570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7" name="Shape 21"/>
          <p:cNvSpPr/>
          <p:nvPr/>
        </p:nvSpPr>
        <p:spPr>
          <a:xfrm>
            <a:off x="1047749" y="6168231"/>
            <a:ext cx="899562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22"/>
          <p:cNvSpPr txBox="1"/>
          <p:nvPr/>
        </p:nvSpPr>
        <p:spPr>
          <a:xfrm>
            <a:off x="1219199" y="6322219"/>
            <a:ext cx="1188395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TD4</a:t>
            </a:r>
          </a:p>
        </p:txBody>
      </p:sp>
      <p:sp>
        <p:nvSpPr>
          <p:cNvPr id="159" name="Text 23"/>
          <p:cNvSpPr txBox="1"/>
          <p:nvPr/>
        </p:nvSpPr>
        <p:spPr>
          <a:xfrm>
            <a:off x="2598092" y="6322219"/>
            <a:ext cx="146164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0" name="Text 24"/>
          <p:cNvSpPr txBox="1"/>
          <p:nvPr/>
        </p:nvSpPr>
        <p:spPr>
          <a:xfrm>
            <a:off x="4326434" y="6322219"/>
            <a:ext cx="2168203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1" name="Text 25"/>
          <p:cNvSpPr txBox="1"/>
          <p:nvPr/>
        </p:nvSpPr>
        <p:spPr>
          <a:xfrm>
            <a:off x="6736218" y="6322219"/>
            <a:ext cx="3135702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2" name="Shape 26"/>
          <p:cNvSpPr/>
          <p:nvPr/>
        </p:nvSpPr>
        <p:spPr>
          <a:xfrm>
            <a:off x="1047749" y="6796881"/>
            <a:ext cx="899562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7"/>
          <p:cNvSpPr txBox="1"/>
          <p:nvPr/>
        </p:nvSpPr>
        <p:spPr>
          <a:xfrm>
            <a:off x="1219199" y="6950868"/>
            <a:ext cx="1188395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TD5</a:t>
            </a:r>
          </a:p>
        </p:txBody>
      </p:sp>
      <p:sp>
        <p:nvSpPr>
          <p:cNvPr id="164" name="Text 28"/>
          <p:cNvSpPr txBox="1"/>
          <p:nvPr/>
        </p:nvSpPr>
        <p:spPr>
          <a:xfrm>
            <a:off x="2598092" y="6950868"/>
            <a:ext cx="1461642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5" name="Text 29"/>
          <p:cNvSpPr txBox="1"/>
          <p:nvPr/>
        </p:nvSpPr>
        <p:spPr>
          <a:xfrm>
            <a:off x="4326434" y="6950868"/>
            <a:ext cx="2168203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6" name="Text 30"/>
          <p:cNvSpPr txBox="1"/>
          <p:nvPr/>
        </p:nvSpPr>
        <p:spPr>
          <a:xfrm>
            <a:off x="6736218" y="6950868"/>
            <a:ext cx="3135702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7" name="Shape 31"/>
          <p:cNvSpPr/>
          <p:nvPr/>
        </p:nvSpPr>
        <p:spPr>
          <a:xfrm>
            <a:off x="1047749" y="7431881"/>
            <a:ext cx="8995620" cy="19051"/>
          </a:xfrm>
          <a:prstGeom prst="rect">
            <a:avLst/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32"/>
          <p:cNvSpPr txBox="1"/>
          <p:nvPr/>
        </p:nvSpPr>
        <p:spPr>
          <a:xfrm>
            <a:off x="1219199" y="7584281"/>
            <a:ext cx="1188395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169" name="Text 33"/>
          <p:cNvSpPr txBox="1"/>
          <p:nvPr/>
        </p:nvSpPr>
        <p:spPr>
          <a:xfrm>
            <a:off x="2598092" y="7584281"/>
            <a:ext cx="1461642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70" name="Text 34"/>
          <p:cNvSpPr txBox="1"/>
          <p:nvPr/>
        </p:nvSpPr>
        <p:spPr>
          <a:xfrm>
            <a:off x="4326434" y="7584281"/>
            <a:ext cx="2168203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1" name="Text 35"/>
          <p:cNvSpPr txBox="1"/>
          <p:nvPr/>
        </p:nvSpPr>
        <p:spPr>
          <a:xfrm>
            <a:off x="6736218" y="7584281"/>
            <a:ext cx="3135702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2" name="Shape 36"/>
          <p:cNvSpPr/>
          <p:nvPr/>
        </p:nvSpPr>
        <p:spPr>
          <a:xfrm>
            <a:off x="10576768" y="3974305"/>
            <a:ext cx="6663482" cy="1404939"/>
          </a:xfrm>
          <a:prstGeom prst="roundRect">
            <a:avLst>
              <a:gd name="adj" fmla="val 9492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37"/>
          <p:cNvSpPr txBox="1"/>
          <p:nvPr/>
        </p:nvSpPr>
        <p:spPr>
          <a:xfrm>
            <a:off x="10872043" y="4250530"/>
            <a:ext cx="6680226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3564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4" name="Text 38"/>
          <p:cNvSpPr txBox="1"/>
          <p:nvPr/>
        </p:nvSpPr>
        <p:spPr>
          <a:xfrm>
            <a:off x="10872043" y="4812505"/>
            <a:ext cx="668022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notebooks (code + analysis)</a:t>
            </a:r>
          </a:p>
        </p:txBody>
      </p:sp>
      <p:sp>
        <p:nvSpPr>
          <p:cNvPr id="175" name="Shape 39"/>
          <p:cNvSpPr/>
          <p:nvPr/>
        </p:nvSpPr>
        <p:spPr>
          <a:xfrm>
            <a:off x="10576768" y="5569744"/>
            <a:ext cx="6663482" cy="1404939"/>
          </a:xfrm>
          <a:prstGeom prst="roundRect">
            <a:avLst>
              <a:gd name="adj" fmla="val 9492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40"/>
          <p:cNvSpPr txBox="1"/>
          <p:nvPr/>
        </p:nvSpPr>
        <p:spPr>
          <a:xfrm>
            <a:off x="10872043" y="5845969"/>
            <a:ext cx="6680226" cy="57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3564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7" name="Text 41"/>
          <p:cNvSpPr txBox="1"/>
          <p:nvPr/>
        </p:nvSpPr>
        <p:spPr>
          <a:xfrm>
            <a:off x="10872043" y="6407944"/>
            <a:ext cx="668022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mini-projects (TD3/4/5)</a:t>
            </a:r>
          </a:p>
        </p:txBody>
      </p:sp>
      <p:sp>
        <p:nvSpPr>
          <p:cNvPr id="178" name="Text 42"/>
          <p:cNvSpPr txBox="1"/>
          <p:nvPr/>
        </p:nvSpPr>
        <p:spPr>
          <a:xfrm>
            <a:off x="10576768" y="7165181"/>
            <a:ext cx="6863386" cy="709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Analysis answers must be </a:t>
            </a:r>
            <a:r>
              <a:rPr b="1"/>
              <a:t>written by you </a:t>
            </a:r>
            <a:r>
              <a:t>— AI may help you think, the written answer is yours.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HACKATHON SUBJECT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tracks</a:t>
            </a:r>
          </a:p>
        </p:txBody>
      </p:sp>
      <p:sp>
        <p:nvSpPr>
          <p:cNvPr id="184" name="Shape 2"/>
          <p:cNvSpPr/>
          <p:nvPr/>
        </p:nvSpPr>
        <p:spPr>
          <a:xfrm>
            <a:off x="1047750" y="2343150"/>
            <a:ext cx="7924800" cy="7162800"/>
          </a:xfrm>
          <a:prstGeom prst="roundRect">
            <a:avLst>
              <a:gd name="adj" fmla="val 2128"/>
            </a:avLst>
          </a:prstGeom>
          <a:solidFill>
            <a:srgbClr val="FFF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3"/>
          <p:cNvSpPr/>
          <p:nvPr/>
        </p:nvSpPr>
        <p:spPr>
          <a:xfrm>
            <a:off x="1047750" y="9494837"/>
            <a:ext cx="7924800" cy="12701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4"/>
          <p:cNvSpPr/>
          <p:nvPr/>
        </p:nvSpPr>
        <p:spPr>
          <a:xfrm>
            <a:off x="1047750" y="2343150"/>
            <a:ext cx="7924800" cy="57150"/>
          </a:xfrm>
          <a:prstGeom prst="rect">
            <a:avLst/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5"/>
          <p:cNvSpPr/>
          <p:nvPr/>
        </p:nvSpPr>
        <p:spPr>
          <a:xfrm>
            <a:off x="1046162" y="2343150"/>
            <a:ext cx="12701" cy="7162800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Shape 6"/>
          <p:cNvSpPr/>
          <p:nvPr/>
        </p:nvSpPr>
        <p:spPr>
          <a:xfrm>
            <a:off x="8961437" y="2343150"/>
            <a:ext cx="12701" cy="7162800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7"/>
          <p:cNvSpPr txBox="1"/>
          <p:nvPr/>
        </p:nvSpPr>
        <p:spPr>
          <a:xfrm>
            <a:off x="1476375" y="2819400"/>
            <a:ext cx="4410946" cy="452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8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 1 · Free innovation</a:t>
            </a:r>
          </a:p>
        </p:txBody>
      </p:sp>
      <p:sp>
        <p:nvSpPr>
          <p:cNvPr id="190" name="Text 8"/>
          <p:cNvSpPr txBox="1"/>
          <p:nvPr/>
        </p:nvSpPr>
        <p:spPr>
          <a:xfrm>
            <a:off x="7343551" y="2914650"/>
            <a:ext cx="132041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156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≤ 20/20</a:t>
            </a:r>
          </a:p>
        </p:txBody>
      </p:sp>
      <p:sp>
        <p:nvSpPr>
          <p:cNvPr id="191" name="Text 9"/>
          <p:cNvSpPr txBox="1"/>
          <p:nvPr/>
        </p:nvSpPr>
        <p:spPr>
          <a:xfrm>
            <a:off x="1476374" y="3467100"/>
            <a:ext cx="7279579" cy="1333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86968">
              <a:lnSpc>
                <a:spcPct val="150000"/>
              </a:lnSpc>
              <a:defRPr sz="2134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Build the agentic product </a:t>
            </a:r>
            <a:r>
              <a:rPr i="1"/>
              <a:t>you </a:t>
            </a:r>
            <a:r>
              <a:t>want — any use case. Must be a real </a:t>
            </a:r>
            <a:r>
              <a:rPr b="1"/>
              <a:t>agent loop with tools </a:t>
            </a:r>
            <a:r>
              <a:t>. Could seed a real project or startup.</a:t>
            </a:r>
          </a:p>
        </p:txBody>
      </p:sp>
      <p:sp>
        <p:nvSpPr>
          <p:cNvPr id="192" name="Shape 10"/>
          <p:cNvSpPr/>
          <p:nvPr/>
        </p:nvSpPr>
        <p:spPr>
          <a:xfrm>
            <a:off x="9315450" y="2343150"/>
            <a:ext cx="7924800" cy="7162800"/>
          </a:xfrm>
          <a:prstGeom prst="roundRect">
            <a:avLst>
              <a:gd name="adj" fmla="val 2128"/>
            </a:avLst>
          </a:prstGeom>
          <a:solidFill>
            <a:srgbClr val="FFFD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11"/>
          <p:cNvSpPr/>
          <p:nvPr/>
        </p:nvSpPr>
        <p:spPr>
          <a:xfrm>
            <a:off x="9315450" y="9494837"/>
            <a:ext cx="7924800" cy="12701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12"/>
          <p:cNvSpPr/>
          <p:nvPr/>
        </p:nvSpPr>
        <p:spPr>
          <a:xfrm>
            <a:off x="9315450" y="2343150"/>
            <a:ext cx="7924800" cy="57150"/>
          </a:xfrm>
          <a:prstGeom prst="rect">
            <a:avLst/>
          </a:prstGeom>
          <a:solidFill>
            <a:srgbClr val="3A63B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13"/>
          <p:cNvSpPr/>
          <p:nvPr/>
        </p:nvSpPr>
        <p:spPr>
          <a:xfrm>
            <a:off x="9313862" y="2343150"/>
            <a:ext cx="12701" cy="7162800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14"/>
          <p:cNvSpPr/>
          <p:nvPr/>
        </p:nvSpPr>
        <p:spPr>
          <a:xfrm>
            <a:off x="17229137" y="2343150"/>
            <a:ext cx="12701" cy="7162800"/>
          </a:xfrm>
          <a:prstGeom prst="rect">
            <a:avLst/>
          </a:prstGeom>
          <a:solidFill>
            <a:srgbClr val="E5DC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5"/>
          <p:cNvSpPr txBox="1"/>
          <p:nvPr/>
        </p:nvSpPr>
        <p:spPr>
          <a:xfrm>
            <a:off x="9744074" y="2819400"/>
            <a:ext cx="5074468" cy="452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8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 2 · Extend PIM Copilot</a:t>
            </a:r>
          </a:p>
        </p:txBody>
      </p:sp>
      <p:sp>
        <p:nvSpPr>
          <p:cNvPr id="198" name="Text 16"/>
          <p:cNvSpPr txBox="1"/>
          <p:nvPr/>
        </p:nvSpPr>
        <p:spPr>
          <a:xfrm>
            <a:off x="15611251" y="2914650"/>
            <a:ext cx="132041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156">
                <a:solidFill>
                  <a:srgbClr val="3A63B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≤ 16/20</a:t>
            </a:r>
          </a:p>
        </p:txBody>
      </p:sp>
      <p:sp>
        <p:nvSpPr>
          <p:cNvPr id="199" name="Text 17"/>
          <p:cNvSpPr txBox="1"/>
          <p:nvPr/>
        </p:nvSpPr>
        <p:spPr>
          <a:xfrm>
            <a:off x="9744074" y="3467100"/>
            <a:ext cx="7279579" cy="1762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77823">
              <a:lnSpc>
                <a:spcPct val="150000"/>
              </a:lnSpc>
              <a:defRPr sz="2112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 idea? Take the TD5 PIM Copilot and ship </a:t>
            </a:r>
            <a:r>
              <a:rPr b="1"/>
              <a:t>≥ 2 new features </a:t>
            </a:r>
            <a:r>
              <a:t>— new tools, better UI, batch enrichment, an eval harness, human-in-the-loop. A real graded project, lower ceiling.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204" name="Text 1"/>
          <p:cNvSpPr txBox="1"/>
          <p:nvPr/>
        </p:nvSpPr>
        <p:spPr>
          <a:xfrm>
            <a:off x="1047750" y="1323974"/>
            <a:ext cx="17811750" cy="64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59536">
              <a:lnSpc>
                <a:spcPct val="104999"/>
              </a:lnSpc>
              <a:defRPr b="1" spc="-188" sz="423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an </a:t>
            </a:r>
            <a:r>
              <a:rPr i="1"/>
              <a:t>agent</a:t>
            </a:r>
            <a:r>
              <a:t>, not just an LLM call?</a:t>
            </a:r>
          </a:p>
        </p:txBody>
      </p:sp>
      <p:sp>
        <p:nvSpPr>
          <p:cNvPr id="205" name="Shape 2"/>
          <p:cNvSpPr/>
          <p:nvPr/>
        </p:nvSpPr>
        <p:spPr>
          <a:xfrm>
            <a:off x="1047750" y="4114800"/>
            <a:ext cx="7886700" cy="1690689"/>
          </a:xfrm>
          <a:prstGeom prst="roundRect">
            <a:avLst>
              <a:gd name="adj" fmla="val 7887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3"/>
          <p:cNvSpPr txBox="1"/>
          <p:nvPr/>
        </p:nvSpPr>
        <p:spPr>
          <a:xfrm>
            <a:off x="1362074" y="4391024"/>
            <a:ext cx="7983857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LLM CALL</a:t>
            </a:r>
          </a:p>
        </p:txBody>
      </p:sp>
      <p:sp>
        <p:nvSpPr>
          <p:cNvPr id="207" name="Text 4"/>
          <p:cNvSpPr txBox="1"/>
          <p:nvPr/>
        </p:nvSpPr>
        <p:spPr>
          <a:xfrm>
            <a:off x="1362074" y="4805362"/>
            <a:ext cx="7983857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100"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prompt → answer</a:t>
            </a:r>
          </a:p>
        </p:txBody>
      </p:sp>
      <p:sp>
        <p:nvSpPr>
          <p:cNvPr id="208" name="Text 5"/>
          <p:cNvSpPr txBox="1"/>
          <p:nvPr/>
        </p:nvSpPr>
        <p:spPr>
          <a:xfrm>
            <a:off x="1362074" y="5253037"/>
            <a:ext cx="7983857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input, one output. No outside world.</a:t>
            </a:r>
          </a:p>
        </p:txBody>
      </p:sp>
      <p:sp>
        <p:nvSpPr>
          <p:cNvPr id="209" name="Shape 6"/>
          <p:cNvSpPr/>
          <p:nvPr/>
        </p:nvSpPr>
        <p:spPr>
          <a:xfrm>
            <a:off x="1047750" y="6053137"/>
            <a:ext cx="7886700" cy="1647826"/>
          </a:xfrm>
          <a:prstGeom prst="roundRect">
            <a:avLst>
              <a:gd name="adj" fmla="val 8092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7"/>
          <p:cNvSpPr txBox="1"/>
          <p:nvPr/>
        </p:nvSpPr>
        <p:spPr>
          <a:xfrm>
            <a:off x="1352550" y="6319837"/>
            <a:ext cx="800481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E08B6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211" name="Text 8"/>
          <p:cNvSpPr txBox="1"/>
          <p:nvPr/>
        </p:nvSpPr>
        <p:spPr>
          <a:xfrm>
            <a:off x="1352550" y="6734174"/>
            <a:ext cx="8004810" cy="366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F3EDE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reason → act → observe → ↻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1352550" y="7158038"/>
            <a:ext cx="8004810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BF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Loops until the job is done.</a:t>
            </a:r>
          </a:p>
        </p:txBody>
      </p:sp>
      <p:sp>
        <p:nvSpPr>
          <p:cNvPr id="213" name="Text 10"/>
          <p:cNvSpPr txBox="1"/>
          <p:nvPr/>
        </p:nvSpPr>
        <p:spPr>
          <a:xfrm>
            <a:off x="9353550" y="3929360"/>
            <a:ext cx="8675370" cy="44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 an agent when </a:t>
            </a:r>
            <a:r>
              <a:rPr b="1"/>
              <a:t>any </a:t>
            </a:r>
            <a:r>
              <a:t>applies:</a:t>
            </a:r>
          </a:p>
        </p:txBody>
      </p:sp>
      <p:sp>
        <p:nvSpPr>
          <p:cNvPr id="214" name="Text 11"/>
          <p:cNvSpPr txBox="1"/>
          <p:nvPr/>
        </p:nvSpPr>
        <p:spPr>
          <a:xfrm>
            <a:off x="9353550" y="4544169"/>
            <a:ext cx="867537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· live / external data via tools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9353550" y="4958507"/>
            <a:ext cx="867537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· actions in the world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9353550" y="5372844"/>
            <a:ext cx="867537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· number of steps unknown ahead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9353550" y="5787182"/>
            <a:ext cx="867537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· must react to results</a:t>
            </a:r>
          </a:p>
        </p:txBody>
      </p:sp>
      <p:sp>
        <p:nvSpPr>
          <p:cNvPr id="218" name="Text 15"/>
          <p:cNvSpPr txBox="1"/>
          <p:nvPr/>
        </p:nvSpPr>
        <p:spPr>
          <a:xfrm>
            <a:off x="9353550" y="6201519"/>
            <a:ext cx="867537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· a constraint met by iteration</a:t>
            </a:r>
          </a:p>
        </p:txBody>
      </p:sp>
      <p:sp>
        <p:nvSpPr>
          <p:cNvPr id="219" name="Shape 16"/>
          <p:cNvSpPr/>
          <p:nvPr/>
        </p:nvSpPr>
        <p:spPr>
          <a:xfrm>
            <a:off x="9353550" y="6739681"/>
            <a:ext cx="7886700" cy="1146722"/>
          </a:xfrm>
          <a:prstGeom prst="roundRect">
            <a:avLst>
              <a:gd name="adj" fmla="val 6645"/>
            </a:avLst>
          </a:prstGeom>
          <a:solidFill>
            <a:srgbClr val="F3E3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17"/>
          <p:cNvSpPr/>
          <p:nvPr/>
        </p:nvSpPr>
        <p:spPr>
          <a:xfrm>
            <a:off x="9353550" y="6739681"/>
            <a:ext cx="47625" cy="1146722"/>
          </a:xfrm>
          <a:prstGeom prst="rect">
            <a:avLst/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8"/>
          <p:cNvSpPr txBox="1"/>
          <p:nvPr/>
        </p:nvSpPr>
        <p:spPr>
          <a:xfrm>
            <a:off x="9648824" y="6949231"/>
            <a:ext cx="7580378" cy="76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 b="1" sz="19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Litmus test: </a:t>
            </a:r>
            <a:r>
              <a:rPr b="0"/>
              <a:t>can I answer in one shot, without looking anything up or changing anything? </a:t>
            </a:r>
            <a:r>
              <a:t>Yes </a:t>
            </a:r>
            <a:r>
              <a:rPr b="0"/>
              <a:t>→ a call. </a:t>
            </a:r>
            <a:r>
              <a:t>No </a:t>
            </a:r>
            <a:r>
              <a:rPr b="0"/>
              <a:t>→ an agent.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609600" y="2425898"/>
            <a:ext cx="17068800" cy="19051"/>
          </a:xfrm>
          <a:prstGeom prst="rect">
            <a:avLst/>
          </a:prstGeom>
          <a:solidFill>
            <a:srgbClr val="1B1A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"/>
          <p:cNvSpPr txBox="1"/>
          <p:nvPr/>
        </p:nvSpPr>
        <p:spPr>
          <a:xfrm>
            <a:off x="609599" y="1316236"/>
            <a:ext cx="493948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pc="200">
                <a:solidFill>
                  <a:srgbClr val="7B6F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CHOOSING A TOPIC — HACKATHON</a:t>
            </a:r>
          </a:p>
        </p:txBody>
      </p:sp>
      <p:sp>
        <p:nvSpPr>
          <p:cNvPr id="227" name="Text 2"/>
          <p:cNvSpPr txBox="1"/>
          <p:nvPr/>
        </p:nvSpPr>
        <p:spPr>
          <a:xfrm>
            <a:off x="609599" y="1682948"/>
            <a:ext cx="493948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13816">
              <a:defRPr b="1" sz="4005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decisive test</a:t>
            </a:r>
          </a:p>
        </p:txBody>
      </p:sp>
      <p:sp>
        <p:nvSpPr>
          <p:cNvPr id="228" name="Shape 3"/>
          <p:cNvSpPr/>
          <p:nvPr/>
        </p:nvSpPr>
        <p:spPr>
          <a:xfrm>
            <a:off x="9896475" y="495299"/>
            <a:ext cx="7781925" cy="1759150"/>
          </a:xfrm>
          <a:prstGeom prst="rect">
            <a:avLst/>
          </a:prstGeom>
          <a:solidFill>
            <a:srgbClr val="F1EE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4"/>
          <p:cNvSpPr/>
          <p:nvPr/>
        </p:nvSpPr>
        <p:spPr>
          <a:xfrm>
            <a:off x="9896475" y="495299"/>
            <a:ext cx="47625" cy="1759150"/>
          </a:xfrm>
          <a:prstGeom prst="rect">
            <a:avLst/>
          </a:prstGeom>
          <a:solidFill>
            <a:srgbClr val="1B1A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5"/>
          <p:cNvSpPr txBox="1"/>
          <p:nvPr/>
        </p:nvSpPr>
        <p:spPr>
          <a:xfrm>
            <a:off x="10191750" y="666750"/>
            <a:ext cx="7456169" cy="70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000"/>
              </a:lnSpc>
              <a:defRPr i="1" sz="1900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"Can it answer correctly in one shot, with the model's own knowledge, without fetching anything or changing anything?"</a:t>
            </a:r>
          </a:p>
        </p:txBody>
      </p:sp>
      <p:sp>
        <p:nvSpPr>
          <p:cNvPr id="231" name="Text 6"/>
          <p:cNvSpPr txBox="1"/>
          <p:nvPr/>
        </p:nvSpPr>
        <p:spPr>
          <a:xfrm>
            <a:off x="10191750" y="1430536"/>
            <a:ext cx="7456169" cy="69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35000"/>
              </a:lnSpc>
              <a:defRPr b="1">
                <a:solidFill>
                  <a:srgbClr val="A43B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Yes </a:t>
            </a:r>
            <a:r>
              <a:rPr b="0">
                <a:solidFill>
                  <a:srgbClr val="1B1A18"/>
                </a:solidFill>
              </a:rPr>
              <a:t>→ it is NOT an agentic project (just an LLM call). </a:t>
            </a:r>
            <a:r>
              <a:rPr>
                <a:solidFill>
                  <a:srgbClr val="007834"/>
                </a:solidFill>
              </a:rPr>
              <a:t>No </a:t>
            </a:r>
            <a:r>
              <a:rPr b="0">
                <a:solidFill>
                  <a:srgbClr val="1B1A18"/>
                </a:solidFill>
              </a:rPr>
              <a:t>→ good candidate.</a:t>
            </a:r>
          </a:p>
        </p:txBody>
      </p:sp>
      <p:sp>
        <p:nvSpPr>
          <p:cNvPr id="232" name="Shape 7"/>
          <p:cNvSpPr/>
          <p:nvPr/>
        </p:nvSpPr>
        <p:spPr>
          <a:xfrm>
            <a:off x="609600" y="2742605"/>
            <a:ext cx="133350" cy="133351"/>
          </a:xfrm>
          <a:prstGeom prst="ellipse">
            <a:avLst/>
          </a:prstGeom>
          <a:solidFill>
            <a:srgbClr val="2E9E5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8"/>
          <p:cNvSpPr txBox="1"/>
          <p:nvPr/>
        </p:nvSpPr>
        <p:spPr>
          <a:xfrm>
            <a:off x="857250" y="2659260"/>
            <a:ext cx="363434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b="1" sz="1994">
                <a:solidFill>
                  <a:srgbClr val="0078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Good topic — the green lights</a:t>
            </a:r>
          </a:p>
        </p:txBody>
      </p:sp>
      <p:sp>
        <p:nvSpPr>
          <p:cNvPr id="234" name="Text 9"/>
          <p:cNvSpPr txBox="1"/>
          <p:nvPr/>
        </p:nvSpPr>
        <p:spPr>
          <a:xfrm>
            <a:off x="609600" y="3078360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2E9E5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35" name="Text 10"/>
          <p:cNvSpPr txBox="1"/>
          <p:nvPr/>
        </p:nvSpPr>
        <p:spPr>
          <a:xfrm>
            <a:off x="819150" y="3073598"/>
            <a:ext cx="1164134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model</a:t>
            </a:r>
          </a:p>
        </p:txBody>
      </p:sp>
      <p:sp>
        <p:nvSpPr>
          <p:cNvPr id="236" name="Text 11"/>
          <p:cNvSpPr txBox="1"/>
          <p:nvPr/>
        </p:nvSpPr>
        <p:spPr>
          <a:xfrm>
            <a:off x="1961033" y="3102173"/>
            <a:ext cx="2572228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decides the next action</a:t>
            </a:r>
          </a:p>
        </p:txBody>
      </p:sp>
      <p:sp>
        <p:nvSpPr>
          <p:cNvPr id="237" name="Text 12"/>
          <p:cNvSpPr txBox="1"/>
          <p:nvPr/>
        </p:nvSpPr>
        <p:spPr>
          <a:xfrm>
            <a:off x="4353297" y="3073598"/>
            <a:ext cx="2817143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based on what it observes.</a:t>
            </a:r>
          </a:p>
        </p:txBody>
      </p:sp>
      <p:sp>
        <p:nvSpPr>
          <p:cNvPr id="238" name="Text 13"/>
          <p:cNvSpPr txBox="1"/>
          <p:nvPr/>
        </p:nvSpPr>
        <p:spPr>
          <a:xfrm>
            <a:off x="609600" y="3461444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2E9E5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39" name="Text 14"/>
          <p:cNvSpPr txBox="1"/>
          <p:nvPr/>
        </p:nvSpPr>
        <p:spPr>
          <a:xfrm>
            <a:off x="819150" y="3456682"/>
            <a:ext cx="247948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</a:t>
            </a:r>
          </a:p>
        </p:txBody>
      </p:sp>
      <p:sp>
        <p:nvSpPr>
          <p:cNvPr id="240" name="Text 15"/>
          <p:cNvSpPr txBox="1"/>
          <p:nvPr/>
        </p:nvSpPr>
        <p:spPr>
          <a:xfrm>
            <a:off x="1044848" y="3485257"/>
            <a:ext cx="1079898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calls tools</a:t>
            </a:r>
          </a:p>
        </p:txBody>
      </p:sp>
      <p:sp>
        <p:nvSpPr>
          <p:cNvPr id="241" name="Text 16"/>
          <p:cNvSpPr txBox="1"/>
          <p:nvPr/>
        </p:nvSpPr>
        <p:spPr>
          <a:xfrm>
            <a:off x="2102421" y="3456682"/>
            <a:ext cx="263227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(search / API / database)</a:t>
            </a:r>
          </a:p>
        </p:txBody>
      </p:sp>
      <p:sp>
        <p:nvSpPr>
          <p:cNvPr id="242" name="Text 17"/>
          <p:cNvSpPr txBox="1"/>
          <p:nvPr/>
        </p:nvSpPr>
        <p:spPr>
          <a:xfrm>
            <a:off x="4711972" y="3485257"/>
            <a:ext cx="1207146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and/or acts</a:t>
            </a:r>
          </a:p>
        </p:txBody>
      </p:sp>
      <p:sp>
        <p:nvSpPr>
          <p:cNvPr id="243" name="Text 18"/>
          <p:cNvSpPr txBox="1"/>
          <p:nvPr/>
        </p:nvSpPr>
        <p:spPr>
          <a:xfrm>
            <a:off x="5896793" y="3456682"/>
            <a:ext cx="2185616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(create, write, send).</a:t>
            </a:r>
          </a:p>
        </p:txBody>
      </p:sp>
      <p:sp>
        <p:nvSpPr>
          <p:cNvPr id="244" name="Text 19"/>
          <p:cNvSpPr txBox="1"/>
          <p:nvPr/>
        </p:nvSpPr>
        <p:spPr>
          <a:xfrm>
            <a:off x="609600" y="3844528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2E9E5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45" name="Text 20"/>
          <p:cNvSpPr txBox="1"/>
          <p:nvPr/>
        </p:nvSpPr>
        <p:spPr>
          <a:xfrm>
            <a:off x="819150" y="3839766"/>
            <a:ext cx="462336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</a:t>
            </a:r>
          </a:p>
        </p:txBody>
      </p:sp>
      <p:sp>
        <p:nvSpPr>
          <p:cNvPr id="246" name="Text 21"/>
          <p:cNvSpPr txBox="1"/>
          <p:nvPr/>
        </p:nvSpPr>
        <p:spPr>
          <a:xfrm>
            <a:off x="1259234" y="3868341"/>
            <a:ext cx="3200632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number/order of steps varies</a:t>
            </a:r>
          </a:p>
        </p:txBody>
      </p:sp>
      <p:sp>
        <p:nvSpPr>
          <p:cNvPr id="247" name="Text 22"/>
          <p:cNvSpPr txBox="1"/>
          <p:nvPr/>
        </p:nvSpPr>
        <p:spPr>
          <a:xfrm>
            <a:off x="4222775" y="3839766"/>
            <a:ext cx="3739660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 the input (not a fixed pipeline).</a:t>
            </a:r>
          </a:p>
        </p:txBody>
      </p:sp>
      <p:sp>
        <p:nvSpPr>
          <p:cNvPr id="248" name="Text 23"/>
          <p:cNvSpPr txBox="1"/>
          <p:nvPr/>
        </p:nvSpPr>
        <p:spPr>
          <a:xfrm>
            <a:off x="609600" y="4227612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2E9E5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49" name="Text 24"/>
          <p:cNvSpPr txBox="1"/>
          <p:nvPr/>
        </p:nvSpPr>
        <p:spPr>
          <a:xfrm>
            <a:off x="819150" y="4222848"/>
            <a:ext cx="222796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50" name="Text 25"/>
          <p:cNvSpPr txBox="1"/>
          <p:nvPr/>
        </p:nvSpPr>
        <p:spPr>
          <a:xfrm>
            <a:off x="1019695" y="4251423"/>
            <a:ext cx="3717876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constraint is met through iteration</a:t>
            </a:r>
          </a:p>
        </p:txBody>
      </p:sp>
      <p:sp>
        <p:nvSpPr>
          <p:cNvPr id="251" name="Text 26"/>
          <p:cNvSpPr txBox="1"/>
          <p:nvPr/>
        </p:nvSpPr>
        <p:spPr>
          <a:xfrm>
            <a:off x="4453458" y="4222848"/>
            <a:ext cx="3994433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(budget, availability, completeness…).</a:t>
            </a:r>
          </a:p>
        </p:txBody>
      </p:sp>
      <p:sp>
        <p:nvSpPr>
          <p:cNvPr id="252" name="Text 27"/>
          <p:cNvSpPr txBox="1"/>
          <p:nvPr/>
        </p:nvSpPr>
        <p:spPr>
          <a:xfrm>
            <a:off x="609600" y="4610694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2E9E5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53" name="Text 28"/>
          <p:cNvSpPr txBox="1"/>
          <p:nvPr/>
        </p:nvSpPr>
        <p:spPr>
          <a:xfrm>
            <a:off x="819150" y="4605932"/>
            <a:ext cx="879054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 can</a:t>
            </a:r>
          </a:p>
        </p:txBody>
      </p:sp>
      <p:sp>
        <p:nvSpPr>
          <p:cNvPr id="254" name="Text 29"/>
          <p:cNvSpPr txBox="1"/>
          <p:nvPr/>
        </p:nvSpPr>
        <p:spPr>
          <a:xfrm>
            <a:off x="1675953" y="4634507"/>
            <a:ext cx="1789607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at the loop</a:t>
            </a:r>
          </a:p>
        </p:txBody>
      </p:sp>
      <p:sp>
        <p:nvSpPr>
          <p:cNvPr id="255" name="Text 30"/>
          <p:cNvSpPr txBox="1"/>
          <p:nvPr/>
        </p:nvSpPr>
        <p:spPr>
          <a:xfrm>
            <a:off x="3356743" y="4605932"/>
            <a:ext cx="2140075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a 5-minute demo.</a:t>
            </a:r>
          </a:p>
        </p:txBody>
      </p:sp>
      <p:sp>
        <p:nvSpPr>
          <p:cNvPr id="256" name="Shape 31"/>
          <p:cNvSpPr/>
          <p:nvPr/>
        </p:nvSpPr>
        <p:spPr>
          <a:xfrm>
            <a:off x="9315450" y="2742605"/>
            <a:ext cx="133350" cy="133351"/>
          </a:xfrm>
          <a:prstGeom prst="ellipse">
            <a:avLst/>
          </a:prstGeom>
          <a:solidFill>
            <a:srgbClr val="CE5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32"/>
          <p:cNvSpPr txBox="1"/>
          <p:nvPr/>
        </p:nvSpPr>
        <p:spPr>
          <a:xfrm>
            <a:off x="9563100" y="2659260"/>
            <a:ext cx="314557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b="1" sz="1994">
                <a:solidFill>
                  <a:srgbClr val="A43B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Bad topic — the red lights</a:t>
            </a:r>
          </a:p>
        </p:txBody>
      </p:sp>
      <p:sp>
        <p:nvSpPr>
          <p:cNvPr id="258" name="Text 33"/>
          <p:cNvSpPr txBox="1"/>
          <p:nvPr/>
        </p:nvSpPr>
        <p:spPr>
          <a:xfrm>
            <a:off x="9315450" y="3078360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CE51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59" name="Text 34"/>
          <p:cNvSpPr txBox="1"/>
          <p:nvPr/>
        </p:nvSpPr>
        <p:spPr>
          <a:xfrm>
            <a:off x="9525000" y="3102173"/>
            <a:ext cx="914846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tools</a:t>
            </a:r>
          </a:p>
        </p:txBody>
      </p:sp>
      <p:sp>
        <p:nvSpPr>
          <p:cNvPr id="260" name="Text 35"/>
          <p:cNvSpPr txBox="1"/>
          <p:nvPr/>
        </p:nvSpPr>
        <p:spPr>
          <a:xfrm>
            <a:off x="10325100" y="3098998"/>
            <a:ext cx="6108189" cy="630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: text in → text out (summary, translation, rewrite, generating copy/poem/image).</a:t>
            </a:r>
          </a:p>
        </p:txBody>
      </p:sp>
      <p:sp>
        <p:nvSpPr>
          <p:cNvPr id="261" name="Text 36"/>
          <p:cNvSpPr txBox="1"/>
          <p:nvPr/>
        </p:nvSpPr>
        <p:spPr>
          <a:xfrm>
            <a:off x="9315450" y="3754041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CE51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62" name="Text 37"/>
          <p:cNvSpPr txBox="1"/>
          <p:nvPr/>
        </p:nvSpPr>
        <p:spPr>
          <a:xfrm>
            <a:off x="9525000" y="3777853"/>
            <a:ext cx="1425922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single step</a:t>
            </a:r>
          </a:p>
        </p:txBody>
      </p:sp>
      <p:sp>
        <p:nvSpPr>
          <p:cNvPr id="263" name="Text 38"/>
          <p:cNvSpPr txBox="1"/>
          <p:nvPr/>
        </p:nvSpPr>
        <p:spPr>
          <a:xfrm>
            <a:off x="10821292" y="3749278"/>
            <a:ext cx="4150485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: you call the model once, and it's done.</a:t>
            </a:r>
          </a:p>
        </p:txBody>
      </p:sp>
      <p:sp>
        <p:nvSpPr>
          <p:cNvPr id="264" name="Text 39"/>
          <p:cNvSpPr txBox="1"/>
          <p:nvPr/>
        </p:nvSpPr>
        <p:spPr>
          <a:xfrm>
            <a:off x="9315450" y="4137123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CE51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65" name="Text 40"/>
          <p:cNvSpPr txBox="1"/>
          <p:nvPr/>
        </p:nvSpPr>
        <p:spPr>
          <a:xfrm>
            <a:off x="9525000" y="4160937"/>
            <a:ext cx="1746959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on its own</a:t>
            </a:r>
          </a:p>
        </p:txBody>
      </p:sp>
      <p:sp>
        <p:nvSpPr>
          <p:cNvPr id="266" name="Text 41"/>
          <p:cNvSpPr txBox="1"/>
          <p:nvPr/>
        </p:nvSpPr>
        <p:spPr>
          <a:xfrm>
            <a:off x="11167020" y="4132362"/>
            <a:ext cx="6411173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= a Q&amp;A chatbot on a PDF with no decision or action → that's</a:t>
            </a:r>
          </a:p>
        </p:txBody>
      </p:sp>
      <p:sp>
        <p:nvSpPr>
          <p:cNvPr id="267" name="Text 42"/>
          <p:cNvSpPr txBox="1"/>
          <p:nvPr/>
        </p:nvSpPr>
        <p:spPr>
          <a:xfrm>
            <a:off x="9525000" y="4458294"/>
            <a:ext cx="508099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268" name="Text 43"/>
          <p:cNvSpPr txBox="1"/>
          <p:nvPr/>
        </p:nvSpPr>
        <p:spPr>
          <a:xfrm>
            <a:off x="9956899" y="4429719"/>
            <a:ext cx="1529433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, not an agent.</a:t>
            </a:r>
          </a:p>
        </p:txBody>
      </p:sp>
      <p:sp>
        <p:nvSpPr>
          <p:cNvPr id="269" name="Text 44"/>
          <p:cNvSpPr txBox="1"/>
          <p:nvPr/>
        </p:nvSpPr>
        <p:spPr>
          <a:xfrm>
            <a:off x="9315450" y="4817566"/>
            <a:ext cx="152326" cy="33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CE51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70" name="Text 45"/>
          <p:cNvSpPr txBox="1"/>
          <p:nvPr/>
        </p:nvSpPr>
        <p:spPr>
          <a:xfrm>
            <a:off x="9525000" y="4841378"/>
            <a:ext cx="2166552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Classification alone</a:t>
            </a:r>
          </a:p>
        </p:txBody>
      </p:sp>
      <p:sp>
        <p:nvSpPr>
          <p:cNvPr id="271" name="Text 46"/>
          <p:cNvSpPr txBox="1"/>
          <p:nvPr/>
        </p:nvSpPr>
        <p:spPr>
          <a:xfrm>
            <a:off x="11548467" y="4812803"/>
            <a:ext cx="3207043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(sentiment, category) → that's</a:t>
            </a:r>
          </a:p>
        </p:txBody>
      </p:sp>
      <p:sp>
        <p:nvSpPr>
          <p:cNvPr id="272" name="Text 47"/>
          <p:cNvSpPr txBox="1"/>
          <p:nvPr/>
        </p:nvSpPr>
        <p:spPr>
          <a:xfrm>
            <a:off x="14716050" y="4841378"/>
            <a:ext cx="508099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TD2</a:t>
            </a:r>
          </a:p>
        </p:txBody>
      </p:sp>
      <p:sp>
        <p:nvSpPr>
          <p:cNvPr id="273" name="Text 48"/>
          <p:cNvSpPr txBox="1"/>
          <p:nvPr/>
        </p:nvSpPr>
        <p:spPr>
          <a:xfrm>
            <a:off x="15147949" y="4812803"/>
            <a:ext cx="13841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274" name="Text 49"/>
          <p:cNvSpPr txBox="1"/>
          <p:nvPr/>
        </p:nvSpPr>
        <p:spPr>
          <a:xfrm>
            <a:off x="9315450" y="5200650"/>
            <a:ext cx="152326" cy="33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8000"/>
              </a:lnSpc>
              <a:defRPr b="1">
                <a:solidFill>
                  <a:srgbClr val="CE51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75" name="Text 50"/>
          <p:cNvSpPr txBox="1"/>
          <p:nvPr/>
        </p:nvSpPr>
        <p:spPr>
          <a:xfrm>
            <a:off x="9525000" y="5195887"/>
            <a:ext cx="247948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</a:t>
            </a:r>
          </a:p>
        </p:txBody>
      </p:sp>
      <p:sp>
        <p:nvSpPr>
          <p:cNvPr id="276" name="Text 51"/>
          <p:cNvSpPr txBox="1"/>
          <p:nvPr/>
        </p:nvSpPr>
        <p:spPr>
          <a:xfrm>
            <a:off x="9750697" y="5224462"/>
            <a:ext cx="1705623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fetches nothing</a:t>
            </a:r>
          </a:p>
        </p:txBody>
      </p:sp>
      <p:sp>
        <p:nvSpPr>
          <p:cNvPr id="277" name="Text 52"/>
          <p:cNvSpPr txBox="1"/>
          <p:nvPr/>
        </p:nvSpPr>
        <p:spPr>
          <a:xfrm>
            <a:off x="11355138" y="5195887"/>
            <a:ext cx="1038226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fresh and</a:t>
            </a:r>
          </a:p>
        </p:txBody>
      </p:sp>
      <p:sp>
        <p:nvSpPr>
          <p:cNvPr id="278" name="Text 53"/>
          <p:cNvSpPr txBox="1"/>
          <p:nvPr/>
        </p:nvSpPr>
        <p:spPr>
          <a:xfrm>
            <a:off x="12371114" y="5224462"/>
            <a:ext cx="1845595" cy="29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128000"/>
              </a:lnSpc>
              <a:defRPr b="1" sz="1638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changes nothing</a:t>
            </a:r>
          </a:p>
        </p:txBody>
      </p:sp>
      <p:sp>
        <p:nvSpPr>
          <p:cNvPr id="279" name="Text 54"/>
          <p:cNvSpPr txBox="1"/>
          <p:nvPr/>
        </p:nvSpPr>
        <p:spPr>
          <a:xfrm>
            <a:off x="14048928" y="5195887"/>
            <a:ext cx="13841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8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280" name="Text 55"/>
          <p:cNvSpPr txBox="1"/>
          <p:nvPr/>
        </p:nvSpPr>
        <p:spPr>
          <a:xfrm>
            <a:off x="609599" y="5707558"/>
            <a:ext cx="18775682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037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telling: same domains, good vs. bad</a:t>
            </a:r>
          </a:p>
        </p:txBody>
      </p:sp>
      <p:sp>
        <p:nvSpPr>
          <p:cNvPr id="281" name="Shape 56"/>
          <p:cNvSpPr/>
          <p:nvPr/>
        </p:nvSpPr>
        <p:spPr>
          <a:xfrm>
            <a:off x="609600" y="6131421"/>
            <a:ext cx="1447800" cy="459433"/>
          </a:xfrm>
          <a:prstGeom prst="roundRect">
            <a:avLst>
              <a:gd name="adj" fmla="val 12439"/>
            </a:avLst>
          </a:prstGeom>
          <a:solidFill>
            <a:srgbClr val="1B1A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57"/>
          <p:cNvSpPr txBox="1"/>
          <p:nvPr/>
        </p:nvSpPr>
        <p:spPr>
          <a:xfrm>
            <a:off x="762000" y="6217146"/>
            <a:ext cx="1219200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FBFA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283" name="Shape 58"/>
          <p:cNvSpPr/>
          <p:nvPr/>
        </p:nvSpPr>
        <p:spPr>
          <a:xfrm>
            <a:off x="2057400" y="6131421"/>
            <a:ext cx="3947815" cy="459433"/>
          </a:xfrm>
          <a:prstGeom prst="rect">
            <a:avLst/>
          </a:prstGeom>
          <a:solidFill>
            <a:srgbClr val="A43B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59"/>
          <p:cNvSpPr txBox="1"/>
          <p:nvPr/>
        </p:nvSpPr>
        <p:spPr>
          <a:xfrm>
            <a:off x="2209800" y="6217146"/>
            <a:ext cx="3761450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FBFA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Bad (LLM call)</a:t>
            </a:r>
          </a:p>
        </p:txBody>
      </p:sp>
      <p:sp>
        <p:nvSpPr>
          <p:cNvPr id="285" name="Shape 60"/>
          <p:cNvSpPr/>
          <p:nvPr/>
        </p:nvSpPr>
        <p:spPr>
          <a:xfrm>
            <a:off x="6005214" y="6131421"/>
            <a:ext cx="11673186" cy="459433"/>
          </a:xfrm>
          <a:prstGeom prst="rect">
            <a:avLst/>
          </a:prstGeom>
          <a:solidFill>
            <a:srgbClr val="06713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61"/>
          <p:cNvSpPr txBox="1"/>
          <p:nvPr/>
        </p:nvSpPr>
        <p:spPr>
          <a:xfrm>
            <a:off x="6157614" y="6217146"/>
            <a:ext cx="11718582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FBFA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Good (agentic)</a:t>
            </a:r>
          </a:p>
        </p:txBody>
      </p:sp>
      <p:sp>
        <p:nvSpPr>
          <p:cNvPr id="287" name="Shape 62"/>
          <p:cNvSpPr/>
          <p:nvPr/>
        </p:nvSpPr>
        <p:spPr>
          <a:xfrm>
            <a:off x="609600" y="6590854"/>
            <a:ext cx="17068800" cy="440383"/>
          </a:xfrm>
          <a:prstGeom prst="rect">
            <a:avLst/>
          </a:prstGeom>
          <a:solidFill>
            <a:srgbClr val="F5F2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63"/>
          <p:cNvSpPr txBox="1"/>
          <p:nvPr/>
        </p:nvSpPr>
        <p:spPr>
          <a:xfrm>
            <a:off x="762000" y="6667054"/>
            <a:ext cx="1219200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Cooking</a:t>
            </a:r>
          </a:p>
        </p:txBody>
      </p:sp>
      <p:sp>
        <p:nvSpPr>
          <p:cNvPr id="289" name="Text 64"/>
          <p:cNvSpPr txBox="1"/>
          <p:nvPr/>
        </p:nvSpPr>
        <p:spPr>
          <a:xfrm>
            <a:off x="2209800" y="6667054"/>
            <a:ext cx="3761450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"Generate a recipe"</a:t>
            </a:r>
          </a:p>
        </p:txBody>
      </p:sp>
      <p:sp>
        <p:nvSpPr>
          <p:cNvPr id="290" name="Text 65"/>
          <p:cNvSpPr txBox="1"/>
          <p:nvPr/>
        </p:nvSpPr>
        <p:spPr>
          <a:xfrm>
            <a:off x="6157614" y="6667054"/>
            <a:ext cx="11718582" cy="326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Fridge agent: reads the inventory, searches real recipes, reacts to what's missing, writes the shopping list</a:t>
            </a:r>
          </a:p>
        </p:txBody>
      </p:sp>
      <p:sp>
        <p:nvSpPr>
          <p:cNvPr id="291" name="Text 66"/>
          <p:cNvSpPr txBox="1"/>
          <p:nvPr/>
        </p:nvSpPr>
        <p:spPr>
          <a:xfrm>
            <a:off x="762000" y="7107435"/>
            <a:ext cx="121920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292" name="Text 67"/>
          <p:cNvSpPr txBox="1"/>
          <p:nvPr/>
        </p:nvSpPr>
        <p:spPr>
          <a:xfrm>
            <a:off x="2209800" y="7107435"/>
            <a:ext cx="376145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"Summarize this ticket"</a:t>
            </a:r>
          </a:p>
        </p:txBody>
      </p:sp>
      <p:sp>
        <p:nvSpPr>
          <p:cNvPr id="293" name="Text 68"/>
          <p:cNvSpPr txBox="1"/>
          <p:nvPr/>
        </p:nvSpPr>
        <p:spPr>
          <a:xfrm>
            <a:off x="6157614" y="7107435"/>
            <a:ext cx="11718582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Triage: classifies, searches the KB (RAG), drafts a reply, </a:t>
            </a:r>
            <a:r>
              <a:rPr b="1"/>
              <a:t>decides </a:t>
            </a:r>
            <a:r>
              <a:t>whether to escalate</a:t>
            </a:r>
          </a:p>
        </p:txBody>
      </p:sp>
      <p:sp>
        <p:nvSpPr>
          <p:cNvPr id="294" name="Shape 69"/>
          <p:cNvSpPr/>
          <p:nvPr/>
        </p:nvSpPr>
        <p:spPr>
          <a:xfrm>
            <a:off x="609600" y="7481143"/>
            <a:ext cx="17068800" cy="449908"/>
          </a:xfrm>
          <a:prstGeom prst="rect">
            <a:avLst/>
          </a:prstGeom>
          <a:solidFill>
            <a:srgbClr val="F5F2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70"/>
          <p:cNvSpPr txBox="1"/>
          <p:nvPr/>
        </p:nvSpPr>
        <p:spPr>
          <a:xfrm>
            <a:off x="762000" y="7557343"/>
            <a:ext cx="121920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Docs</a:t>
            </a:r>
          </a:p>
        </p:txBody>
      </p:sp>
      <p:sp>
        <p:nvSpPr>
          <p:cNvPr id="296" name="Text 71"/>
          <p:cNvSpPr txBox="1"/>
          <p:nvPr/>
        </p:nvSpPr>
        <p:spPr>
          <a:xfrm>
            <a:off x="2209800" y="7557343"/>
            <a:ext cx="376145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Q&amp;A chatbot on 1 PDF (RAG only)</a:t>
            </a:r>
          </a:p>
        </p:txBody>
      </p:sp>
      <p:sp>
        <p:nvSpPr>
          <p:cNvPr id="297" name="Text 72"/>
          <p:cNvSpPr txBox="1"/>
          <p:nvPr/>
        </p:nvSpPr>
        <p:spPr>
          <a:xfrm>
            <a:off x="6157614" y="7557343"/>
            <a:ext cx="11718582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Research agent: decides what to search, reads, </a:t>
            </a:r>
            <a:r>
              <a:rPr b="1"/>
              <a:t>re-runs </a:t>
            </a:r>
            <a:r>
              <a:t>searches, synthesizes with sources</a:t>
            </a:r>
          </a:p>
        </p:txBody>
      </p:sp>
      <p:sp>
        <p:nvSpPr>
          <p:cNvPr id="298" name="Text 73"/>
          <p:cNvSpPr txBox="1"/>
          <p:nvPr/>
        </p:nvSpPr>
        <p:spPr>
          <a:xfrm>
            <a:off x="762000" y="8007250"/>
            <a:ext cx="121920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Travel</a:t>
            </a:r>
          </a:p>
        </p:txBody>
      </p:sp>
      <p:sp>
        <p:nvSpPr>
          <p:cNvPr id="299" name="Text 74"/>
          <p:cNvSpPr txBox="1"/>
          <p:nvPr/>
        </p:nvSpPr>
        <p:spPr>
          <a:xfrm>
            <a:off x="2209800" y="8007250"/>
            <a:ext cx="376145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"What to do in Lisbon?"</a:t>
            </a:r>
          </a:p>
        </p:txBody>
      </p:sp>
      <p:sp>
        <p:nvSpPr>
          <p:cNvPr id="300" name="Text 75"/>
          <p:cNvSpPr txBox="1"/>
          <p:nvPr/>
        </p:nvSpPr>
        <p:spPr>
          <a:xfrm>
            <a:off x="6157614" y="8007250"/>
            <a:ext cx="11718582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Planner: searches flights/hotels, </a:t>
            </a:r>
            <a:r>
              <a:rPr b="1"/>
              <a:t>iterates </a:t>
            </a:r>
            <a:r>
              <a:t>to stay on budget, plans around the weather</a:t>
            </a:r>
          </a:p>
        </p:txBody>
      </p:sp>
      <p:sp>
        <p:nvSpPr>
          <p:cNvPr id="301" name="Shape 76"/>
          <p:cNvSpPr/>
          <p:nvPr/>
        </p:nvSpPr>
        <p:spPr>
          <a:xfrm>
            <a:off x="609600" y="8380958"/>
            <a:ext cx="17068800" cy="449908"/>
          </a:xfrm>
          <a:prstGeom prst="rect">
            <a:avLst/>
          </a:prstGeom>
          <a:solidFill>
            <a:srgbClr val="F5F2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77"/>
          <p:cNvSpPr txBox="1"/>
          <p:nvPr/>
        </p:nvSpPr>
        <p:spPr>
          <a:xfrm>
            <a:off x="762000" y="8457158"/>
            <a:ext cx="121920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 b="1"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303" name="Text 78"/>
          <p:cNvSpPr txBox="1"/>
          <p:nvPr/>
        </p:nvSpPr>
        <p:spPr>
          <a:xfrm>
            <a:off x="2209800" y="8457158"/>
            <a:ext cx="3761450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"Explain this code"</a:t>
            </a:r>
          </a:p>
        </p:txBody>
      </p:sp>
      <p:sp>
        <p:nvSpPr>
          <p:cNvPr id="304" name="Text 79"/>
          <p:cNvSpPr txBox="1"/>
          <p:nvPr/>
        </p:nvSpPr>
        <p:spPr>
          <a:xfrm>
            <a:off x="6157614" y="8457158"/>
            <a:ext cx="11718582" cy="3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26000"/>
              </a:lnSpc>
              <a:defRPr>
                <a:solidFill>
                  <a:srgbClr val="1B1A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Repo agent: greps/reads files, runs tests, </a:t>
            </a:r>
            <a:r>
              <a:rPr b="1"/>
              <a:t>iterates </a:t>
            </a:r>
            <a:r>
              <a:t>to answer/fix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HACKATHON</a:t>
            </a:r>
          </a:p>
        </p:txBody>
      </p:sp>
      <p:sp>
        <p:nvSpPr>
          <p:cNvPr id="309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Hackathon deliverables</a:t>
            </a:r>
          </a:p>
        </p:txBody>
      </p:sp>
      <p:sp>
        <p:nvSpPr>
          <p:cNvPr id="310" name="Shape 2"/>
          <p:cNvSpPr/>
          <p:nvPr/>
        </p:nvSpPr>
        <p:spPr>
          <a:xfrm>
            <a:off x="1047750" y="4495800"/>
            <a:ext cx="3862388" cy="2233614"/>
          </a:xfrm>
          <a:prstGeom prst="roundRect">
            <a:avLst>
              <a:gd name="adj" fmla="val 6823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3"/>
          <p:cNvSpPr txBox="1"/>
          <p:nvPr/>
        </p:nvSpPr>
        <p:spPr>
          <a:xfrm>
            <a:off x="1362074" y="4886324"/>
            <a:ext cx="3557113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POC</a:t>
            </a:r>
          </a:p>
        </p:txBody>
      </p:sp>
      <p:sp>
        <p:nvSpPr>
          <p:cNvPr id="312" name="Text 4"/>
          <p:cNvSpPr txBox="1"/>
          <p:nvPr/>
        </p:nvSpPr>
        <p:spPr>
          <a:xfrm>
            <a:off x="1362074" y="5338762"/>
            <a:ext cx="3557113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Working POC</a:t>
            </a:r>
          </a:p>
        </p:txBody>
      </p:sp>
      <p:sp>
        <p:nvSpPr>
          <p:cNvPr id="313" name="Text 5"/>
          <p:cNvSpPr txBox="1"/>
          <p:nvPr/>
        </p:nvSpPr>
        <p:spPr>
          <a:xfrm>
            <a:off x="1362074" y="5786437"/>
            <a:ext cx="355711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Runs end-to-end.</a:t>
            </a:r>
          </a:p>
        </p:txBody>
      </p:sp>
      <p:sp>
        <p:nvSpPr>
          <p:cNvPr id="314" name="Shape 6"/>
          <p:cNvSpPr/>
          <p:nvPr/>
        </p:nvSpPr>
        <p:spPr>
          <a:xfrm>
            <a:off x="5157787" y="4495800"/>
            <a:ext cx="3862388" cy="2233614"/>
          </a:xfrm>
          <a:prstGeom prst="roundRect">
            <a:avLst>
              <a:gd name="adj" fmla="val 6823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7"/>
          <p:cNvSpPr txBox="1"/>
          <p:nvPr/>
        </p:nvSpPr>
        <p:spPr>
          <a:xfrm>
            <a:off x="5472112" y="4886324"/>
            <a:ext cx="3557112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316" name="Text 8"/>
          <p:cNvSpPr txBox="1"/>
          <p:nvPr/>
        </p:nvSpPr>
        <p:spPr>
          <a:xfrm>
            <a:off x="5472112" y="5338762"/>
            <a:ext cx="3557112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317" name="Text 9"/>
          <p:cNvSpPr txBox="1"/>
          <p:nvPr/>
        </p:nvSpPr>
        <p:spPr>
          <a:xfrm>
            <a:off x="5472112" y="5786437"/>
            <a:ext cx="3557112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Short, shown live.</a:t>
            </a:r>
          </a:p>
        </p:txBody>
      </p:sp>
      <p:sp>
        <p:nvSpPr>
          <p:cNvPr id="318" name="Shape 10"/>
          <p:cNvSpPr/>
          <p:nvPr/>
        </p:nvSpPr>
        <p:spPr>
          <a:xfrm>
            <a:off x="9267825" y="4495800"/>
            <a:ext cx="3862388" cy="2233614"/>
          </a:xfrm>
          <a:prstGeom prst="roundRect">
            <a:avLst>
              <a:gd name="adj" fmla="val 6823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11"/>
          <p:cNvSpPr txBox="1"/>
          <p:nvPr/>
        </p:nvSpPr>
        <p:spPr>
          <a:xfrm>
            <a:off x="9582149" y="4886324"/>
            <a:ext cx="3557113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PITCH</a:t>
            </a:r>
          </a:p>
        </p:txBody>
      </p:sp>
      <p:sp>
        <p:nvSpPr>
          <p:cNvPr id="320" name="Text 12"/>
          <p:cNvSpPr txBox="1"/>
          <p:nvPr/>
        </p:nvSpPr>
        <p:spPr>
          <a:xfrm>
            <a:off x="9582149" y="5338762"/>
            <a:ext cx="3557113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Pitch</a:t>
            </a:r>
          </a:p>
        </p:txBody>
      </p:sp>
      <p:sp>
        <p:nvSpPr>
          <p:cNvPr id="321" name="Text 13"/>
          <p:cNvSpPr txBox="1"/>
          <p:nvPr/>
        </p:nvSpPr>
        <p:spPr>
          <a:xfrm>
            <a:off x="9582149" y="5786437"/>
            <a:ext cx="355711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few slides.</a:t>
            </a:r>
          </a:p>
        </p:txBody>
      </p:sp>
      <p:sp>
        <p:nvSpPr>
          <p:cNvPr id="322" name="Shape 14"/>
          <p:cNvSpPr/>
          <p:nvPr/>
        </p:nvSpPr>
        <p:spPr>
          <a:xfrm>
            <a:off x="13377862" y="4495800"/>
            <a:ext cx="3862388" cy="2233614"/>
          </a:xfrm>
          <a:prstGeom prst="roundRect">
            <a:avLst>
              <a:gd name="adj" fmla="val 6823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5"/>
          <p:cNvSpPr txBox="1"/>
          <p:nvPr/>
        </p:nvSpPr>
        <p:spPr>
          <a:xfrm>
            <a:off x="13692187" y="4886324"/>
            <a:ext cx="3557112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REPO</a:t>
            </a:r>
          </a:p>
        </p:txBody>
      </p:sp>
      <p:sp>
        <p:nvSpPr>
          <p:cNvPr id="324" name="Text 16"/>
          <p:cNvSpPr txBox="1"/>
          <p:nvPr/>
        </p:nvSpPr>
        <p:spPr>
          <a:xfrm>
            <a:off x="13692187" y="5338762"/>
            <a:ext cx="3557112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Clean repo</a:t>
            </a:r>
          </a:p>
        </p:txBody>
      </p:sp>
      <p:sp>
        <p:nvSpPr>
          <p:cNvPr id="325" name="Text 17"/>
          <p:cNvSpPr txBox="1"/>
          <p:nvPr/>
        </p:nvSpPr>
        <p:spPr>
          <a:xfrm>
            <a:off x="13692187" y="5786437"/>
            <a:ext cx="3330751" cy="590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API key · requirements.txt · README.</a:t>
            </a:r>
          </a:p>
        </p:txBody>
      </p:sp>
      <p:sp>
        <p:nvSpPr>
          <p:cNvPr id="326" name="Text 18"/>
          <p:cNvSpPr txBox="1"/>
          <p:nvPr/>
        </p:nvSpPr>
        <p:spPr>
          <a:xfrm>
            <a:off x="1047750" y="9186863"/>
            <a:ext cx="17811750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77823">
              <a:defRPr sz="1919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Everything lives in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projet/ </a:t>
            </a:r>
            <a:r>
              <a:t>folder.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GRADING · HACKATHON · 70%</a:t>
            </a:r>
          </a:p>
        </p:txBody>
      </p:sp>
      <p:sp>
        <p:nvSpPr>
          <p:cNvPr id="331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Hackathon grading rubric</a:t>
            </a:r>
          </a:p>
        </p:txBody>
      </p:sp>
      <p:sp>
        <p:nvSpPr>
          <p:cNvPr id="332" name="Text 2"/>
          <p:cNvSpPr txBox="1"/>
          <p:nvPr/>
        </p:nvSpPr>
        <p:spPr>
          <a:xfrm>
            <a:off x="1219200" y="2495549"/>
            <a:ext cx="9358629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DIMENSION</a:t>
            </a:r>
          </a:p>
        </p:txBody>
      </p:sp>
      <p:sp>
        <p:nvSpPr>
          <p:cNvPr id="333" name="Text 3"/>
          <p:cNvSpPr txBox="1"/>
          <p:nvPr/>
        </p:nvSpPr>
        <p:spPr>
          <a:xfrm>
            <a:off x="10561959" y="2495549"/>
            <a:ext cx="1823890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WEIGHT</a:t>
            </a:r>
          </a:p>
        </p:txBody>
      </p:sp>
      <p:sp>
        <p:nvSpPr>
          <p:cNvPr id="334" name="Text 4"/>
          <p:cNvSpPr txBox="1"/>
          <p:nvPr/>
        </p:nvSpPr>
        <p:spPr>
          <a:xfrm>
            <a:off x="12652548" y="2495549"/>
            <a:ext cx="2074665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TRACK 1</a:t>
            </a:r>
          </a:p>
        </p:txBody>
      </p:sp>
      <p:sp>
        <p:nvSpPr>
          <p:cNvPr id="335" name="Text 5"/>
          <p:cNvSpPr txBox="1"/>
          <p:nvPr/>
        </p:nvSpPr>
        <p:spPr>
          <a:xfrm>
            <a:off x="14993912" y="2495549"/>
            <a:ext cx="2074887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TRACK 2</a:t>
            </a:r>
          </a:p>
        </p:txBody>
      </p:sp>
      <p:sp>
        <p:nvSpPr>
          <p:cNvPr id="336" name="Shape 6"/>
          <p:cNvSpPr/>
          <p:nvPr/>
        </p:nvSpPr>
        <p:spPr>
          <a:xfrm>
            <a:off x="1047750" y="2909888"/>
            <a:ext cx="16192500" cy="647701"/>
          </a:xfrm>
          <a:prstGeom prst="rect">
            <a:avLst/>
          </a:prstGeom>
          <a:solidFill>
            <a:srgbClr val="F3E3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Shape 7"/>
          <p:cNvSpPr/>
          <p:nvPr/>
        </p:nvSpPr>
        <p:spPr>
          <a:xfrm>
            <a:off x="1047750" y="2908300"/>
            <a:ext cx="1619250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8"/>
          <p:cNvSpPr txBox="1"/>
          <p:nvPr/>
        </p:nvSpPr>
        <p:spPr>
          <a:xfrm>
            <a:off x="1219200" y="3081338"/>
            <a:ext cx="935862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/>
          <a:p>
            <a:pPr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Agentic toolkit </a:t>
            </a:r>
            <a:r>
              <a:rPr>
                <a:solidFill>
                  <a:srgbClr val="C05F38"/>
                </a:solidFill>
              </a:rPr>
              <a:t>+ features </a:t>
            </a:r>
            <a:r>
              <a:rPr b="0" sz="1800">
                <a:solidFill>
                  <a:srgbClr val="74695B"/>
                </a:solidFill>
              </a:rPr>
              <a:t>(more → more points)</a:t>
            </a:r>
          </a:p>
        </p:txBody>
      </p:sp>
      <p:sp>
        <p:nvSpPr>
          <p:cNvPr id="339" name="Text 9"/>
          <p:cNvSpPr txBox="1"/>
          <p:nvPr/>
        </p:nvSpPr>
        <p:spPr>
          <a:xfrm>
            <a:off x="10561959" y="3081338"/>
            <a:ext cx="182389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340" name="Text 10"/>
          <p:cNvSpPr txBox="1"/>
          <p:nvPr/>
        </p:nvSpPr>
        <p:spPr>
          <a:xfrm>
            <a:off x="12652548" y="3081338"/>
            <a:ext cx="20746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41" name="Text 11"/>
          <p:cNvSpPr txBox="1"/>
          <p:nvPr/>
        </p:nvSpPr>
        <p:spPr>
          <a:xfrm>
            <a:off x="14993912" y="3081338"/>
            <a:ext cx="207488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2" name="Shape 12"/>
          <p:cNvSpPr/>
          <p:nvPr/>
        </p:nvSpPr>
        <p:spPr>
          <a:xfrm>
            <a:off x="1047750" y="3556000"/>
            <a:ext cx="1619250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13"/>
          <p:cNvSpPr txBox="1"/>
          <p:nvPr/>
        </p:nvSpPr>
        <p:spPr>
          <a:xfrm>
            <a:off x="1219200" y="3709987"/>
            <a:ext cx="9358629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Working POC + live demo</a:t>
            </a:r>
          </a:p>
        </p:txBody>
      </p:sp>
      <p:sp>
        <p:nvSpPr>
          <p:cNvPr id="344" name="Text 14"/>
          <p:cNvSpPr txBox="1"/>
          <p:nvPr/>
        </p:nvSpPr>
        <p:spPr>
          <a:xfrm>
            <a:off x="10561959" y="3709987"/>
            <a:ext cx="1823890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345" name="Text 15"/>
          <p:cNvSpPr txBox="1"/>
          <p:nvPr/>
        </p:nvSpPr>
        <p:spPr>
          <a:xfrm>
            <a:off x="12652548" y="3709987"/>
            <a:ext cx="207466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6" name="Text 16"/>
          <p:cNvSpPr txBox="1"/>
          <p:nvPr/>
        </p:nvSpPr>
        <p:spPr>
          <a:xfrm>
            <a:off x="14993912" y="3709987"/>
            <a:ext cx="2074887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7" name="Shape 17"/>
          <p:cNvSpPr/>
          <p:nvPr/>
        </p:nvSpPr>
        <p:spPr>
          <a:xfrm>
            <a:off x="1047750" y="4170362"/>
            <a:ext cx="1619250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18"/>
          <p:cNvSpPr txBox="1"/>
          <p:nvPr/>
        </p:nvSpPr>
        <p:spPr>
          <a:xfrm>
            <a:off x="1219200" y="4324349"/>
            <a:ext cx="9358629" cy="34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Ambition, originality &amp; usefulness</a:t>
            </a:r>
          </a:p>
        </p:txBody>
      </p:sp>
      <p:sp>
        <p:nvSpPr>
          <p:cNvPr id="349" name="Text 19"/>
          <p:cNvSpPr txBox="1"/>
          <p:nvPr/>
        </p:nvSpPr>
        <p:spPr>
          <a:xfrm>
            <a:off x="10561959" y="4324349"/>
            <a:ext cx="1823890" cy="34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350" name="Text 20"/>
          <p:cNvSpPr txBox="1"/>
          <p:nvPr/>
        </p:nvSpPr>
        <p:spPr>
          <a:xfrm>
            <a:off x="12652548" y="4324349"/>
            <a:ext cx="2074665" cy="34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1" name="Text 21"/>
          <p:cNvSpPr txBox="1"/>
          <p:nvPr/>
        </p:nvSpPr>
        <p:spPr>
          <a:xfrm>
            <a:off x="14993912" y="4324349"/>
            <a:ext cx="2074887" cy="34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2" name="Shape 22"/>
          <p:cNvSpPr/>
          <p:nvPr/>
        </p:nvSpPr>
        <p:spPr>
          <a:xfrm>
            <a:off x="1047750" y="4784725"/>
            <a:ext cx="1619250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 23"/>
          <p:cNvSpPr txBox="1"/>
          <p:nvPr/>
        </p:nvSpPr>
        <p:spPr>
          <a:xfrm>
            <a:off x="1219200" y="4938712"/>
            <a:ext cx="9358629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Code quality &amp; repo hygiene</a:t>
            </a:r>
          </a:p>
        </p:txBody>
      </p:sp>
      <p:sp>
        <p:nvSpPr>
          <p:cNvPr id="354" name="Text 24"/>
          <p:cNvSpPr txBox="1"/>
          <p:nvPr/>
        </p:nvSpPr>
        <p:spPr>
          <a:xfrm>
            <a:off x="10561959" y="4938712"/>
            <a:ext cx="1823890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355" name="Text 25"/>
          <p:cNvSpPr txBox="1"/>
          <p:nvPr/>
        </p:nvSpPr>
        <p:spPr>
          <a:xfrm>
            <a:off x="12652548" y="4938712"/>
            <a:ext cx="207466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6" name="Text 26"/>
          <p:cNvSpPr txBox="1"/>
          <p:nvPr/>
        </p:nvSpPr>
        <p:spPr>
          <a:xfrm>
            <a:off x="14993912" y="4938712"/>
            <a:ext cx="2074887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7" name="Shape 27"/>
          <p:cNvSpPr/>
          <p:nvPr/>
        </p:nvSpPr>
        <p:spPr>
          <a:xfrm>
            <a:off x="1047750" y="5399087"/>
            <a:ext cx="16192500" cy="12701"/>
          </a:xfrm>
          <a:prstGeom prst="rect">
            <a:avLst/>
          </a:prstGeom>
          <a:solidFill>
            <a:srgbClr val="E2D8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28"/>
          <p:cNvSpPr txBox="1"/>
          <p:nvPr/>
        </p:nvSpPr>
        <p:spPr>
          <a:xfrm>
            <a:off x="1219200" y="5553075"/>
            <a:ext cx="9358629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Pitch &amp; demo clarity</a:t>
            </a:r>
          </a:p>
        </p:txBody>
      </p:sp>
      <p:sp>
        <p:nvSpPr>
          <p:cNvPr id="359" name="Text 29"/>
          <p:cNvSpPr txBox="1"/>
          <p:nvPr/>
        </p:nvSpPr>
        <p:spPr>
          <a:xfrm>
            <a:off x="10561959" y="5553075"/>
            <a:ext cx="182389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360" name="Text 30"/>
          <p:cNvSpPr txBox="1"/>
          <p:nvPr/>
        </p:nvSpPr>
        <p:spPr>
          <a:xfrm>
            <a:off x="12652548" y="5553075"/>
            <a:ext cx="207466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1" name="Text 31"/>
          <p:cNvSpPr txBox="1"/>
          <p:nvPr/>
        </p:nvSpPr>
        <p:spPr>
          <a:xfrm>
            <a:off x="14993912" y="5553075"/>
            <a:ext cx="2074887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2" name="Shape 32"/>
          <p:cNvSpPr/>
          <p:nvPr/>
        </p:nvSpPr>
        <p:spPr>
          <a:xfrm>
            <a:off x="1047750" y="6019800"/>
            <a:ext cx="16192500" cy="19050"/>
          </a:xfrm>
          <a:prstGeom prst="rect">
            <a:avLst/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33"/>
          <p:cNvSpPr txBox="1"/>
          <p:nvPr/>
        </p:nvSpPr>
        <p:spPr>
          <a:xfrm>
            <a:off x="1219200" y="6172200"/>
            <a:ext cx="9358629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364" name="Text 34"/>
          <p:cNvSpPr txBox="1"/>
          <p:nvPr/>
        </p:nvSpPr>
        <p:spPr>
          <a:xfrm>
            <a:off x="10561959" y="6172200"/>
            <a:ext cx="1823890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65" name="Text 35"/>
          <p:cNvSpPr txBox="1"/>
          <p:nvPr/>
        </p:nvSpPr>
        <p:spPr>
          <a:xfrm>
            <a:off x="12652548" y="6172200"/>
            <a:ext cx="2074665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66" name="Text 36"/>
          <p:cNvSpPr txBox="1"/>
          <p:nvPr/>
        </p:nvSpPr>
        <p:spPr>
          <a:xfrm>
            <a:off x="14993912" y="6172200"/>
            <a:ext cx="2074887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r">
              <a:defRPr b="1" sz="20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67" name="Text 37"/>
          <p:cNvSpPr txBox="1"/>
          <p:nvPr/>
        </p:nvSpPr>
        <p:spPr>
          <a:xfrm>
            <a:off x="1047750" y="6953249"/>
            <a:ext cx="17811750" cy="328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highlighted row is where you earn the most — </a:t>
            </a:r>
            <a:r>
              <a:rPr b="1"/>
              <a:t>ship more features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PEER EVALUATION</a:t>
            </a:r>
          </a:p>
        </p:txBody>
      </p:sp>
      <p:sp>
        <p:nvSpPr>
          <p:cNvPr id="372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Peer evaluation → +1 bonus</a:t>
            </a:r>
          </a:p>
        </p:txBody>
      </p:sp>
      <p:sp>
        <p:nvSpPr>
          <p:cNvPr id="373" name="Shape 2"/>
          <p:cNvSpPr/>
          <p:nvPr/>
        </p:nvSpPr>
        <p:spPr>
          <a:xfrm>
            <a:off x="1047750" y="4341019"/>
            <a:ext cx="9786939" cy="1238251"/>
          </a:xfrm>
          <a:prstGeom prst="roundRect">
            <a:avLst>
              <a:gd name="adj" fmla="val 10769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3"/>
          <p:cNvSpPr txBox="1"/>
          <p:nvPr/>
        </p:nvSpPr>
        <p:spPr>
          <a:xfrm>
            <a:off x="1390649" y="4662487"/>
            <a:ext cx="3814466" cy="633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400" tIns="25400" rIns="25400" bIns="25400">
            <a:normAutofit fontScale="100000" lnSpcReduction="0"/>
          </a:bodyPr>
          <a:lstStyle>
            <a:lvl1pPr>
              <a:defRPr b="1" sz="4000">
                <a:solidFill>
                  <a:srgbClr val="E08B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SCORE ≠ grade</a:t>
            </a:r>
          </a:p>
        </p:txBody>
      </p:sp>
      <p:sp>
        <p:nvSpPr>
          <p:cNvPr id="375" name="Text 4"/>
          <p:cNvSpPr txBox="1"/>
          <p:nvPr/>
        </p:nvSpPr>
        <p:spPr>
          <a:xfrm>
            <a:off x="5331990" y="4626769"/>
            <a:ext cx="5314592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C9BF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part of your project grade — it only decides the bonus.</a:t>
            </a:r>
          </a:p>
        </p:txBody>
      </p:sp>
      <p:sp>
        <p:nvSpPr>
          <p:cNvPr id="376" name="Text 5"/>
          <p:cNvSpPr txBox="1"/>
          <p:nvPr/>
        </p:nvSpPr>
        <p:spPr>
          <a:xfrm>
            <a:off x="1047750" y="5865019"/>
            <a:ext cx="10080546" cy="866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You rate every other group on </a:t>
            </a:r>
            <a:r>
              <a:rPr b="1"/>
              <a:t>4 criteria, each 1–10 </a:t>
            </a:r>
            <a:r>
              <a:t>: clarity · demo · usefulness · pitch. The </a:t>
            </a:r>
            <a:r>
              <a:rPr b="1">
                <a:solidFill>
                  <a:srgbClr val="C05F38"/>
                </a:solidFill>
              </a:rPr>
              <a:t>top group gets +1 </a:t>
            </a:r>
            <a:r>
              <a:t>on its final grade.</a:t>
            </a:r>
          </a:p>
        </p:txBody>
      </p:sp>
      <p:sp>
        <p:nvSpPr>
          <p:cNvPr id="377" name="Shape 6"/>
          <p:cNvSpPr/>
          <p:nvPr/>
        </p:nvSpPr>
        <p:spPr>
          <a:xfrm>
            <a:off x="1047750" y="6884193"/>
            <a:ext cx="894830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7"/>
          <p:cNvSpPr txBox="1"/>
          <p:nvPr/>
        </p:nvSpPr>
        <p:spPr>
          <a:xfrm>
            <a:off x="1019174" y="7027068"/>
            <a:ext cx="95198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9" name="Shape 8"/>
          <p:cNvSpPr/>
          <p:nvPr/>
        </p:nvSpPr>
        <p:spPr>
          <a:xfrm>
            <a:off x="2037828" y="6884193"/>
            <a:ext cx="894905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9"/>
          <p:cNvSpPr txBox="1"/>
          <p:nvPr/>
        </p:nvSpPr>
        <p:spPr>
          <a:xfrm>
            <a:off x="2009253" y="7027068"/>
            <a:ext cx="95205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1" name="Shape 10"/>
          <p:cNvSpPr/>
          <p:nvPr/>
        </p:nvSpPr>
        <p:spPr>
          <a:xfrm>
            <a:off x="3027983" y="6884193"/>
            <a:ext cx="894830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11"/>
          <p:cNvSpPr txBox="1"/>
          <p:nvPr/>
        </p:nvSpPr>
        <p:spPr>
          <a:xfrm>
            <a:off x="2999408" y="7027068"/>
            <a:ext cx="95198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83" name="Shape 12"/>
          <p:cNvSpPr/>
          <p:nvPr/>
        </p:nvSpPr>
        <p:spPr>
          <a:xfrm>
            <a:off x="4018062" y="6884193"/>
            <a:ext cx="894905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13"/>
          <p:cNvSpPr txBox="1"/>
          <p:nvPr/>
        </p:nvSpPr>
        <p:spPr>
          <a:xfrm>
            <a:off x="3989487" y="7027068"/>
            <a:ext cx="95205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5" name="Shape 14"/>
          <p:cNvSpPr/>
          <p:nvPr/>
        </p:nvSpPr>
        <p:spPr>
          <a:xfrm>
            <a:off x="5008214" y="6884193"/>
            <a:ext cx="894830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15"/>
          <p:cNvSpPr txBox="1"/>
          <p:nvPr/>
        </p:nvSpPr>
        <p:spPr>
          <a:xfrm>
            <a:off x="4979639" y="7027068"/>
            <a:ext cx="95198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7" name="Shape 16"/>
          <p:cNvSpPr/>
          <p:nvPr/>
        </p:nvSpPr>
        <p:spPr>
          <a:xfrm>
            <a:off x="5998293" y="6884193"/>
            <a:ext cx="894905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17"/>
          <p:cNvSpPr txBox="1"/>
          <p:nvPr/>
        </p:nvSpPr>
        <p:spPr>
          <a:xfrm>
            <a:off x="5969718" y="7027068"/>
            <a:ext cx="95205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9" name="Shape 18"/>
          <p:cNvSpPr/>
          <p:nvPr/>
        </p:nvSpPr>
        <p:spPr>
          <a:xfrm>
            <a:off x="6988447" y="6884193"/>
            <a:ext cx="894830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9"/>
          <p:cNvSpPr txBox="1"/>
          <p:nvPr/>
        </p:nvSpPr>
        <p:spPr>
          <a:xfrm>
            <a:off x="6959872" y="7027068"/>
            <a:ext cx="95198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91" name="Shape 20"/>
          <p:cNvSpPr/>
          <p:nvPr/>
        </p:nvSpPr>
        <p:spPr>
          <a:xfrm>
            <a:off x="7978526" y="6884193"/>
            <a:ext cx="894905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21"/>
          <p:cNvSpPr txBox="1"/>
          <p:nvPr/>
        </p:nvSpPr>
        <p:spPr>
          <a:xfrm>
            <a:off x="7949951" y="7027068"/>
            <a:ext cx="95205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93" name="Shape 22"/>
          <p:cNvSpPr/>
          <p:nvPr/>
        </p:nvSpPr>
        <p:spPr>
          <a:xfrm>
            <a:off x="8968679" y="6884193"/>
            <a:ext cx="894905" cy="585789"/>
          </a:xfrm>
          <a:prstGeom prst="roundRect">
            <a:avLst>
              <a:gd name="adj" fmla="val 13008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23"/>
          <p:cNvSpPr txBox="1"/>
          <p:nvPr/>
        </p:nvSpPr>
        <p:spPr>
          <a:xfrm>
            <a:off x="8940104" y="7027068"/>
            <a:ext cx="95205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95" name="Shape 24"/>
          <p:cNvSpPr/>
          <p:nvPr/>
        </p:nvSpPr>
        <p:spPr>
          <a:xfrm>
            <a:off x="9958833" y="6884193"/>
            <a:ext cx="875855" cy="585789"/>
          </a:xfrm>
          <a:prstGeom prst="roundRect">
            <a:avLst>
              <a:gd name="adj" fmla="val 13008"/>
            </a:avLst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25"/>
          <p:cNvSpPr txBox="1"/>
          <p:nvPr/>
        </p:nvSpPr>
        <p:spPr>
          <a:xfrm>
            <a:off x="9920733" y="7017543"/>
            <a:ext cx="952055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defRPr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97" name="Shape 26"/>
          <p:cNvSpPr/>
          <p:nvPr/>
        </p:nvSpPr>
        <p:spPr>
          <a:xfrm>
            <a:off x="12732543" y="4088605"/>
            <a:ext cx="3143251" cy="3143251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9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970668" y="4326730"/>
            <a:ext cx="2667001" cy="2667001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ext 27"/>
          <p:cNvSpPr txBox="1"/>
          <p:nvPr/>
        </p:nvSpPr>
        <p:spPr>
          <a:xfrm>
            <a:off x="12690350" y="7422356"/>
            <a:ext cx="355031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SCAN → EVALUATION 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GROUND RULES</a:t>
            </a:r>
          </a:p>
        </p:txBody>
      </p:sp>
      <p:sp>
        <p:nvSpPr>
          <p:cNvPr id="404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you may use</a:t>
            </a:r>
          </a:p>
        </p:txBody>
      </p:sp>
      <p:sp>
        <p:nvSpPr>
          <p:cNvPr id="405" name="Shape 2"/>
          <p:cNvSpPr/>
          <p:nvPr/>
        </p:nvSpPr>
        <p:spPr>
          <a:xfrm>
            <a:off x="1047750" y="4143375"/>
            <a:ext cx="7962900" cy="1443038"/>
          </a:xfrm>
          <a:prstGeom prst="roundRect">
            <a:avLst>
              <a:gd name="adj" fmla="val 10561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3"/>
          <p:cNvSpPr txBox="1"/>
          <p:nvPr/>
        </p:nvSpPr>
        <p:spPr>
          <a:xfrm>
            <a:off x="1438275" y="4495800"/>
            <a:ext cx="7900035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5 labs are your toolkit</a:t>
            </a:r>
          </a:p>
        </p:txBody>
      </p:sp>
      <p:sp>
        <p:nvSpPr>
          <p:cNvPr id="407" name="Text 4"/>
          <p:cNvSpPr txBox="1"/>
          <p:nvPr/>
        </p:nvSpPr>
        <p:spPr>
          <a:xfrm>
            <a:off x="1438275" y="4943474"/>
            <a:ext cx="7900035" cy="328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Reuse RAG / MCP / agent — at least one, ideally combined.</a:t>
            </a:r>
          </a:p>
        </p:txBody>
      </p:sp>
      <p:sp>
        <p:nvSpPr>
          <p:cNvPr id="408" name="Shape 5"/>
          <p:cNvSpPr/>
          <p:nvPr/>
        </p:nvSpPr>
        <p:spPr>
          <a:xfrm>
            <a:off x="9277350" y="4143375"/>
            <a:ext cx="7962900" cy="1443038"/>
          </a:xfrm>
          <a:prstGeom prst="roundRect">
            <a:avLst>
              <a:gd name="adj" fmla="val 10561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6"/>
          <p:cNvSpPr txBox="1"/>
          <p:nvPr/>
        </p:nvSpPr>
        <p:spPr>
          <a:xfrm>
            <a:off x="9667875" y="4495800"/>
            <a:ext cx="7900035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frameworks allowed</a:t>
            </a:r>
          </a:p>
        </p:txBody>
      </p:sp>
      <p:sp>
        <p:nvSpPr>
          <p:cNvPr id="410" name="Text 7"/>
          <p:cNvSpPr txBox="1"/>
          <p:nvPr/>
        </p:nvSpPr>
        <p:spPr>
          <a:xfrm>
            <a:off x="9667875" y="4943474"/>
            <a:ext cx="7900035" cy="328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LangGraph, Google ADK… a framework is fine.</a:t>
            </a:r>
          </a:p>
        </p:txBody>
      </p:sp>
      <p:sp>
        <p:nvSpPr>
          <p:cNvPr id="411" name="Shape 8"/>
          <p:cNvSpPr/>
          <p:nvPr/>
        </p:nvSpPr>
        <p:spPr>
          <a:xfrm>
            <a:off x="1047750" y="5853112"/>
            <a:ext cx="7962900" cy="1890714"/>
          </a:xfrm>
          <a:prstGeom prst="roundRect">
            <a:avLst>
              <a:gd name="adj" fmla="val 8060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9"/>
          <p:cNvSpPr txBox="1"/>
          <p:nvPr/>
        </p:nvSpPr>
        <p:spPr>
          <a:xfrm>
            <a:off x="1438275" y="6205537"/>
            <a:ext cx="7900035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defRPr b="1" sz="2352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Mocked data / APIs allowed</a:t>
            </a:r>
          </a:p>
        </p:txBody>
      </p:sp>
      <p:sp>
        <p:nvSpPr>
          <p:cNvPr id="413" name="Text 10"/>
          <p:cNvSpPr txBox="1"/>
          <p:nvPr/>
        </p:nvSpPr>
        <p:spPr>
          <a:xfrm>
            <a:off x="1438275" y="6653213"/>
            <a:ext cx="790003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Stub what you need so the POC works.</a:t>
            </a:r>
          </a:p>
        </p:txBody>
      </p:sp>
      <p:sp>
        <p:nvSpPr>
          <p:cNvPr id="414" name="Shape 11"/>
          <p:cNvSpPr/>
          <p:nvPr/>
        </p:nvSpPr>
        <p:spPr>
          <a:xfrm>
            <a:off x="9277350" y="5853112"/>
            <a:ext cx="7962900" cy="1890714"/>
          </a:xfrm>
          <a:prstGeom prst="roundRect">
            <a:avLst>
              <a:gd name="adj" fmla="val 8060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12"/>
          <p:cNvSpPr txBox="1"/>
          <p:nvPr/>
        </p:nvSpPr>
        <p:spPr>
          <a:xfrm>
            <a:off x="9658350" y="6205537"/>
            <a:ext cx="906363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328">
                <a:solidFill>
                  <a:srgbClr val="F3EDE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416" name="Shape 13"/>
          <p:cNvSpPr/>
          <p:nvPr/>
        </p:nvSpPr>
        <p:spPr>
          <a:xfrm>
            <a:off x="10640913" y="6196012"/>
            <a:ext cx="1714724" cy="371476"/>
          </a:xfrm>
          <a:prstGeom prst="roundRect">
            <a:avLst>
              <a:gd name="adj" fmla="val 50000"/>
            </a:avLst>
          </a:prstGeom>
          <a:solidFill>
            <a:srgbClr val="C05F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 14"/>
          <p:cNvSpPr txBox="1"/>
          <p:nvPr/>
        </p:nvSpPr>
        <p:spPr>
          <a:xfrm>
            <a:off x="10812363" y="6253162"/>
            <a:ext cx="1448024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z="172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Haiku only</a:t>
            </a:r>
          </a:p>
        </p:txBody>
      </p:sp>
      <p:sp>
        <p:nvSpPr>
          <p:cNvPr id="418" name="Text 15"/>
          <p:cNvSpPr txBox="1"/>
          <p:nvPr/>
        </p:nvSpPr>
        <p:spPr>
          <a:xfrm>
            <a:off x="9658349" y="6700838"/>
            <a:ext cx="7920992" cy="36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E8DDC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claude-haiku-4-5</a:t>
            </a:r>
          </a:p>
        </p:txBody>
      </p:sp>
      <p:sp>
        <p:nvSpPr>
          <p:cNvPr id="419" name="Text 16"/>
          <p:cNvSpPr txBox="1"/>
          <p:nvPr/>
        </p:nvSpPr>
        <p:spPr>
          <a:xfrm>
            <a:off x="9658349" y="7124700"/>
            <a:ext cx="7920992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BF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 Claude Code to write your code.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 CODE · QUOTAS</a:t>
            </a:r>
          </a:p>
        </p:txBody>
      </p:sp>
      <p:sp>
        <p:nvSpPr>
          <p:cNvPr id="424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separate things — don't confuse them</a:t>
            </a:r>
          </a:p>
        </p:txBody>
      </p:sp>
      <p:sp>
        <p:nvSpPr>
          <p:cNvPr id="425" name="Shape 2"/>
          <p:cNvSpPr/>
          <p:nvPr/>
        </p:nvSpPr>
        <p:spPr>
          <a:xfrm>
            <a:off x="1047750" y="2305050"/>
            <a:ext cx="7943850" cy="6386513"/>
          </a:xfrm>
          <a:prstGeom prst="roundRect">
            <a:avLst>
              <a:gd name="adj" fmla="val 238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3"/>
          <p:cNvSpPr txBox="1"/>
          <p:nvPr/>
        </p:nvSpPr>
        <p:spPr>
          <a:xfrm>
            <a:off x="1438274" y="2676525"/>
            <a:ext cx="7879082" cy="409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905255">
              <a:defRPr b="1" sz="2475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Claude Code </a:t>
            </a:r>
            <a:r>
              <a:rPr b="0" sz="1881">
                <a:solidFill>
                  <a:srgbClr val="74695B"/>
                </a:solidFill>
              </a:rPr>
              <a:t>— your Pro/Max sub</a:t>
            </a:r>
          </a:p>
        </p:txBody>
      </p:sp>
      <p:sp>
        <p:nvSpPr>
          <p:cNvPr id="427" name="Text 4"/>
          <p:cNvSpPr txBox="1"/>
          <p:nvPr/>
        </p:nvSpPr>
        <p:spPr>
          <a:xfrm>
            <a:off x="1438275" y="3219450"/>
            <a:ext cx="7377684" cy="1204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0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Your coding assistant. Usage is </a:t>
            </a:r>
            <a:r>
              <a:rPr b="1"/>
              <a:t>limited </a:t>
            </a:r>
            <a:r>
              <a:t>: short rolling-window limits (a few hours) </a:t>
            </a:r>
            <a:r>
              <a:rPr b="1"/>
              <a:t>+ a weekly limit </a:t>
            </a:r>
            <a:r>
              <a:t>. Hit a limit → wait for the reset. Heavier models (Opus) burn faster.</a:t>
            </a:r>
          </a:p>
        </p:txBody>
      </p:sp>
      <p:sp>
        <p:nvSpPr>
          <p:cNvPr id="428" name="Shape 5"/>
          <p:cNvSpPr/>
          <p:nvPr/>
        </p:nvSpPr>
        <p:spPr>
          <a:xfrm>
            <a:off x="9296400" y="2305050"/>
            <a:ext cx="7943850" cy="6386513"/>
          </a:xfrm>
          <a:prstGeom prst="roundRect">
            <a:avLst>
              <a:gd name="adj" fmla="val 2386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6"/>
          <p:cNvSpPr txBox="1"/>
          <p:nvPr/>
        </p:nvSpPr>
        <p:spPr>
          <a:xfrm>
            <a:off x="9677400" y="2667000"/>
            <a:ext cx="7900035" cy="409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905255">
              <a:defRPr b="1" sz="2475">
                <a:solidFill>
                  <a:srgbClr val="F3EDE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Anthropic API </a:t>
            </a:r>
            <a:r>
              <a:rPr b="0" sz="1881">
                <a:solidFill>
                  <a:srgbClr val="A99E8D"/>
                </a:solidFill>
              </a:rPr>
              <a:t>— Haiku</a:t>
            </a:r>
          </a:p>
        </p:txBody>
      </p:sp>
      <p:sp>
        <p:nvSpPr>
          <p:cNvPr id="430" name="Text 7"/>
          <p:cNvSpPr txBox="1"/>
          <p:nvPr/>
        </p:nvSpPr>
        <p:spPr>
          <a:xfrm>
            <a:off x="9677400" y="3209925"/>
            <a:ext cx="7397306" cy="1204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77823">
              <a:lnSpc>
                <a:spcPct val="150000"/>
              </a:lnSpc>
              <a:defRPr sz="1919">
                <a:solidFill>
                  <a:srgbClr val="D8CDB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 your </a:t>
            </a:r>
            <a:r>
              <a:rPr b="1"/>
              <a:t>app / notebooks </a:t>
            </a:r>
            <a:r>
              <a:t>call. </a:t>
            </a:r>
            <a:r>
              <a:rPr b="1"/>
              <a:t>One API key per group. </a:t>
            </a:r>
            <a:r>
              <a:t>The budget is </a:t>
            </a:r>
            <a:r>
              <a:rPr b="1">
                <a:solidFill>
                  <a:srgbClr val="E08B64"/>
                </a:solidFill>
              </a:rPr>
              <a:t>SHARED across all groups </a:t>
            </a:r>
            <a:r>
              <a:t>→ keep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max_tokens </a:t>
            </a:r>
            <a:r>
              <a:t>small, no wasteful loops.</a:t>
            </a:r>
          </a:p>
        </p:txBody>
      </p:sp>
      <p:sp>
        <p:nvSpPr>
          <p:cNvPr id="431" name="Text 8"/>
          <p:cNvSpPr txBox="1"/>
          <p:nvPr/>
        </p:nvSpPr>
        <p:spPr>
          <a:xfrm>
            <a:off x="1047749" y="9122568"/>
            <a:ext cx="1536675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 usage:</a:t>
            </a:r>
          </a:p>
        </p:txBody>
      </p:sp>
      <p:sp>
        <p:nvSpPr>
          <p:cNvPr id="432" name="Shape 9"/>
          <p:cNvSpPr/>
          <p:nvPr/>
        </p:nvSpPr>
        <p:spPr>
          <a:xfrm>
            <a:off x="2635225" y="9015413"/>
            <a:ext cx="1165921" cy="490539"/>
          </a:xfrm>
          <a:prstGeom prst="roundRect">
            <a:avLst>
              <a:gd name="adj" fmla="val 15534"/>
            </a:avLst>
          </a:prstGeom>
          <a:solidFill>
            <a:srgbClr val="EFE6D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10"/>
          <p:cNvSpPr txBox="1"/>
          <p:nvPr/>
        </p:nvSpPr>
        <p:spPr>
          <a:xfrm>
            <a:off x="2806674" y="9110663"/>
            <a:ext cx="89922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/usage</a:t>
            </a:r>
          </a:p>
        </p:txBody>
      </p:sp>
      <p:sp>
        <p:nvSpPr>
          <p:cNvPr id="434" name="Shape 11"/>
          <p:cNvSpPr/>
          <p:nvPr/>
        </p:nvSpPr>
        <p:spPr>
          <a:xfrm>
            <a:off x="3991645" y="9015413"/>
            <a:ext cx="1028701" cy="490539"/>
          </a:xfrm>
          <a:prstGeom prst="roundRect">
            <a:avLst>
              <a:gd name="adj" fmla="val 15534"/>
            </a:avLst>
          </a:prstGeom>
          <a:solidFill>
            <a:srgbClr val="EFE6D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12"/>
          <p:cNvSpPr txBox="1"/>
          <p:nvPr/>
        </p:nvSpPr>
        <p:spPr>
          <a:xfrm>
            <a:off x="4163095" y="9110663"/>
            <a:ext cx="76200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/cost</a:t>
            </a:r>
          </a:p>
        </p:txBody>
      </p:sp>
      <p:sp>
        <p:nvSpPr>
          <p:cNvPr id="436" name="Shape 13"/>
          <p:cNvSpPr/>
          <p:nvPr/>
        </p:nvSpPr>
        <p:spPr>
          <a:xfrm>
            <a:off x="5210845" y="9015413"/>
            <a:ext cx="1440211" cy="490539"/>
          </a:xfrm>
          <a:prstGeom prst="roundRect">
            <a:avLst>
              <a:gd name="adj" fmla="val 15534"/>
            </a:avLst>
          </a:prstGeom>
          <a:solidFill>
            <a:srgbClr val="EFE6D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Text 14"/>
          <p:cNvSpPr txBox="1"/>
          <p:nvPr/>
        </p:nvSpPr>
        <p:spPr>
          <a:xfrm>
            <a:off x="5382295" y="9110663"/>
            <a:ext cx="117351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1F1C1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/context</a:t>
            </a:r>
          </a:p>
        </p:txBody>
      </p:sp>
      <p:sp>
        <p:nvSpPr>
          <p:cNvPr id="438" name="Text 15"/>
          <p:cNvSpPr txBox="1"/>
          <p:nvPr/>
        </p:nvSpPr>
        <p:spPr>
          <a:xfrm>
            <a:off x="6841553" y="9124949"/>
            <a:ext cx="3118040" cy="313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defRPr sz="1710"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· API spend → the Console.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 CODE · BEST PRACTICES</a:t>
            </a:r>
          </a:p>
        </p:txBody>
      </p:sp>
      <p:sp>
        <p:nvSpPr>
          <p:cNvPr id="443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 efficiently</a:t>
            </a:r>
          </a:p>
        </p:txBody>
      </p:sp>
      <p:sp>
        <p:nvSpPr>
          <p:cNvPr id="444" name="Shape 2"/>
          <p:cNvSpPr/>
          <p:nvPr/>
        </p:nvSpPr>
        <p:spPr>
          <a:xfrm>
            <a:off x="1047750" y="2343150"/>
            <a:ext cx="5245075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ext 3"/>
          <p:cNvSpPr txBox="1"/>
          <p:nvPr/>
        </p:nvSpPr>
        <p:spPr>
          <a:xfrm>
            <a:off x="1362075" y="2638424"/>
            <a:ext cx="5078068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PLAN</a:t>
            </a:r>
          </a:p>
        </p:txBody>
      </p:sp>
      <p:sp>
        <p:nvSpPr>
          <p:cNvPr id="446" name="Text 4"/>
          <p:cNvSpPr txBox="1"/>
          <p:nvPr/>
        </p:nvSpPr>
        <p:spPr>
          <a:xfrm>
            <a:off x="1362075" y="3052763"/>
            <a:ext cx="5078068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 first</a:t>
            </a:r>
          </a:p>
        </p:txBody>
      </p:sp>
      <p:sp>
        <p:nvSpPr>
          <p:cNvPr id="447" name="Text 5"/>
          <p:cNvSpPr txBox="1"/>
          <p:nvPr/>
        </p:nvSpPr>
        <p:spPr>
          <a:xfrm>
            <a:off x="1362075" y="3448050"/>
            <a:ext cx="4754918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 mode (Shift+Tab) — agree the approach before it codes.</a:t>
            </a:r>
          </a:p>
        </p:txBody>
      </p:sp>
      <p:sp>
        <p:nvSpPr>
          <p:cNvPr id="448" name="Shape 6"/>
          <p:cNvSpPr/>
          <p:nvPr/>
        </p:nvSpPr>
        <p:spPr>
          <a:xfrm>
            <a:off x="6521425" y="2343150"/>
            <a:ext cx="5245076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7"/>
          <p:cNvSpPr txBox="1"/>
          <p:nvPr/>
        </p:nvSpPr>
        <p:spPr>
          <a:xfrm>
            <a:off x="6835750" y="2638424"/>
            <a:ext cx="5078069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450" name="Text 8"/>
          <p:cNvSpPr txBox="1"/>
          <p:nvPr/>
        </p:nvSpPr>
        <p:spPr>
          <a:xfrm>
            <a:off x="6835750" y="3052763"/>
            <a:ext cx="5078069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Manage context</a:t>
            </a:r>
          </a:p>
        </p:txBody>
      </p:sp>
      <p:sp>
        <p:nvSpPr>
          <p:cNvPr id="451" name="Text 9"/>
          <p:cNvSpPr txBox="1"/>
          <p:nvPr/>
        </p:nvSpPr>
        <p:spPr>
          <a:xfrm>
            <a:off x="6835750" y="3448050"/>
            <a:ext cx="4754919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defRPr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/clear </a:t>
            </a:r>
            <a:r>
              <a:rPr>
                <a:latin typeface="Arial"/>
                <a:ea typeface="Arial"/>
                <a:cs typeface="Arial"/>
                <a:sym typeface="Arial"/>
              </a:rPr>
              <a:t>between tasks; stale sessions waste quota.</a:t>
            </a:r>
          </a:p>
        </p:txBody>
      </p:sp>
      <p:sp>
        <p:nvSpPr>
          <p:cNvPr id="452" name="Shape 10"/>
          <p:cNvSpPr/>
          <p:nvPr/>
        </p:nvSpPr>
        <p:spPr>
          <a:xfrm>
            <a:off x="11995099" y="2343150"/>
            <a:ext cx="5245151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Text 11"/>
          <p:cNvSpPr txBox="1"/>
          <p:nvPr/>
        </p:nvSpPr>
        <p:spPr>
          <a:xfrm>
            <a:off x="12309424" y="2638424"/>
            <a:ext cx="5078151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454" name="Text 12"/>
          <p:cNvSpPr txBox="1"/>
          <p:nvPr/>
        </p:nvSpPr>
        <p:spPr>
          <a:xfrm>
            <a:off x="12309424" y="3052763"/>
            <a:ext cx="5078151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Give it something to verify</a:t>
            </a:r>
          </a:p>
        </p:txBody>
      </p:sp>
      <p:sp>
        <p:nvSpPr>
          <p:cNvPr id="455" name="Text 13"/>
          <p:cNvSpPr txBox="1"/>
          <p:nvPr/>
        </p:nvSpPr>
        <p:spPr>
          <a:xfrm>
            <a:off x="12309424" y="3448050"/>
            <a:ext cx="4754996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Tests, a run command, a screenshot → it self-corrects.</a:t>
            </a:r>
          </a:p>
        </p:txBody>
      </p:sp>
      <p:sp>
        <p:nvSpPr>
          <p:cNvPr id="456" name="Shape 14"/>
          <p:cNvSpPr/>
          <p:nvPr/>
        </p:nvSpPr>
        <p:spPr>
          <a:xfrm>
            <a:off x="1047750" y="6038850"/>
            <a:ext cx="5245075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15"/>
          <p:cNvSpPr txBox="1"/>
          <p:nvPr/>
        </p:nvSpPr>
        <p:spPr>
          <a:xfrm>
            <a:off x="1362075" y="6334124"/>
            <a:ext cx="5078068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CLAUDE.md</a:t>
            </a:r>
          </a:p>
        </p:txBody>
      </p:sp>
      <p:sp>
        <p:nvSpPr>
          <p:cNvPr id="458" name="Text 16"/>
          <p:cNvSpPr txBox="1"/>
          <p:nvPr/>
        </p:nvSpPr>
        <p:spPr>
          <a:xfrm>
            <a:off x="1362075" y="6748463"/>
            <a:ext cx="5078068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Keep a CLAUDE.md</a:t>
            </a:r>
          </a:p>
        </p:txBody>
      </p:sp>
      <p:sp>
        <p:nvSpPr>
          <p:cNvPr id="459" name="Text 17"/>
          <p:cNvSpPr txBox="1"/>
          <p:nvPr/>
        </p:nvSpPr>
        <p:spPr>
          <a:xfrm>
            <a:off x="1362075" y="7143750"/>
            <a:ext cx="4754918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Project conventions, loaded every session — keep it short.</a:t>
            </a:r>
          </a:p>
        </p:txBody>
      </p:sp>
      <p:sp>
        <p:nvSpPr>
          <p:cNvPr id="460" name="Shape 18"/>
          <p:cNvSpPr/>
          <p:nvPr/>
        </p:nvSpPr>
        <p:spPr>
          <a:xfrm>
            <a:off x="6521425" y="6038850"/>
            <a:ext cx="5245076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Text 19"/>
          <p:cNvSpPr txBox="1"/>
          <p:nvPr/>
        </p:nvSpPr>
        <p:spPr>
          <a:xfrm>
            <a:off x="6835750" y="6334124"/>
            <a:ext cx="5078069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SUBAGENTS</a:t>
            </a:r>
          </a:p>
        </p:txBody>
      </p:sp>
      <p:sp>
        <p:nvSpPr>
          <p:cNvPr id="462" name="Text 20"/>
          <p:cNvSpPr txBox="1"/>
          <p:nvPr/>
        </p:nvSpPr>
        <p:spPr>
          <a:xfrm>
            <a:off x="6835750" y="6748463"/>
            <a:ext cx="5078069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Delegate to subagents</a:t>
            </a:r>
          </a:p>
        </p:txBody>
      </p:sp>
      <p:sp>
        <p:nvSpPr>
          <p:cNvPr id="463" name="Text 21"/>
          <p:cNvSpPr txBox="1"/>
          <p:nvPr/>
        </p:nvSpPr>
        <p:spPr>
          <a:xfrm>
            <a:off x="6835750" y="7143750"/>
            <a:ext cx="4754919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Isolate investigation to keep your main context clean.</a:t>
            </a:r>
          </a:p>
        </p:txBody>
      </p:sp>
      <p:sp>
        <p:nvSpPr>
          <p:cNvPr id="464" name="Shape 22"/>
          <p:cNvSpPr/>
          <p:nvPr/>
        </p:nvSpPr>
        <p:spPr>
          <a:xfrm>
            <a:off x="11995099" y="6038850"/>
            <a:ext cx="5245151" cy="3467100"/>
          </a:xfrm>
          <a:prstGeom prst="roundRect">
            <a:avLst>
              <a:gd name="adj" fmla="val 3846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5" name="Text 23"/>
          <p:cNvSpPr txBox="1"/>
          <p:nvPr/>
        </p:nvSpPr>
        <p:spPr>
          <a:xfrm>
            <a:off x="12309424" y="6334124"/>
            <a:ext cx="5078151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466" name="Text 24"/>
          <p:cNvSpPr txBox="1"/>
          <p:nvPr/>
        </p:nvSpPr>
        <p:spPr>
          <a:xfrm>
            <a:off x="12309424" y="6748463"/>
            <a:ext cx="5078151" cy="35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Pick the right model</a:t>
            </a:r>
          </a:p>
        </p:txBody>
      </p:sp>
      <p:sp>
        <p:nvSpPr>
          <p:cNvPr id="467" name="Text 25"/>
          <p:cNvSpPr txBox="1"/>
          <p:nvPr/>
        </p:nvSpPr>
        <p:spPr>
          <a:xfrm>
            <a:off x="12309424" y="7143750"/>
            <a:ext cx="4754996" cy="581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469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Sonnet for most; Opus sparingly (burns quota); Haiku for simple tasks.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LOGISTICS</a:t>
            </a:r>
          </a:p>
        </p:txBody>
      </p:sp>
      <p:sp>
        <p:nvSpPr>
          <p:cNvPr id="472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days</a:t>
            </a:r>
          </a:p>
        </p:txBody>
      </p:sp>
      <p:sp>
        <p:nvSpPr>
          <p:cNvPr id="473" name="Shape 2"/>
          <p:cNvSpPr/>
          <p:nvPr/>
        </p:nvSpPr>
        <p:spPr>
          <a:xfrm>
            <a:off x="1047750" y="2343150"/>
            <a:ext cx="7943850" cy="6014145"/>
          </a:xfrm>
          <a:prstGeom prst="roundRect">
            <a:avLst>
              <a:gd name="adj" fmla="val 2534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3"/>
          <p:cNvSpPr txBox="1"/>
          <p:nvPr/>
        </p:nvSpPr>
        <p:spPr>
          <a:xfrm>
            <a:off x="1457325" y="2733674"/>
            <a:ext cx="7837169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DAY 1 · WEDNESDAY</a:t>
            </a:r>
          </a:p>
        </p:txBody>
      </p:sp>
      <p:sp>
        <p:nvSpPr>
          <p:cNvPr id="475" name="Text 4"/>
          <p:cNvSpPr txBox="1"/>
          <p:nvPr/>
        </p:nvSpPr>
        <p:spPr>
          <a:xfrm>
            <a:off x="1457325" y="3128963"/>
            <a:ext cx="7837169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33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09:00 — Kickoff</a:t>
            </a:r>
          </a:p>
        </p:txBody>
      </p:sp>
      <p:sp>
        <p:nvSpPr>
          <p:cNvPr id="476" name="Text 5"/>
          <p:cNvSpPr txBox="1"/>
          <p:nvPr/>
        </p:nvSpPr>
        <p:spPr>
          <a:xfrm>
            <a:off x="1457325" y="3748087"/>
            <a:ext cx="7837169" cy="43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0000"/>
              </a:lnSpc>
              <a:defRPr sz="21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Idea validation → build.</a:t>
            </a:r>
          </a:p>
        </p:txBody>
      </p:sp>
      <p:sp>
        <p:nvSpPr>
          <p:cNvPr id="477" name="Shape 6"/>
          <p:cNvSpPr/>
          <p:nvPr/>
        </p:nvSpPr>
        <p:spPr>
          <a:xfrm>
            <a:off x="9296400" y="2343150"/>
            <a:ext cx="7943850" cy="6014145"/>
          </a:xfrm>
          <a:prstGeom prst="roundRect">
            <a:avLst>
              <a:gd name="adj" fmla="val 2534"/>
            </a:avLst>
          </a:prstGeom>
          <a:solidFill>
            <a:srgbClr val="FFFDF9"/>
          </a:solidFill>
          <a:ln>
            <a:solidFill>
              <a:srgbClr val="E5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7"/>
          <p:cNvSpPr txBox="1"/>
          <p:nvPr/>
        </p:nvSpPr>
        <p:spPr>
          <a:xfrm>
            <a:off x="9705975" y="2733674"/>
            <a:ext cx="7837169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74695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DAY 2 · THURSDAY · UNTIL 19:15</a:t>
            </a:r>
          </a:p>
        </p:txBody>
      </p:sp>
      <p:sp>
        <p:nvSpPr>
          <p:cNvPr id="479" name="Shape 8"/>
          <p:cNvSpPr/>
          <p:nvPr/>
        </p:nvSpPr>
        <p:spPr>
          <a:xfrm>
            <a:off x="9705975" y="3167063"/>
            <a:ext cx="1889820" cy="957264"/>
          </a:xfrm>
          <a:prstGeom prst="roundRect">
            <a:avLst>
              <a:gd name="adj" fmla="val 9950"/>
            </a:avLst>
          </a:prstGeom>
          <a:solidFill>
            <a:srgbClr val="B83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9"/>
          <p:cNvSpPr txBox="1"/>
          <p:nvPr/>
        </p:nvSpPr>
        <p:spPr>
          <a:xfrm>
            <a:off x="9896474" y="3300412"/>
            <a:ext cx="1659703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FFFFFF">
                    <a:alpha val="85000"/>
                  </a:srgb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PUSH FREEZE</a:t>
            </a:r>
          </a:p>
        </p:txBody>
      </p:sp>
      <p:sp>
        <p:nvSpPr>
          <p:cNvPr id="481" name="Text 10"/>
          <p:cNvSpPr txBox="1"/>
          <p:nvPr/>
        </p:nvSpPr>
        <p:spPr>
          <a:xfrm>
            <a:off x="9896474" y="3600450"/>
            <a:ext cx="1659703" cy="436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z="25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15:30</a:t>
            </a:r>
          </a:p>
        </p:txBody>
      </p:sp>
      <p:sp>
        <p:nvSpPr>
          <p:cNvPr id="482" name="Shape 11"/>
          <p:cNvSpPr/>
          <p:nvPr/>
        </p:nvSpPr>
        <p:spPr>
          <a:xfrm>
            <a:off x="11786295" y="3167063"/>
            <a:ext cx="2287936" cy="957264"/>
          </a:xfrm>
          <a:prstGeom prst="roundRect">
            <a:avLst>
              <a:gd name="adj" fmla="val 9950"/>
            </a:avLst>
          </a:prstGeom>
          <a:solidFill>
            <a:srgbClr val="2421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3" name="Text 12"/>
          <p:cNvSpPr txBox="1"/>
          <p:nvPr/>
        </p:nvSpPr>
        <p:spPr>
          <a:xfrm>
            <a:off x="11976795" y="3300412"/>
            <a:ext cx="2097629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FFFFFF">
                    <a:alpha val="85000"/>
                  </a:srgb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PRESENTATIONS</a:t>
            </a:r>
          </a:p>
        </p:txBody>
      </p:sp>
      <p:sp>
        <p:nvSpPr>
          <p:cNvPr id="484" name="Text 13"/>
          <p:cNvSpPr txBox="1"/>
          <p:nvPr/>
        </p:nvSpPr>
        <p:spPr>
          <a:xfrm>
            <a:off x="11976795" y="3600450"/>
            <a:ext cx="2097629" cy="436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z="25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16:00–19:00</a:t>
            </a:r>
          </a:p>
        </p:txBody>
      </p:sp>
      <p:sp>
        <p:nvSpPr>
          <p:cNvPr id="485" name="Text 14"/>
          <p:cNvSpPr txBox="1"/>
          <p:nvPr/>
        </p:nvSpPr>
        <p:spPr>
          <a:xfrm>
            <a:off x="9705975" y="4276725"/>
            <a:ext cx="7837169" cy="397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 sz="1900">
                <a:solidFill>
                  <a:srgbClr val="4B43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→ freeze → present.</a:t>
            </a:r>
          </a:p>
        </p:txBody>
      </p:sp>
      <p:sp>
        <p:nvSpPr>
          <p:cNvPr id="486" name="Shape 15"/>
          <p:cNvSpPr/>
          <p:nvPr/>
        </p:nvSpPr>
        <p:spPr>
          <a:xfrm>
            <a:off x="1047750" y="8662095"/>
            <a:ext cx="16192500" cy="843856"/>
          </a:xfrm>
          <a:prstGeom prst="roundRect">
            <a:avLst>
              <a:gd name="adj" fmla="val 13545"/>
            </a:avLst>
          </a:prstGeom>
          <a:solidFill>
            <a:srgbClr val="F3E3D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Text 16"/>
          <p:cNvSpPr txBox="1"/>
          <p:nvPr/>
        </p:nvSpPr>
        <p:spPr>
          <a:xfrm>
            <a:off x="1333500" y="8890695"/>
            <a:ext cx="16106775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Format: </a:t>
            </a:r>
            <a:r>
              <a:rPr b="0"/>
              <a:t>a pitch with a live demo — </a:t>
            </a:r>
            <a:r>
              <a:t>5 min sharp + 5 min Q&amp;A </a:t>
            </a:r>
            <a:r>
              <a:rPr b="0"/>
              <a:t>per group. Order drawn at random.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ext 0"/>
          <p:cNvSpPr txBox="1"/>
          <p:nvPr/>
        </p:nvSpPr>
        <p:spPr>
          <a:xfrm>
            <a:off x="1047750" y="876300"/>
            <a:ext cx="17811750" cy="30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191" sz="1727">
                <a:solidFill>
                  <a:srgbClr val="C05F3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BEFORE YOU GO</a:t>
            </a:r>
          </a:p>
        </p:txBody>
      </p:sp>
      <p:sp>
        <p:nvSpPr>
          <p:cNvPr id="492" name="Text 1"/>
          <p:cNvSpPr txBox="1"/>
          <p:nvPr/>
        </p:nvSpPr>
        <p:spPr>
          <a:xfrm>
            <a:off x="1047750" y="1323975"/>
            <a:ext cx="17811750" cy="63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999"/>
              </a:lnSpc>
              <a:defRPr b="1" spc="-184" sz="414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Don't forget</a:t>
            </a:r>
          </a:p>
        </p:txBody>
      </p:sp>
      <p:sp>
        <p:nvSpPr>
          <p:cNvPr id="493" name="Text 2"/>
          <p:cNvSpPr txBox="1"/>
          <p:nvPr/>
        </p:nvSpPr>
        <p:spPr>
          <a:xfrm>
            <a:off x="1047750" y="4748360"/>
            <a:ext cx="14793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B832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494" name="Text 3"/>
          <p:cNvSpPr txBox="1"/>
          <p:nvPr/>
        </p:nvSpPr>
        <p:spPr>
          <a:xfrm>
            <a:off x="1290934" y="4748360"/>
            <a:ext cx="7018454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Never commit your API key </a:t>
            </a:r>
            <a:r>
              <a:rPr b="0"/>
              <a:t>— use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.env</a:t>
            </a:r>
            <a:r>
              <a:rPr b="0"/>
              <a:t>, gitignored.</a:t>
            </a:r>
          </a:p>
        </p:txBody>
      </p:sp>
      <p:sp>
        <p:nvSpPr>
          <p:cNvPr id="495" name="Text 4"/>
          <p:cNvSpPr txBox="1"/>
          <p:nvPr/>
        </p:nvSpPr>
        <p:spPr>
          <a:xfrm>
            <a:off x="9391650" y="4748360"/>
            <a:ext cx="1666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6" name="Text 5"/>
          <p:cNvSpPr txBox="1"/>
          <p:nvPr/>
        </p:nvSpPr>
        <p:spPr>
          <a:xfrm>
            <a:off x="9653588" y="4748360"/>
            <a:ext cx="7814263" cy="8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All 5 TDs are mandatory </a:t>
            </a:r>
            <a:r>
              <a:rPr b="0"/>
              <a:t>— do them before / around the hackathon.</a:t>
            </a:r>
          </a:p>
        </p:txBody>
      </p:sp>
      <p:sp>
        <p:nvSpPr>
          <p:cNvPr id="497" name="Text 6"/>
          <p:cNvSpPr txBox="1"/>
          <p:nvPr/>
        </p:nvSpPr>
        <p:spPr>
          <a:xfrm>
            <a:off x="1047750" y="5731221"/>
            <a:ext cx="1666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8" name="Text 7"/>
          <p:cNvSpPr txBox="1"/>
          <p:nvPr/>
        </p:nvSpPr>
        <p:spPr>
          <a:xfrm>
            <a:off x="1309687" y="5731221"/>
            <a:ext cx="8304157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Commit notebooks executed </a:t>
            </a:r>
            <a:r>
              <a:rPr b="0"/>
              <a:t>— no outputs = harder to grade.</a:t>
            </a:r>
          </a:p>
        </p:txBody>
      </p:sp>
      <p:sp>
        <p:nvSpPr>
          <p:cNvPr id="499" name="Text 8"/>
          <p:cNvSpPr txBox="1"/>
          <p:nvPr/>
        </p:nvSpPr>
        <p:spPr>
          <a:xfrm>
            <a:off x="9391650" y="5731221"/>
            <a:ext cx="1666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0" name="Text 9"/>
          <p:cNvSpPr txBox="1"/>
          <p:nvPr/>
        </p:nvSpPr>
        <p:spPr>
          <a:xfrm>
            <a:off x="9653588" y="5731221"/>
            <a:ext cx="4905845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Analysis answers = your own words.</a:t>
            </a:r>
          </a:p>
        </p:txBody>
      </p:sp>
      <p:sp>
        <p:nvSpPr>
          <p:cNvPr id="501" name="Text 10"/>
          <p:cNvSpPr txBox="1"/>
          <p:nvPr/>
        </p:nvSpPr>
        <p:spPr>
          <a:xfrm>
            <a:off x="1047750" y="6327428"/>
            <a:ext cx="1666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2" name="Text 11"/>
          <p:cNvSpPr txBox="1"/>
          <p:nvPr/>
        </p:nvSpPr>
        <p:spPr>
          <a:xfrm>
            <a:off x="1309688" y="6327428"/>
            <a:ext cx="7814262" cy="8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Keep scope tight </a:t>
            </a:r>
            <a:r>
              <a:rPr b="0"/>
              <a:t>— one killer flow + one agent loop + a simple UI beats an over-ambitious half-working demo.</a:t>
            </a:r>
          </a:p>
        </p:txBody>
      </p:sp>
      <p:sp>
        <p:nvSpPr>
          <p:cNvPr id="503" name="Text 12"/>
          <p:cNvSpPr txBox="1"/>
          <p:nvPr/>
        </p:nvSpPr>
        <p:spPr>
          <a:xfrm>
            <a:off x="9391650" y="6327428"/>
            <a:ext cx="1666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0000"/>
              </a:lnSpc>
              <a:defRPr sz="2200">
                <a:solidFill>
                  <a:srgbClr val="C05F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4" name="Text 13"/>
          <p:cNvSpPr txBox="1"/>
          <p:nvPr/>
        </p:nvSpPr>
        <p:spPr>
          <a:xfrm>
            <a:off x="9653588" y="6327428"/>
            <a:ext cx="8339599" cy="42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1F1C1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Stuck? </a:t>
            </a:r>
            <a:r>
              <a:rPr b="0"/>
              <a:t>Ask Claude first, then </a:t>
            </a:r>
            <a:r>
              <a:rPr b="0">
                <a:solidFill>
                  <a:srgbClr val="C05F38"/>
                </a:solidFill>
              </a:rPr>
              <a:t>louis.fontaine.pro@gmail.com</a:t>
            </a:r>
            <a:r>
              <a:rPr b="0"/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 0"/>
          <p:cNvSpPr txBox="1"/>
          <p:nvPr/>
        </p:nvSpPr>
        <p:spPr>
          <a:xfrm>
            <a:off x="1047750" y="3652837"/>
            <a:ext cx="17811750" cy="30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defRPr b="1" spc="288" sz="1727">
                <a:solidFill>
                  <a:srgbClr val="E08B6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GENERATIVE AI · M2 IASD</a:t>
            </a:r>
          </a:p>
        </p:txBody>
      </p:sp>
      <p:sp>
        <p:nvSpPr>
          <p:cNvPr id="509" name="Text 1"/>
          <p:cNvSpPr txBox="1"/>
          <p:nvPr/>
        </p:nvSpPr>
        <p:spPr>
          <a:xfrm>
            <a:off x="1047750" y="4195762"/>
            <a:ext cx="17811750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defRPr b="1" spc="-261" sz="7830">
                <a:solidFill>
                  <a:srgbClr val="F3EDE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510" name="Text 2"/>
          <p:cNvSpPr txBox="1"/>
          <p:nvPr/>
        </p:nvSpPr>
        <p:spPr>
          <a:xfrm>
            <a:off x="1047750" y="5681662"/>
            <a:ext cx="11525250" cy="557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sz="2700">
                <a:solidFill>
                  <a:srgbClr val="C9BFB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Ask </a:t>
            </a:r>
            <a:r>
              <a:rPr b="1">
                <a:solidFill>
                  <a:srgbClr val="F3EDE2"/>
                </a:solidFill>
              </a:rPr>
              <a:t>Claude first </a:t>
            </a:r>
            <a:r>
              <a:t>— then reach out.</a:t>
            </a:r>
          </a:p>
        </p:txBody>
      </p:sp>
      <p:sp>
        <p:nvSpPr>
          <p:cNvPr id="511" name="Text 3"/>
          <p:cNvSpPr txBox="1"/>
          <p:nvPr/>
        </p:nvSpPr>
        <p:spPr>
          <a:xfrm>
            <a:off x="1047750" y="6334125"/>
            <a:ext cx="17811750" cy="41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200">
                <a:solidFill>
                  <a:srgbClr val="E08B6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louis.fontaine.pro@gmail.com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