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" name="Shape 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Welcome. This module is five labs (TD1–TD5) plus a hackathon. The whole thing is built around ONE continuous use case, so you go deeper each week instead of relearning a domain. By TD5 you'll have assembled a working AI agent out of your own bricks.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" name="Shape 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Quick grounding before the use case, since 'PIM' runs through everything. A PIM — Product Information Management — is the single source of truth for a company's product catalog. Product data arrives messy and scattered (supplier feeds, spreadsheets, internal teams); the PIM is where you centralize, structure and enrich it — every attribute, in every language — and keep it consistent. From there it's syndicated out to every sales channel: e-commerce, marketplaces, mobile, print, stores. Akeneo is a leading PIM, and that's the system our agent will be enriching.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scenario: we're a distributor (think Fnac). A supplier emails us about new products — in prose, no spreadsheet. An AI agent reads that email and enriches our PIM, the system of record for the catalog, on its own: recognizes a new-products request, parses each blurb, categorizes it, retrieves similar entries for the house voice, writes a clean on-brand entry, and creates the product. This is the agent from the lecture's final slide — and it's exactly what you'll rebuild.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Shape 1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One shared dataset, used by every lab — all synthetic and committed, no downloads. ~200 real-brand products across many domains (so the clusters and categories are realistic). The taxonomy is structured on purpose: category tree plus which attributes apply per leaf. There's one messy supplier email as agent input, and one SKILL.md the agent loads as its playbook. Crucially: the catalog itself IS the RAG corpus — you retrieve existing entries to write new ones.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" name="Shape 1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through-line. Each lab is one brick. TD1: text becomes vectors, meaning becomes geometry — the semantic space. TD2: assign a product to a category (classic ML vs zero-shot LLM). TD3: RAG — retrieve similar entries to ground generation of a new on-brand entry; the catalog is the index. TD4: MCP — wrap PIM operations as standard tools (search is the RAG, exposed). TD5: the agent loop orchestrates all of it on the supplier email. The promise of TD1 literally pays off in TD5: one vector space — TD1 embeds, TD3 searches, TD4 exposes, TD5 exploits.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hape 1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Two completely separate ways you touch Claude — don't confuse them. Claude Code on the Pro plan is your CODING ASSISTANT: it helps YOU write code, in the terminal. The Anthropic API key is what your CODE calls at runtime — your RAG, classification, and agent all hit the API. The API has a limited budget for this course, so in your code use HAIKU ONLY — it's the cheapest model. One trap: if you set an ANTHROPIC_API_KEY environment variable, Claude Code will spend your API budget instead of your subscription. Keep them separate.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Shape 2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the Pro plan limits work, so you don't get caught out mid-build. Two clocks: a rolling 5-hour session window, and a weekly cap that resets at a fixed time for your account. Both are shared across Claude Code and Claude chat — it's one pool, so heavy chat use eats into your coding budget. There's no fixed message count; cost depends on the model, the context you carry, and the length of each exchange. Check your remaining budget any time with /usage or /status.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Shape 2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few habits keep you comfortably inside the Pro limits and make Claude Code more effective. Default to Sonnet for everyday work and only reach for a heavier model on genuinely hard reasoning. Run /clear at task boundaries so you start each task with a clean context instead of dragging the last one along. Run /compact during long sessions to shrink the history you resend every turn. Scope tight — one task per session beats one giant marathon prompt. Be specific about what you want. And keep your CLAUDE.md lean, since it's resent on every request.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8" name="Shape 2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That's the whole picture: one use case, one dataset, five labs that compose into an agent, then a hackathon to build your own. Let's start with TD1 — embeddings, the semantic space everything else is built on.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9452BA">
                  <a:alpha val="16000"/>
                </a:srgbClr>
              </a:gs>
              <a:gs pos="55000">
                <a:srgbClr val="9452BA">
                  <a:alpha val="0"/>
                </a:srgbClr>
              </a:gs>
            </a:gsLst>
            <a:path path="circle">
              <a:fillToRect l="119636" t="37721" r="-19636" b="62278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1047749" y="914399"/>
            <a:ext cx="8599983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9FB0C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GENERATIVE AI · M2 IASD · WORK-STUDY 2026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15155391" y="914399"/>
            <a:ext cx="2293346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DAUPHINE-PSL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1047750" y="2846560"/>
            <a:ext cx="14668500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INTRODUCTION TO THE LABS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1047750" y="3432348"/>
            <a:ext cx="13735050" cy="2240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8000"/>
              </a:lnSpc>
              <a:defRPr b="1" spc="-200"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Five labs, one agent.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1047750" y="5997104"/>
            <a:ext cx="10595610" cy="1405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lnSpc>
                <a:spcPct val="145000"/>
              </a:lnSpc>
              <a:defRPr sz="2352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use case threads through everything. Each lab adds one capability — and by TD5 they compose into an AI agent that enriches a product catalog on its own.</a:t>
            </a:r>
          </a:p>
        </p:txBody>
      </p:sp>
      <p:sp>
        <p:nvSpPr>
          <p:cNvPr id="26" name="Shape 6"/>
          <p:cNvSpPr/>
          <p:nvPr/>
        </p:nvSpPr>
        <p:spPr>
          <a:xfrm>
            <a:off x="1047750" y="8996363"/>
            <a:ext cx="4473700" cy="490539"/>
          </a:xfrm>
          <a:prstGeom prst="roundRect">
            <a:avLst>
              <a:gd name="adj" fmla="val 50000"/>
            </a:avLst>
          </a:prstGeom>
          <a:ln>
            <a:solidFill>
              <a:srgbClr val="A875E0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1247775" y="9091611"/>
            <a:ext cx="4207860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100">
                <a:solidFill>
                  <a:srgbClr val="A875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PIM scenario · think Akeneo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5692899" y="9079706"/>
            <a:ext cx="5419733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885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distributor enriching its catalog with GenAI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 txBox="1"/>
          <p:nvPr/>
        </p:nvSpPr>
        <p:spPr>
          <a:xfrm>
            <a:off x="1047750" y="800099"/>
            <a:ext cx="17811750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BACKGROUND</a:t>
            </a:r>
          </a:p>
        </p:txBody>
      </p:sp>
      <p:sp>
        <p:nvSpPr>
          <p:cNvPr id="33" name="Text 1"/>
          <p:cNvSpPr txBox="1"/>
          <p:nvPr/>
        </p:nvSpPr>
        <p:spPr>
          <a:xfrm>
            <a:off x="1047750" y="1271587"/>
            <a:ext cx="17811750" cy="63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000"/>
              </a:lnSpc>
              <a:defRPr b="1" spc="-92" sz="4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First — what is a PIM?</a:t>
            </a:r>
          </a:p>
        </p:txBody>
      </p:sp>
      <p:sp>
        <p:nvSpPr>
          <p:cNvPr id="34" name="Text 2"/>
          <p:cNvSpPr txBox="1"/>
          <p:nvPr/>
        </p:nvSpPr>
        <p:spPr>
          <a:xfrm>
            <a:off x="1047749" y="1980233"/>
            <a:ext cx="13146407" cy="816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b="1" sz="21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Product Information Management </a:t>
            </a:r>
            <a:r>
              <a:rPr b="0">
                <a:solidFill>
                  <a:srgbClr val="AEBACB"/>
                </a:solidFill>
              </a:rPr>
              <a:t>— the single source of truth for a catalog. Product data comes in messy and scattered; the PIM centralizes, structures and enriches it, then feeds every channel.</a:t>
            </a:r>
          </a:p>
        </p:txBody>
      </p:sp>
      <p:sp>
        <p:nvSpPr>
          <p:cNvPr id="35" name="Shape 3"/>
          <p:cNvSpPr/>
          <p:nvPr/>
        </p:nvSpPr>
        <p:spPr>
          <a:xfrm>
            <a:off x="1047750" y="3158356"/>
            <a:ext cx="4520730" cy="5829449"/>
          </a:xfrm>
          <a:prstGeom prst="roundRect">
            <a:avLst>
              <a:gd name="adj" fmla="val 3371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4"/>
          <p:cNvSpPr txBox="1"/>
          <p:nvPr/>
        </p:nvSpPr>
        <p:spPr>
          <a:xfrm>
            <a:off x="1343025" y="4922937"/>
            <a:ext cx="432319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data comes in</a:t>
            </a:r>
          </a:p>
        </p:txBody>
      </p:sp>
      <p:sp>
        <p:nvSpPr>
          <p:cNvPr id="37" name="Text 5"/>
          <p:cNvSpPr txBox="1"/>
          <p:nvPr/>
        </p:nvSpPr>
        <p:spPr>
          <a:xfrm>
            <a:off x="1343025" y="5413473"/>
            <a:ext cx="4323197" cy="37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0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Supplier feeds &amp; emails</a:t>
            </a:r>
          </a:p>
        </p:txBody>
      </p:sp>
      <p:sp>
        <p:nvSpPr>
          <p:cNvPr id="38" name="Text 6"/>
          <p:cNvSpPr txBox="1"/>
          <p:nvPr/>
        </p:nvSpPr>
        <p:spPr>
          <a:xfrm>
            <a:off x="1343025" y="5880198"/>
            <a:ext cx="4323197" cy="37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0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Spreadsheets &amp; ERPs</a:t>
            </a:r>
          </a:p>
        </p:txBody>
      </p:sp>
      <p:sp>
        <p:nvSpPr>
          <p:cNvPr id="39" name="Text 7"/>
          <p:cNvSpPr txBox="1"/>
          <p:nvPr/>
        </p:nvSpPr>
        <p:spPr>
          <a:xfrm>
            <a:off x="1343025" y="6346923"/>
            <a:ext cx="4323197" cy="37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0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Internal teams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1343025" y="6889849"/>
            <a:ext cx="4323197" cy="37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>
                <a:solidFill>
                  <a:srgbClr val="7885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Scattered, inconsistent, incomplete.</a:t>
            </a:r>
          </a:p>
        </p:txBody>
      </p:sp>
      <p:sp>
        <p:nvSpPr>
          <p:cNvPr id="41" name="Text 9"/>
          <p:cNvSpPr txBox="1"/>
          <p:nvPr/>
        </p:nvSpPr>
        <p:spPr>
          <a:xfrm>
            <a:off x="5530379" y="3158355"/>
            <a:ext cx="876301" cy="5867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defRPr sz="34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2" name="Shape 10"/>
          <p:cNvSpPr/>
          <p:nvPr/>
        </p:nvSpPr>
        <p:spPr>
          <a:xfrm>
            <a:off x="6368579" y="3158356"/>
            <a:ext cx="5550844" cy="5829449"/>
          </a:xfrm>
          <a:prstGeom prst="roundRect">
            <a:avLst>
              <a:gd name="adj" fmla="val 2746"/>
            </a:avLst>
          </a:prstGeom>
          <a:gradFill>
            <a:gsLst>
              <a:gs pos="0">
                <a:srgbClr val="9452BA">
                  <a:alpha val="16000"/>
                </a:srgbClr>
              </a:gs>
              <a:gs pos="100000">
                <a:srgbClr val="38BDF8">
                  <a:alpha val="8000"/>
                </a:srgbClr>
              </a:gs>
            </a:gsLst>
            <a:lin ang="5400000"/>
          </a:gradFill>
          <a:ln w="14288">
            <a:solidFill>
              <a:srgbClr val="A875E0">
                <a:alpha val="50000"/>
              </a:srgbClr>
            </a:solidFill>
          </a:ln>
          <a:effectLst>
            <a:outerShdw sx="100000" sy="100000" kx="0" ky="0" algn="b" rotWithShape="0" blurRad="482600" dist="50800" dir="16200000">
              <a:srgbClr val="9452BA">
                <a:alpha val="16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" name="Text 11"/>
          <p:cNvSpPr txBox="1"/>
          <p:nvPr/>
        </p:nvSpPr>
        <p:spPr>
          <a:xfrm>
            <a:off x="6687666" y="3477443"/>
            <a:ext cx="540393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A6E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PIM</a:t>
            </a:r>
          </a:p>
        </p:txBody>
      </p:sp>
      <p:sp>
        <p:nvSpPr>
          <p:cNvPr id="44" name="Text 12"/>
          <p:cNvSpPr txBox="1"/>
          <p:nvPr/>
        </p:nvSpPr>
        <p:spPr>
          <a:xfrm>
            <a:off x="6687666" y="3910831"/>
            <a:ext cx="5403935" cy="4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10000"/>
              </a:lnSpc>
              <a:defRPr b="1" sz="25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Centralize · structure · enrich</a:t>
            </a:r>
          </a:p>
        </p:txBody>
      </p:sp>
      <p:sp>
        <p:nvSpPr>
          <p:cNvPr id="45" name="Shape 13"/>
          <p:cNvSpPr/>
          <p:nvPr/>
        </p:nvSpPr>
        <p:spPr>
          <a:xfrm>
            <a:off x="6687666" y="7063754"/>
            <a:ext cx="834406" cy="471489"/>
          </a:xfrm>
          <a:prstGeom prst="roundRect">
            <a:avLst>
              <a:gd name="adj" fmla="val 16162"/>
            </a:avLst>
          </a:prstGeom>
          <a:solidFill>
            <a:srgbClr val="A875E0">
              <a:alpha val="12000"/>
            </a:srgbClr>
          </a:solidFill>
          <a:ln>
            <a:solidFill>
              <a:srgbClr val="A875E0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4"/>
          <p:cNvSpPr txBox="1"/>
          <p:nvPr/>
        </p:nvSpPr>
        <p:spPr>
          <a:xfrm>
            <a:off x="6830541" y="7149479"/>
            <a:ext cx="62485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D6C2E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name</a:t>
            </a:r>
          </a:p>
        </p:txBody>
      </p:sp>
      <p:sp>
        <p:nvSpPr>
          <p:cNvPr id="47" name="Shape 15"/>
          <p:cNvSpPr/>
          <p:nvPr/>
        </p:nvSpPr>
        <p:spPr>
          <a:xfrm>
            <a:off x="7617321" y="7063754"/>
            <a:ext cx="971551" cy="471489"/>
          </a:xfrm>
          <a:prstGeom prst="roundRect">
            <a:avLst>
              <a:gd name="adj" fmla="val 16162"/>
            </a:avLst>
          </a:prstGeom>
          <a:solidFill>
            <a:srgbClr val="A875E0">
              <a:alpha val="12000"/>
            </a:srgbClr>
          </a:solidFill>
          <a:ln>
            <a:solidFill>
              <a:srgbClr val="A875E0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16"/>
          <p:cNvSpPr txBox="1"/>
          <p:nvPr/>
        </p:nvSpPr>
        <p:spPr>
          <a:xfrm>
            <a:off x="7760196" y="7149479"/>
            <a:ext cx="76200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D6C2E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brand</a:t>
            </a:r>
          </a:p>
        </p:txBody>
      </p:sp>
      <p:sp>
        <p:nvSpPr>
          <p:cNvPr id="49" name="Shape 17"/>
          <p:cNvSpPr/>
          <p:nvPr/>
        </p:nvSpPr>
        <p:spPr>
          <a:xfrm>
            <a:off x="8684121" y="7063754"/>
            <a:ext cx="971551" cy="471489"/>
          </a:xfrm>
          <a:prstGeom prst="roundRect">
            <a:avLst>
              <a:gd name="adj" fmla="val 16162"/>
            </a:avLst>
          </a:prstGeom>
          <a:solidFill>
            <a:srgbClr val="A875E0">
              <a:alpha val="12000"/>
            </a:srgbClr>
          </a:solidFill>
          <a:ln>
            <a:solidFill>
              <a:srgbClr val="A875E0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8"/>
          <p:cNvSpPr txBox="1"/>
          <p:nvPr/>
        </p:nvSpPr>
        <p:spPr>
          <a:xfrm>
            <a:off x="8826996" y="7149479"/>
            <a:ext cx="76200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D6C2E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price</a:t>
            </a:r>
          </a:p>
        </p:txBody>
      </p:sp>
      <p:sp>
        <p:nvSpPr>
          <p:cNvPr id="51" name="Shape 19"/>
          <p:cNvSpPr/>
          <p:nvPr/>
        </p:nvSpPr>
        <p:spPr>
          <a:xfrm>
            <a:off x="6687666" y="7630492"/>
            <a:ext cx="1931716" cy="471489"/>
          </a:xfrm>
          <a:prstGeom prst="roundRect">
            <a:avLst>
              <a:gd name="adj" fmla="val 16162"/>
            </a:avLst>
          </a:prstGeom>
          <a:solidFill>
            <a:srgbClr val="A875E0">
              <a:alpha val="12000"/>
            </a:srgbClr>
          </a:solidFill>
          <a:ln>
            <a:solidFill>
              <a:srgbClr val="A875E0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20"/>
          <p:cNvSpPr txBox="1"/>
          <p:nvPr/>
        </p:nvSpPr>
        <p:spPr>
          <a:xfrm>
            <a:off x="6830541" y="7716217"/>
            <a:ext cx="172216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D6C2E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descriptions</a:t>
            </a:r>
          </a:p>
        </p:txBody>
      </p:sp>
      <p:sp>
        <p:nvSpPr>
          <p:cNvPr id="53" name="Shape 21"/>
          <p:cNvSpPr/>
          <p:nvPr/>
        </p:nvSpPr>
        <p:spPr>
          <a:xfrm>
            <a:off x="8714630" y="7630492"/>
            <a:ext cx="1657351" cy="471489"/>
          </a:xfrm>
          <a:prstGeom prst="roundRect">
            <a:avLst>
              <a:gd name="adj" fmla="val 16162"/>
            </a:avLst>
          </a:prstGeom>
          <a:solidFill>
            <a:srgbClr val="A875E0">
              <a:alpha val="12000"/>
            </a:srgbClr>
          </a:solidFill>
          <a:ln>
            <a:solidFill>
              <a:srgbClr val="A875E0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2"/>
          <p:cNvSpPr txBox="1"/>
          <p:nvPr/>
        </p:nvSpPr>
        <p:spPr>
          <a:xfrm>
            <a:off x="8857505" y="7716217"/>
            <a:ext cx="144780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D6C2E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attributes</a:t>
            </a:r>
          </a:p>
        </p:txBody>
      </p:sp>
      <p:sp>
        <p:nvSpPr>
          <p:cNvPr id="55" name="Shape 23"/>
          <p:cNvSpPr/>
          <p:nvPr/>
        </p:nvSpPr>
        <p:spPr>
          <a:xfrm>
            <a:off x="6687666" y="8197229"/>
            <a:ext cx="1931716" cy="471489"/>
          </a:xfrm>
          <a:prstGeom prst="roundRect">
            <a:avLst>
              <a:gd name="adj" fmla="val 16162"/>
            </a:avLst>
          </a:prstGeom>
          <a:solidFill>
            <a:srgbClr val="A875E0">
              <a:alpha val="12000"/>
            </a:srgbClr>
          </a:solidFill>
          <a:ln>
            <a:solidFill>
              <a:srgbClr val="A875E0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24"/>
          <p:cNvSpPr txBox="1"/>
          <p:nvPr/>
        </p:nvSpPr>
        <p:spPr>
          <a:xfrm>
            <a:off x="6830541" y="8282954"/>
            <a:ext cx="172216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D6C2E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translations</a:t>
            </a:r>
          </a:p>
        </p:txBody>
      </p:sp>
      <p:sp>
        <p:nvSpPr>
          <p:cNvPr id="57" name="Shape 25"/>
          <p:cNvSpPr/>
          <p:nvPr/>
        </p:nvSpPr>
        <p:spPr>
          <a:xfrm>
            <a:off x="8714630" y="8197229"/>
            <a:ext cx="1108771" cy="471489"/>
          </a:xfrm>
          <a:prstGeom prst="roundRect">
            <a:avLst>
              <a:gd name="adj" fmla="val 16162"/>
            </a:avLst>
          </a:prstGeom>
          <a:solidFill>
            <a:srgbClr val="A875E0">
              <a:alpha val="12000"/>
            </a:srgbClr>
          </a:solidFill>
          <a:ln>
            <a:solidFill>
              <a:srgbClr val="A875E0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26"/>
          <p:cNvSpPr txBox="1"/>
          <p:nvPr/>
        </p:nvSpPr>
        <p:spPr>
          <a:xfrm>
            <a:off x="8857505" y="8282954"/>
            <a:ext cx="89922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D6C2E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images</a:t>
            </a:r>
          </a:p>
        </p:txBody>
      </p:sp>
      <p:sp>
        <p:nvSpPr>
          <p:cNvPr id="59" name="Text 27"/>
          <p:cNvSpPr txBox="1"/>
          <p:nvPr/>
        </p:nvSpPr>
        <p:spPr>
          <a:xfrm>
            <a:off x="11881321" y="3158355"/>
            <a:ext cx="876301" cy="5867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defRPr sz="34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0" name="Shape 28"/>
          <p:cNvSpPr/>
          <p:nvPr/>
        </p:nvSpPr>
        <p:spPr>
          <a:xfrm>
            <a:off x="12719521" y="3158356"/>
            <a:ext cx="4520730" cy="5829449"/>
          </a:xfrm>
          <a:prstGeom prst="roundRect">
            <a:avLst>
              <a:gd name="adj" fmla="val 3371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29"/>
          <p:cNvSpPr txBox="1"/>
          <p:nvPr/>
        </p:nvSpPr>
        <p:spPr>
          <a:xfrm>
            <a:off x="13014796" y="4922937"/>
            <a:ext cx="432319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goes out to every channel</a:t>
            </a:r>
          </a:p>
        </p:txBody>
      </p:sp>
      <p:sp>
        <p:nvSpPr>
          <p:cNvPr id="62" name="Text 30"/>
          <p:cNvSpPr txBox="1"/>
          <p:nvPr/>
        </p:nvSpPr>
        <p:spPr>
          <a:xfrm>
            <a:off x="13014796" y="5413473"/>
            <a:ext cx="4323198" cy="37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0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E-commerce &amp; mobile</a:t>
            </a:r>
          </a:p>
        </p:txBody>
      </p:sp>
      <p:sp>
        <p:nvSpPr>
          <p:cNvPr id="63" name="Text 31"/>
          <p:cNvSpPr txBox="1"/>
          <p:nvPr/>
        </p:nvSpPr>
        <p:spPr>
          <a:xfrm>
            <a:off x="13014796" y="5880198"/>
            <a:ext cx="4323198" cy="37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0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Marketplaces</a:t>
            </a:r>
          </a:p>
        </p:txBody>
      </p:sp>
      <p:sp>
        <p:nvSpPr>
          <p:cNvPr id="64" name="Text 32"/>
          <p:cNvSpPr txBox="1"/>
          <p:nvPr/>
        </p:nvSpPr>
        <p:spPr>
          <a:xfrm>
            <a:off x="13014796" y="6346923"/>
            <a:ext cx="4323198" cy="37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20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Print &amp; in-store</a:t>
            </a:r>
          </a:p>
        </p:txBody>
      </p:sp>
      <p:sp>
        <p:nvSpPr>
          <p:cNvPr id="65" name="Text 33"/>
          <p:cNvSpPr txBox="1"/>
          <p:nvPr/>
        </p:nvSpPr>
        <p:spPr>
          <a:xfrm>
            <a:off x="13014796" y="6889849"/>
            <a:ext cx="4323198" cy="371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>
                <a:solidFill>
                  <a:srgbClr val="7885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Consistent everywhere.</a:t>
            </a:r>
          </a:p>
        </p:txBody>
      </p:sp>
      <p:sp>
        <p:nvSpPr>
          <p:cNvPr id="66" name="Text 34"/>
          <p:cNvSpPr txBox="1"/>
          <p:nvPr/>
        </p:nvSpPr>
        <p:spPr>
          <a:xfrm>
            <a:off x="1047750" y="9197354"/>
            <a:ext cx="17811750" cy="38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sz="1900">
                <a:solidFill>
                  <a:srgbClr val="C9A6E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Akeneo </a:t>
            </a:r>
            <a:r>
              <a:rPr>
                <a:solidFill>
                  <a:srgbClr val="9FB0C4"/>
                </a:solidFill>
              </a:rPr>
              <a:t>is a leading PIM — and the catalog our agent will be enriching.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 txBox="1"/>
          <p:nvPr/>
        </p:nvSpPr>
        <p:spPr>
          <a:xfrm>
            <a:off x="1047750" y="800099"/>
            <a:ext cx="17811750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USE CASE</a:t>
            </a:r>
          </a:p>
        </p:txBody>
      </p:sp>
      <p:sp>
        <p:nvSpPr>
          <p:cNvPr id="71" name="Text 1"/>
          <p:cNvSpPr txBox="1"/>
          <p:nvPr/>
        </p:nvSpPr>
        <p:spPr>
          <a:xfrm>
            <a:off x="1047750" y="1271587"/>
            <a:ext cx="17811750" cy="63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000"/>
              </a:lnSpc>
              <a:defRPr b="1" spc="-92" sz="4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Enriching the catalog, automatically</a:t>
            </a:r>
          </a:p>
        </p:txBody>
      </p:sp>
      <p:sp>
        <p:nvSpPr>
          <p:cNvPr id="72" name="Text 2"/>
          <p:cNvSpPr txBox="1"/>
          <p:nvPr/>
        </p:nvSpPr>
        <p:spPr>
          <a:xfrm>
            <a:off x="1047749" y="1980232"/>
            <a:ext cx="12950192" cy="81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0000"/>
              </a:lnSpc>
              <a:defRPr sz="21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We're a distributor. A supplier sends a messy email about new products. An AI agent turns it into clean, on-brand entries in our </a:t>
            </a:r>
            <a:r>
              <a:rPr>
                <a:solidFill>
                  <a:srgbClr val="C9A6EC"/>
                </a:solidFill>
              </a:rPr>
              <a:t>PIM </a:t>
            </a:r>
            <a:r>
              <a:t>— the system of record for the product catalog.</a:t>
            </a:r>
          </a:p>
        </p:txBody>
      </p:sp>
      <p:sp>
        <p:nvSpPr>
          <p:cNvPr id="73" name="Shape 3"/>
          <p:cNvSpPr/>
          <p:nvPr/>
        </p:nvSpPr>
        <p:spPr>
          <a:xfrm>
            <a:off x="1047750" y="3172643"/>
            <a:ext cx="4583535" cy="6371407"/>
          </a:xfrm>
          <a:prstGeom prst="roundRect">
            <a:avLst>
              <a:gd name="adj" fmla="val 3325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4"/>
          <p:cNvSpPr txBox="1"/>
          <p:nvPr/>
        </p:nvSpPr>
        <p:spPr>
          <a:xfrm>
            <a:off x="1343024" y="3467918"/>
            <a:ext cx="439228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supplier_email.txt</a:t>
            </a:r>
          </a:p>
        </p:txBody>
      </p:sp>
      <p:sp>
        <p:nvSpPr>
          <p:cNvPr id="75" name="Shape 5"/>
          <p:cNvSpPr/>
          <p:nvPr/>
        </p:nvSpPr>
        <p:spPr>
          <a:xfrm>
            <a:off x="1343025" y="3939406"/>
            <a:ext cx="3992985" cy="4528319"/>
          </a:xfrm>
          <a:prstGeom prst="roundRect">
            <a:avLst>
              <a:gd name="adj" fmla="val 2385"/>
            </a:avLst>
          </a:prstGeom>
          <a:solidFill>
            <a:srgbClr val="080F1B"/>
          </a:solidFill>
          <a:ln>
            <a:solidFill>
              <a:srgbClr val="94A3B8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6"/>
          <p:cNvSpPr txBox="1"/>
          <p:nvPr/>
        </p:nvSpPr>
        <p:spPr>
          <a:xfrm>
            <a:off x="1543049" y="4139431"/>
            <a:ext cx="3712726" cy="4166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0000"/>
              </a:lnSpc>
              <a:defRPr>
                <a:solidFill>
                  <a:srgbClr val="9FB0C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"First up, the </a:t>
            </a:r>
            <a:r>
              <a:rPr>
                <a:solidFill>
                  <a:srgbClr val="E7EDF5"/>
                </a:solidFill>
              </a:rPr>
              <a:t>Aurora X </a:t>
            </a:r>
            <a:r>
              <a:t>— new flagship over-ear cans, ANC, </a:t>
            </a:r>
            <a:r>
              <a:rPr>
                <a:solidFill>
                  <a:srgbClr val="E7EDF5"/>
                </a:solidFill>
              </a:rPr>
              <a:t>40h </a:t>
            </a:r>
            <a:r>
              <a:t>battery, USB-C fast charge… midnight black and sand. Wholesale €149, suggest </a:t>
            </a:r>
            <a:r>
              <a:rPr>
                <a:solidFill>
                  <a:srgbClr val="E7EDF5"/>
                </a:solidFill>
              </a:rPr>
              <a:t>€249 </a:t>
            </a:r>
            <a:r>
              <a:t>retail. MOQ 50, ships week 28…"</a:t>
            </a:r>
          </a:p>
        </p:txBody>
      </p:sp>
      <p:sp>
        <p:nvSpPr>
          <p:cNvPr id="77" name="Text 7"/>
          <p:cNvSpPr txBox="1"/>
          <p:nvPr/>
        </p:nvSpPr>
        <p:spPr>
          <a:xfrm>
            <a:off x="1343024" y="8639175"/>
            <a:ext cx="4112776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885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Unstructured prose. Specs buried, no category, prices mixed.</a:t>
            </a:r>
          </a:p>
        </p:txBody>
      </p:sp>
      <p:sp>
        <p:nvSpPr>
          <p:cNvPr id="78" name="Text 8"/>
          <p:cNvSpPr txBox="1"/>
          <p:nvPr/>
        </p:nvSpPr>
        <p:spPr>
          <a:xfrm>
            <a:off x="5593184" y="3172643"/>
            <a:ext cx="990601" cy="6409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defRPr sz="34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9" name="Shape 9"/>
          <p:cNvSpPr/>
          <p:nvPr/>
        </p:nvSpPr>
        <p:spPr>
          <a:xfrm>
            <a:off x="6545684" y="3172643"/>
            <a:ext cx="5196558" cy="6371407"/>
          </a:xfrm>
          <a:prstGeom prst="roundRect">
            <a:avLst>
              <a:gd name="adj" fmla="val 2933"/>
            </a:avLst>
          </a:prstGeom>
          <a:gradFill>
            <a:gsLst>
              <a:gs pos="0">
                <a:srgbClr val="38BDF8">
                  <a:alpha val="7000"/>
                </a:srgbClr>
              </a:gs>
              <a:gs pos="100000">
                <a:srgbClr val="9452BA">
                  <a:alpha val="7000"/>
                </a:srgbClr>
              </a:gs>
            </a:gsLst>
            <a:lin ang="5400000"/>
          </a:gradFill>
          <a:ln>
            <a:solidFill>
              <a:srgbClr val="38BDF8">
                <a:alpha val="3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0"/>
          <p:cNvSpPr txBox="1"/>
          <p:nvPr/>
        </p:nvSpPr>
        <p:spPr>
          <a:xfrm>
            <a:off x="6840959" y="3467918"/>
            <a:ext cx="5066609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AI agent</a:t>
            </a:r>
          </a:p>
        </p:txBody>
      </p:sp>
      <p:sp>
        <p:nvSpPr>
          <p:cNvPr id="81" name="Text 11"/>
          <p:cNvSpPr txBox="1"/>
          <p:nvPr/>
        </p:nvSpPr>
        <p:spPr>
          <a:xfrm>
            <a:off x="6840959" y="4750965"/>
            <a:ext cx="33910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7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82" name="Text 12"/>
          <p:cNvSpPr txBox="1"/>
          <p:nvPr/>
        </p:nvSpPr>
        <p:spPr>
          <a:xfrm>
            <a:off x="7237214" y="4727152"/>
            <a:ext cx="4227438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reads the email, parses each product</a:t>
            </a:r>
          </a:p>
        </p:txBody>
      </p:sp>
      <p:sp>
        <p:nvSpPr>
          <p:cNvPr id="83" name="Text 13"/>
          <p:cNvSpPr txBox="1"/>
          <p:nvPr/>
        </p:nvSpPr>
        <p:spPr>
          <a:xfrm>
            <a:off x="6840959" y="5198640"/>
            <a:ext cx="33910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7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84" name="Text 14"/>
          <p:cNvSpPr txBox="1"/>
          <p:nvPr/>
        </p:nvSpPr>
        <p:spPr>
          <a:xfrm>
            <a:off x="7237214" y="5174827"/>
            <a:ext cx="2682705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picks the right category</a:t>
            </a:r>
          </a:p>
        </p:txBody>
      </p:sp>
      <p:sp>
        <p:nvSpPr>
          <p:cNvPr id="85" name="Text 15"/>
          <p:cNvSpPr txBox="1"/>
          <p:nvPr/>
        </p:nvSpPr>
        <p:spPr>
          <a:xfrm>
            <a:off x="6840959" y="5646315"/>
            <a:ext cx="33910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7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6" name="Text 16"/>
          <p:cNvSpPr txBox="1"/>
          <p:nvPr/>
        </p:nvSpPr>
        <p:spPr>
          <a:xfrm>
            <a:off x="7237214" y="5622502"/>
            <a:ext cx="1152303" cy="1657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fills the attributes that category needs</a:t>
            </a:r>
          </a:p>
        </p:txBody>
      </p:sp>
      <p:sp>
        <p:nvSpPr>
          <p:cNvPr id="87" name="Text 17"/>
          <p:cNvSpPr txBox="1"/>
          <p:nvPr/>
        </p:nvSpPr>
        <p:spPr>
          <a:xfrm>
            <a:off x="8446590" y="5665365"/>
            <a:ext cx="33004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500">
                <a:solidFill>
                  <a:srgbClr val="7FD7F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(e.g. battery_life_hours)</a:t>
            </a:r>
          </a:p>
        </p:txBody>
      </p:sp>
      <p:sp>
        <p:nvSpPr>
          <p:cNvPr id="88" name="Text 18"/>
          <p:cNvSpPr txBox="1"/>
          <p:nvPr/>
        </p:nvSpPr>
        <p:spPr>
          <a:xfrm>
            <a:off x="6840959" y="7389390"/>
            <a:ext cx="33910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7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9" name="Text 19"/>
          <p:cNvSpPr txBox="1"/>
          <p:nvPr/>
        </p:nvSpPr>
        <p:spPr>
          <a:xfrm>
            <a:off x="7237214" y="7365578"/>
            <a:ext cx="4255030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retrieves similar entries for the house voice</a:t>
            </a:r>
          </a:p>
        </p:txBody>
      </p:sp>
      <p:sp>
        <p:nvSpPr>
          <p:cNvPr id="90" name="Text 20"/>
          <p:cNvSpPr txBox="1"/>
          <p:nvPr/>
        </p:nvSpPr>
        <p:spPr>
          <a:xfrm>
            <a:off x="6840959" y="8160915"/>
            <a:ext cx="339106" cy="328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700">
                <a:solidFill>
                  <a:srgbClr val="A875E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1" name="Text 21"/>
          <p:cNvSpPr txBox="1"/>
          <p:nvPr/>
        </p:nvSpPr>
        <p:spPr>
          <a:xfrm>
            <a:off x="7237214" y="8137103"/>
            <a:ext cx="3428780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defRPr sz="1900">
                <a:solidFill>
                  <a:srgbClr val="E7ED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creates the product in the PIM</a:t>
            </a:r>
          </a:p>
        </p:txBody>
      </p:sp>
      <p:sp>
        <p:nvSpPr>
          <p:cNvPr id="92" name="Text 22"/>
          <p:cNvSpPr txBox="1"/>
          <p:nvPr/>
        </p:nvSpPr>
        <p:spPr>
          <a:xfrm>
            <a:off x="11704140" y="3172643"/>
            <a:ext cx="990601" cy="6409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 algn="ctr">
              <a:defRPr sz="3400">
                <a:solidFill>
                  <a:srgbClr val="A875E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93" name="Shape 23"/>
          <p:cNvSpPr/>
          <p:nvPr/>
        </p:nvSpPr>
        <p:spPr>
          <a:xfrm>
            <a:off x="12656640" y="3172643"/>
            <a:ext cx="4583610" cy="6371407"/>
          </a:xfrm>
          <a:prstGeom prst="roundRect">
            <a:avLst>
              <a:gd name="adj" fmla="val 3325"/>
            </a:avLst>
          </a:prstGeom>
          <a:solidFill>
            <a:srgbClr val="0F1A2C"/>
          </a:solidFill>
          <a:ln>
            <a:solidFill>
              <a:srgbClr val="A875E0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24"/>
          <p:cNvSpPr txBox="1"/>
          <p:nvPr/>
        </p:nvSpPr>
        <p:spPr>
          <a:xfrm>
            <a:off x="12951915" y="3467918"/>
            <a:ext cx="439236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A6E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PIM catalog entry</a:t>
            </a:r>
          </a:p>
        </p:txBody>
      </p:sp>
      <p:sp>
        <p:nvSpPr>
          <p:cNvPr id="95" name="Shape 25"/>
          <p:cNvSpPr/>
          <p:nvPr/>
        </p:nvSpPr>
        <p:spPr>
          <a:xfrm>
            <a:off x="12951915" y="3939406"/>
            <a:ext cx="3993060" cy="4814069"/>
          </a:xfrm>
          <a:prstGeom prst="roundRect">
            <a:avLst>
              <a:gd name="adj" fmla="val 2385"/>
            </a:avLst>
          </a:prstGeom>
          <a:solidFill>
            <a:srgbClr val="080F1B"/>
          </a:solidFill>
          <a:ln>
            <a:solidFill>
              <a:srgbClr val="94A3B8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26"/>
          <p:cNvSpPr txBox="1"/>
          <p:nvPr/>
        </p:nvSpPr>
        <p:spPr>
          <a:xfrm>
            <a:off x="13170991" y="4158481"/>
            <a:ext cx="3910400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z="20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Aurora X</a:t>
            </a:r>
          </a:p>
        </p:txBody>
      </p:sp>
      <p:sp>
        <p:nvSpPr>
          <p:cNvPr id="97" name="Text 27"/>
          <p:cNvSpPr txBox="1"/>
          <p:nvPr/>
        </p:nvSpPr>
        <p:spPr>
          <a:xfrm>
            <a:off x="13170991" y="4572818"/>
            <a:ext cx="3910400" cy="34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Headphones · €249.00</a:t>
            </a:r>
          </a:p>
        </p:txBody>
      </p:sp>
      <p:sp>
        <p:nvSpPr>
          <p:cNvPr id="98" name="Shape 28"/>
          <p:cNvSpPr/>
          <p:nvPr/>
        </p:nvSpPr>
        <p:spPr>
          <a:xfrm>
            <a:off x="13170991" y="5023668"/>
            <a:ext cx="3554910" cy="12701"/>
          </a:xfrm>
          <a:prstGeom prst="rect">
            <a:avLst/>
          </a:prstGeom>
          <a:solidFill>
            <a:srgbClr val="94A3B8">
              <a:alpha val="12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29"/>
          <p:cNvSpPr txBox="1"/>
          <p:nvPr/>
        </p:nvSpPr>
        <p:spPr>
          <a:xfrm>
            <a:off x="13170991" y="5177656"/>
            <a:ext cx="3661557" cy="1203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70000"/>
              </a:lnSpc>
              <a:defRPr>
                <a:solidFill>
                  <a:srgbClr val="9FB0C4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noise_cancellation: </a:t>
            </a:r>
            <a:r>
              <a:rPr>
                <a:solidFill>
                  <a:srgbClr val="7FD7F5"/>
                </a:solidFill>
              </a:rPr>
              <a:t>Yes </a:t>
            </a:r>
            <a:r>
              <a:t>battery_life_hours: </a:t>
            </a:r>
            <a:r>
              <a:rPr>
                <a:solidFill>
                  <a:srgbClr val="7FD7F5"/>
                </a:solidFill>
              </a:rPr>
              <a:t>40 </a:t>
            </a:r>
            <a:r>
              <a:t>color: </a:t>
            </a:r>
            <a:r>
              <a:rPr>
                <a:solidFill>
                  <a:srgbClr val="7FD7F5"/>
                </a:solidFill>
              </a:rPr>
              <a:t>Black, Sand</a:t>
            </a:r>
          </a:p>
        </p:txBody>
      </p:sp>
      <p:sp>
        <p:nvSpPr>
          <p:cNvPr id="100" name="Text 30"/>
          <p:cNvSpPr txBox="1"/>
          <p:nvPr/>
        </p:nvSpPr>
        <p:spPr>
          <a:xfrm>
            <a:off x="12951915" y="8924925"/>
            <a:ext cx="4392365" cy="361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7885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Structured, on-brand, complete.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1047750" y="800099"/>
            <a:ext cx="17811750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DATA</a:t>
            </a:r>
          </a:p>
        </p:txBody>
      </p:sp>
      <p:sp>
        <p:nvSpPr>
          <p:cNvPr id="105" name="Text 1"/>
          <p:cNvSpPr txBox="1"/>
          <p:nvPr/>
        </p:nvSpPr>
        <p:spPr>
          <a:xfrm>
            <a:off x="1047750" y="1271587"/>
            <a:ext cx="17811750" cy="63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000"/>
              </a:lnSpc>
              <a:defRPr b="1" spc="-92" sz="4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shared dataset, all the way through</a:t>
            </a:r>
          </a:p>
        </p:txBody>
      </p:sp>
      <p:sp>
        <p:nvSpPr>
          <p:cNvPr id="106" name="Text 2"/>
          <p:cNvSpPr txBox="1"/>
          <p:nvPr/>
        </p:nvSpPr>
        <p:spPr>
          <a:xfrm>
            <a:off x="1047749" y="1980232"/>
            <a:ext cx="12950192" cy="81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 sz="21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Synthetic, committed, no downloads. You never re-learn a domain — you go deeper each week on the same catalog.</a:t>
            </a:r>
          </a:p>
        </p:txBody>
      </p:sp>
      <p:sp>
        <p:nvSpPr>
          <p:cNvPr id="107" name="Shape 3"/>
          <p:cNvSpPr/>
          <p:nvPr/>
        </p:nvSpPr>
        <p:spPr>
          <a:xfrm>
            <a:off x="1047750" y="3134543"/>
            <a:ext cx="3876675" cy="6409507"/>
          </a:xfrm>
          <a:prstGeom prst="roundRect">
            <a:avLst>
              <a:gd name="adj" fmla="val 3931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4"/>
          <p:cNvSpPr txBox="1"/>
          <p:nvPr/>
        </p:nvSpPr>
        <p:spPr>
          <a:xfrm>
            <a:off x="1343025" y="3429818"/>
            <a:ext cx="361473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products.csv</a:t>
            </a:r>
          </a:p>
        </p:txBody>
      </p:sp>
      <p:sp>
        <p:nvSpPr>
          <p:cNvPr id="109" name="Text 5"/>
          <p:cNvSpPr txBox="1"/>
          <p:nvPr/>
        </p:nvSpPr>
        <p:spPr>
          <a:xfrm>
            <a:off x="1343025" y="3920356"/>
            <a:ext cx="3614738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13816">
              <a:defRPr b="1" sz="35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~200</a:t>
            </a:r>
          </a:p>
        </p:txBody>
      </p:sp>
      <p:sp>
        <p:nvSpPr>
          <p:cNvPr id="110" name="Text 6"/>
          <p:cNvSpPr txBox="1"/>
          <p:nvPr/>
        </p:nvSpPr>
        <p:spPr>
          <a:xfrm>
            <a:off x="1343025" y="4510906"/>
            <a:ext cx="3384709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real-brand products, multi-domain</a:t>
            </a:r>
          </a:p>
        </p:txBody>
      </p:sp>
      <p:sp>
        <p:nvSpPr>
          <p:cNvPr id="111" name="Text 7"/>
          <p:cNvSpPr txBox="1"/>
          <p:nvPr/>
        </p:nvSpPr>
        <p:spPr>
          <a:xfrm>
            <a:off x="1343025" y="8558213"/>
            <a:ext cx="3384709" cy="72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5000"/>
              </a:lnSpc>
              <a:defRPr>
                <a:solidFill>
                  <a:srgbClr val="78859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PIM catalog </a:t>
            </a:r>
            <a:r>
              <a:rPr>
                <a:solidFill>
                  <a:srgbClr val="C9A6EC"/>
                </a:solidFill>
              </a:rPr>
              <a:t>and </a:t>
            </a:r>
            <a:r>
              <a:t>the RAG corpus — same rows.</a:t>
            </a:r>
          </a:p>
        </p:txBody>
      </p:sp>
      <p:sp>
        <p:nvSpPr>
          <p:cNvPr id="112" name="Shape 8"/>
          <p:cNvSpPr/>
          <p:nvPr/>
        </p:nvSpPr>
        <p:spPr>
          <a:xfrm>
            <a:off x="5153025" y="3134543"/>
            <a:ext cx="3876675" cy="6409507"/>
          </a:xfrm>
          <a:prstGeom prst="roundRect">
            <a:avLst>
              <a:gd name="adj" fmla="val 3931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9"/>
          <p:cNvSpPr txBox="1"/>
          <p:nvPr/>
        </p:nvSpPr>
        <p:spPr>
          <a:xfrm>
            <a:off x="5448300" y="3429818"/>
            <a:ext cx="361473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taxonomy.json</a:t>
            </a:r>
          </a:p>
        </p:txBody>
      </p:sp>
      <p:sp>
        <p:nvSpPr>
          <p:cNvPr id="114" name="Text 10"/>
          <p:cNvSpPr txBox="1"/>
          <p:nvPr/>
        </p:nvSpPr>
        <p:spPr>
          <a:xfrm>
            <a:off x="5448300" y="3920356"/>
            <a:ext cx="3614738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13816">
              <a:defRPr b="1" sz="35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 / 22</a:t>
            </a:r>
          </a:p>
        </p:txBody>
      </p:sp>
      <p:sp>
        <p:nvSpPr>
          <p:cNvPr id="115" name="Text 11"/>
          <p:cNvSpPr txBox="1"/>
          <p:nvPr/>
        </p:nvSpPr>
        <p:spPr>
          <a:xfrm>
            <a:off x="5448300" y="4510906"/>
            <a:ext cx="3614738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top categories / leaves</a:t>
            </a:r>
          </a:p>
        </p:txBody>
      </p:sp>
      <p:sp>
        <p:nvSpPr>
          <p:cNvPr id="116" name="Text 12"/>
          <p:cNvSpPr txBox="1"/>
          <p:nvPr/>
        </p:nvSpPr>
        <p:spPr>
          <a:xfrm>
            <a:off x="5448300" y="8212931"/>
            <a:ext cx="3384709" cy="107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5000"/>
              </a:lnSpc>
              <a:defRPr>
                <a:solidFill>
                  <a:srgbClr val="7885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Category tree + which attributes apply per leaf. Structured, not RAG.</a:t>
            </a:r>
          </a:p>
        </p:txBody>
      </p:sp>
      <p:sp>
        <p:nvSpPr>
          <p:cNvPr id="117" name="Shape 13"/>
          <p:cNvSpPr/>
          <p:nvPr/>
        </p:nvSpPr>
        <p:spPr>
          <a:xfrm>
            <a:off x="9258300" y="3134543"/>
            <a:ext cx="3876675" cy="6409507"/>
          </a:xfrm>
          <a:prstGeom prst="roundRect">
            <a:avLst>
              <a:gd name="adj" fmla="val 3931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14"/>
          <p:cNvSpPr txBox="1"/>
          <p:nvPr/>
        </p:nvSpPr>
        <p:spPr>
          <a:xfrm>
            <a:off x="9553575" y="3429818"/>
            <a:ext cx="361473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supplier_emails/</a:t>
            </a:r>
          </a:p>
        </p:txBody>
      </p:sp>
      <p:sp>
        <p:nvSpPr>
          <p:cNvPr id="119" name="Text 15"/>
          <p:cNvSpPr txBox="1"/>
          <p:nvPr/>
        </p:nvSpPr>
        <p:spPr>
          <a:xfrm>
            <a:off x="9553575" y="3920356"/>
            <a:ext cx="3614738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13816">
              <a:defRPr b="1" sz="35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prose</a:t>
            </a:r>
          </a:p>
        </p:txBody>
      </p:sp>
      <p:sp>
        <p:nvSpPr>
          <p:cNvPr id="120" name="Text 16"/>
          <p:cNvSpPr txBox="1"/>
          <p:nvPr/>
        </p:nvSpPr>
        <p:spPr>
          <a:xfrm>
            <a:off x="9553575" y="4510906"/>
            <a:ext cx="3614738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free-form, no spreadsheet</a:t>
            </a:r>
          </a:p>
        </p:txBody>
      </p:sp>
      <p:sp>
        <p:nvSpPr>
          <p:cNvPr id="121" name="Text 17"/>
          <p:cNvSpPr txBox="1"/>
          <p:nvPr/>
        </p:nvSpPr>
        <p:spPr>
          <a:xfrm>
            <a:off x="9553575" y="8212931"/>
            <a:ext cx="3384709" cy="1073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5000"/>
              </a:lnSpc>
              <a:defRPr>
                <a:solidFill>
                  <a:srgbClr val="7885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agent's input — messy text is what makes it earn its keep.</a:t>
            </a:r>
          </a:p>
        </p:txBody>
      </p:sp>
      <p:sp>
        <p:nvSpPr>
          <p:cNvPr id="122" name="Shape 18"/>
          <p:cNvSpPr/>
          <p:nvPr/>
        </p:nvSpPr>
        <p:spPr>
          <a:xfrm>
            <a:off x="13363575" y="3134543"/>
            <a:ext cx="3876675" cy="6409507"/>
          </a:xfrm>
          <a:prstGeom prst="roundRect">
            <a:avLst>
              <a:gd name="adj" fmla="val 3931"/>
            </a:avLst>
          </a:prstGeom>
          <a:solidFill>
            <a:srgbClr val="0F1A2C"/>
          </a:solidFill>
          <a:ln>
            <a:solidFill>
              <a:srgbClr val="A875E0">
                <a:alpha val="2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19"/>
          <p:cNvSpPr txBox="1"/>
          <p:nvPr/>
        </p:nvSpPr>
        <p:spPr>
          <a:xfrm>
            <a:off x="13658850" y="3429818"/>
            <a:ext cx="361473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A6E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SKILL.md</a:t>
            </a:r>
          </a:p>
        </p:txBody>
      </p:sp>
      <p:sp>
        <p:nvSpPr>
          <p:cNvPr id="124" name="Text 20"/>
          <p:cNvSpPr txBox="1"/>
          <p:nvPr/>
        </p:nvSpPr>
        <p:spPr>
          <a:xfrm>
            <a:off x="13658850" y="3920356"/>
            <a:ext cx="3614738" cy="552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13816">
              <a:defRPr b="1" sz="355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SOP</a:t>
            </a:r>
          </a:p>
        </p:txBody>
      </p:sp>
      <p:sp>
        <p:nvSpPr>
          <p:cNvPr id="125" name="Text 21"/>
          <p:cNvSpPr txBox="1"/>
          <p:nvPr/>
        </p:nvSpPr>
        <p:spPr>
          <a:xfrm>
            <a:off x="13658850" y="4510906"/>
            <a:ext cx="3614738" cy="36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z="1900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add_product playbook</a:t>
            </a:r>
          </a:p>
        </p:txBody>
      </p:sp>
      <p:sp>
        <p:nvSpPr>
          <p:cNvPr id="126" name="Text 22"/>
          <p:cNvSpPr txBox="1"/>
          <p:nvPr/>
        </p:nvSpPr>
        <p:spPr>
          <a:xfrm>
            <a:off x="13658850" y="8212931"/>
            <a:ext cx="3384709" cy="107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5000"/>
              </a:lnSpc>
              <a:defRPr>
                <a:solidFill>
                  <a:srgbClr val="7885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skill the agent loads at startup — how we add a product.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 txBox="1"/>
          <p:nvPr/>
        </p:nvSpPr>
        <p:spPr>
          <a:xfrm>
            <a:off x="1047750" y="800099"/>
            <a:ext cx="18021300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BUILD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1047750" y="1271587"/>
            <a:ext cx="18021300" cy="63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000"/>
              </a:lnSpc>
              <a:defRPr b="1" spc="-92" sz="4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Five labs become the agent</a:t>
            </a:r>
          </a:p>
        </p:txBody>
      </p:sp>
      <p:sp>
        <p:nvSpPr>
          <p:cNvPr id="132" name="Text 2"/>
          <p:cNvSpPr txBox="1"/>
          <p:nvPr/>
        </p:nvSpPr>
        <p:spPr>
          <a:xfrm>
            <a:off x="1047750" y="1942132"/>
            <a:ext cx="13830300" cy="411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 sz="21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Each TD builds one capability. TD5 composes them into the agent.</a:t>
            </a:r>
          </a:p>
        </p:txBody>
      </p:sp>
      <p:sp>
        <p:nvSpPr>
          <p:cNvPr id="133" name="Text 3"/>
          <p:cNvSpPr txBox="1"/>
          <p:nvPr/>
        </p:nvSpPr>
        <p:spPr>
          <a:xfrm>
            <a:off x="1047749" y="2505967"/>
            <a:ext cx="301809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raw product specs →</a:t>
            </a:r>
          </a:p>
        </p:txBody>
      </p:sp>
      <p:sp>
        <p:nvSpPr>
          <p:cNvPr id="134" name="Text 4"/>
          <p:cNvSpPr txBox="1"/>
          <p:nvPr/>
        </p:nvSpPr>
        <p:spPr>
          <a:xfrm>
            <a:off x="13810729" y="2505967"/>
            <a:ext cx="3772473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→ on-brand catalog entry</a:t>
            </a:r>
          </a:p>
        </p:txBody>
      </p:sp>
      <p:sp>
        <p:nvSpPr>
          <p:cNvPr id="135" name="Shape 5"/>
          <p:cNvSpPr/>
          <p:nvPr/>
        </p:nvSpPr>
        <p:spPr>
          <a:xfrm>
            <a:off x="857250" y="2844105"/>
            <a:ext cx="2784053" cy="5775128"/>
          </a:xfrm>
          <a:prstGeom prst="roundRect">
            <a:avLst>
              <a:gd name="adj" fmla="val 4790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6"/>
          <p:cNvSpPr txBox="1"/>
          <p:nvPr/>
        </p:nvSpPr>
        <p:spPr>
          <a:xfrm>
            <a:off x="1076324" y="3101280"/>
            <a:ext cx="258049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TD1</a:t>
            </a:r>
          </a:p>
        </p:txBody>
      </p:sp>
      <p:sp>
        <p:nvSpPr>
          <p:cNvPr id="137" name="Text 7"/>
          <p:cNvSpPr txBox="1"/>
          <p:nvPr/>
        </p:nvSpPr>
        <p:spPr>
          <a:xfrm>
            <a:off x="1076324" y="7271445"/>
            <a:ext cx="2580496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24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Embeddings</a:t>
            </a:r>
          </a:p>
        </p:txBody>
      </p:sp>
      <p:sp>
        <p:nvSpPr>
          <p:cNvPr id="138" name="Text 8"/>
          <p:cNvSpPr txBox="1"/>
          <p:nvPr/>
        </p:nvSpPr>
        <p:spPr>
          <a:xfrm>
            <a:off x="1076324" y="7719120"/>
            <a:ext cx="2422105" cy="68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Text → vectors. The semantic space.</a:t>
            </a:r>
          </a:p>
        </p:txBody>
      </p:sp>
      <p:sp>
        <p:nvSpPr>
          <p:cNvPr id="139" name="Text 9"/>
          <p:cNvSpPr txBox="1"/>
          <p:nvPr/>
        </p:nvSpPr>
        <p:spPr>
          <a:xfrm>
            <a:off x="3774652" y="2844105"/>
            <a:ext cx="400051" cy="581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500">
                <a:solidFill>
                  <a:srgbClr val="39516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0" name="Shape 10"/>
          <p:cNvSpPr/>
          <p:nvPr/>
        </p:nvSpPr>
        <p:spPr>
          <a:xfrm>
            <a:off x="4231852" y="2844105"/>
            <a:ext cx="2784054" cy="5775128"/>
          </a:xfrm>
          <a:prstGeom prst="roundRect">
            <a:avLst>
              <a:gd name="adj" fmla="val 4790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11"/>
          <p:cNvSpPr txBox="1"/>
          <p:nvPr/>
        </p:nvSpPr>
        <p:spPr>
          <a:xfrm>
            <a:off x="4450927" y="3101280"/>
            <a:ext cx="258049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TD2</a:t>
            </a:r>
          </a:p>
        </p:txBody>
      </p:sp>
      <p:sp>
        <p:nvSpPr>
          <p:cNvPr id="142" name="Text 12"/>
          <p:cNvSpPr txBox="1"/>
          <p:nvPr/>
        </p:nvSpPr>
        <p:spPr>
          <a:xfrm>
            <a:off x="4450927" y="6949975"/>
            <a:ext cx="2580495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24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Classification</a:t>
            </a:r>
          </a:p>
        </p:txBody>
      </p:sp>
      <p:sp>
        <p:nvSpPr>
          <p:cNvPr id="143" name="Text 13"/>
          <p:cNvSpPr txBox="1"/>
          <p:nvPr/>
        </p:nvSpPr>
        <p:spPr>
          <a:xfrm>
            <a:off x="4450927" y="7397650"/>
            <a:ext cx="2422104" cy="1002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lnSpc>
                <a:spcPct val="135000"/>
              </a:lnSpc>
              <a:defRPr sz="1710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Which category? Classic ML vs zero-shot.</a:t>
            </a:r>
          </a:p>
        </p:txBody>
      </p:sp>
      <p:sp>
        <p:nvSpPr>
          <p:cNvPr id="144" name="Text 14"/>
          <p:cNvSpPr txBox="1"/>
          <p:nvPr/>
        </p:nvSpPr>
        <p:spPr>
          <a:xfrm>
            <a:off x="7149256" y="2844105"/>
            <a:ext cx="400051" cy="581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500">
                <a:solidFill>
                  <a:srgbClr val="39516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5" name="Shape 15"/>
          <p:cNvSpPr/>
          <p:nvPr/>
        </p:nvSpPr>
        <p:spPr>
          <a:xfrm>
            <a:off x="7606456" y="2844105"/>
            <a:ext cx="2784054" cy="5775128"/>
          </a:xfrm>
          <a:prstGeom prst="roundRect">
            <a:avLst>
              <a:gd name="adj" fmla="val 4790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16"/>
          <p:cNvSpPr txBox="1"/>
          <p:nvPr/>
        </p:nvSpPr>
        <p:spPr>
          <a:xfrm>
            <a:off x="7825531" y="3101280"/>
            <a:ext cx="258049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TD3</a:t>
            </a:r>
          </a:p>
        </p:txBody>
      </p:sp>
      <p:sp>
        <p:nvSpPr>
          <p:cNvPr id="147" name="Text 17"/>
          <p:cNvSpPr txBox="1"/>
          <p:nvPr/>
        </p:nvSpPr>
        <p:spPr>
          <a:xfrm>
            <a:off x="7825531" y="6949975"/>
            <a:ext cx="2580495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24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RAG</a:t>
            </a:r>
          </a:p>
        </p:txBody>
      </p:sp>
      <p:sp>
        <p:nvSpPr>
          <p:cNvPr id="148" name="Text 18"/>
          <p:cNvSpPr txBox="1"/>
          <p:nvPr/>
        </p:nvSpPr>
        <p:spPr>
          <a:xfrm>
            <a:off x="7825531" y="7397650"/>
            <a:ext cx="2422104" cy="1002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Retrieve similar entries → generate on-brand.</a:t>
            </a:r>
          </a:p>
        </p:txBody>
      </p:sp>
      <p:sp>
        <p:nvSpPr>
          <p:cNvPr id="149" name="Text 19"/>
          <p:cNvSpPr txBox="1"/>
          <p:nvPr/>
        </p:nvSpPr>
        <p:spPr>
          <a:xfrm>
            <a:off x="10523859" y="2844105"/>
            <a:ext cx="400051" cy="581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500">
                <a:solidFill>
                  <a:srgbClr val="39516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0" name="Shape 20"/>
          <p:cNvSpPr/>
          <p:nvPr/>
        </p:nvSpPr>
        <p:spPr>
          <a:xfrm>
            <a:off x="10981059" y="2844105"/>
            <a:ext cx="2784054" cy="5775128"/>
          </a:xfrm>
          <a:prstGeom prst="roundRect">
            <a:avLst>
              <a:gd name="adj" fmla="val 4790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21"/>
          <p:cNvSpPr txBox="1"/>
          <p:nvPr/>
        </p:nvSpPr>
        <p:spPr>
          <a:xfrm>
            <a:off x="11200134" y="3101280"/>
            <a:ext cx="258049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TD4</a:t>
            </a:r>
          </a:p>
        </p:txBody>
      </p:sp>
      <p:sp>
        <p:nvSpPr>
          <p:cNvPr id="152" name="Text 22"/>
          <p:cNvSpPr txBox="1"/>
          <p:nvPr/>
        </p:nvSpPr>
        <p:spPr>
          <a:xfrm>
            <a:off x="11200134" y="7271445"/>
            <a:ext cx="2580495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24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</a:t>
            </a:r>
          </a:p>
        </p:txBody>
      </p:sp>
      <p:sp>
        <p:nvSpPr>
          <p:cNvPr id="153" name="Text 23"/>
          <p:cNvSpPr txBox="1"/>
          <p:nvPr/>
        </p:nvSpPr>
        <p:spPr>
          <a:xfrm>
            <a:off x="11200134" y="7719120"/>
            <a:ext cx="2422105" cy="68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PIM operations as standard tools.</a:t>
            </a:r>
          </a:p>
        </p:txBody>
      </p:sp>
      <p:sp>
        <p:nvSpPr>
          <p:cNvPr id="154" name="Text 24"/>
          <p:cNvSpPr txBox="1"/>
          <p:nvPr/>
        </p:nvSpPr>
        <p:spPr>
          <a:xfrm>
            <a:off x="13898463" y="2844105"/>
            <a:ext cx="400051" cy="581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 anchor="ctr">
            <a:normAutofit fontScale="100000" lnSpcReduction="0"/>
          </a:bodyPr>
          <a:lstStyle>
            <a:lvl1pPr>
              <a:defRPr sz="2500">
                <a:solidFill>
                  <a:srgbClr val="A875E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5" name="Shape 25"/>
          <p:cNvSpPr/>
          <p:nvPr/>
        </p:nvSpPr>
        <p:spPr>
          <a:xfrm>
            <a:off x="14355663" y="2844105"/>
            <a:ext cx="3075088" cy="5775128"/>
          </a:xfrm>
          <a:prstGeom prst="roundRect">
            <a:avLst>
              <a:gd name="adj" fmla="val 4336"/>
            </a:avLst>
          </a:prstGeom>
          <a:gradFill>
            <a:gsLst>
              <a:gs pos="0">
                <a:srgbClr val="9452BA">
                  <a:alpha val="18000"/>
                </a:srgbClr>
              </a:gs>
              <a:gs pos="100000">
                <a:srgbClr val="38BDF8">
                  <a:alpha val="10000"/>
                </a:srgbClr>
              </a:gs>
            </a:gsLst>
            <a:lin ang="5400000"/>
          </a:gradFill>
          <a:ln w="14288">
            <a:solidFill>
              <a:srgbClr val="A875E0">
                <a:alpha val="55000"/>
              </a:srgbClr>
            </a:solidFill>
          </a:ln>
          <a:effectLst>
            <a:outerShdw sx="100000" sy="100000" kx="0" ky="0" algn="b" rotWithShape="0" blurRad="482600" dist="50800" dir="16200000">
              <a:srgbClr val="9452BA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" name="Text 26"/>
          <p:cNvSpPr txBox="1"/>
          <p:nvPr/>
        </p:nvSpPr>
        <p:spPr>
          <a:xfrm>
            <a:off x="14579500" y="3106042"/>
            <a:ext cx="2890154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A6E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TD5 · capstone</a:t>
            </a:r>
          </a:p>
        </p:txBody>
      </p:sp>
      <p:sp>
        <p:nvSpPr>
          <p:cNvPr id="157" name="Text 27"/>
          <p:cNvSpPr txBox="1"/>
          <p:nvPr/>
        </p:nvSpPr>
        <p:spPr>
          <a:xfrm>
            <a:off x="14579500" y="6945213"/>
            <a:ext cx="2890154" cy="409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defRPr b="1" sz="24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agent</a:t>
            </a:r>
          </a:p>
        </p:txBody>
      </p:sp>
      <p:sp>
        <p:nvSpPr>
          <p:cNvPr id="158" name="Text 28"/>
          <p:cNvSpPr txBox="1"/>
          <p:nvPr/>
        </p:nvSpPr>
        <p:spPr>
          <a:xfrm>
            <a:off x="14579500" y="7392888"/>
            <a:ext cx="2706235" cy="1002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05255">
              <a:lnSpc>
                <a:spcPct val="135000"/>
              </a:lnSpc>
              <a:defRPr sz="1782">
                <a:solidFill>
                  <a:srgbClr val="D6C2E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Reason → act → observe. Orchestrates all four.</a:t>
            </a:r>
          </a:p>
        </p:txBody>
      </p:sp>
      <p:sp>
        <p:nvSpPr>
          <p:cNvPr id="159" name="Shape 29"/>
          <p:cNvSpPr/>
          <p:nvPr/>
        </p:nvSpPr>
        <p:spPr>
          <a:xfrm>
            <a:off x="1047750" y="8828782"/>
            <a:ext cx="16192500" cy="734319"/>
          </a:xfrm>
          <a:prstGeom prst="roundRect">
            <a:avLst>
              <a:gd name="adj" fmla="val 15565"/>
            </a:avLst>
          </a:prstGeom>
          <a:solidFill>
            <a:srgbClr val="0E1626"/>
          </a:solidFill>
          <a:ln>
            <a:solidFill>
              <a:srgbClr val="38BDF8">
                <a:alpha val="1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30"/>
          <p:cNvSpPr txBox="1"/>
          <p:nvPr/>
        </p:nvSpPr>
        <p:spPr>
          <a:xfrm>
            <a:off x="1304925" y="9045922"/>
            <a:ext cx="2258418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one vector space</a:t>
            </a:r>
          </a:p>
        </p:txBody>
      </p:sp>
      <p:sp>
        <p:nvSpPr>
          <p:cNvPr id="161" name="Text 31"/>
          <p:cNvSpPr txBox="1"/>
          <p:nvPr/>
        </p:nvSpPr>
        <p:spPr>
          <a:xfrm>
            <a:off x="3670994" y="9028807"/>
            <a:ext cx="12046589" cy="372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35000"/>
              </a:lnSpc>
              <a:defRPr sz="19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TD1 </a:t>
            </a:r>
            <a:r>
              <a:rPr>
                <a:solidFill>
                  <a:srgbClr val="E7EDF5"/>
                </a:solidFill>
              </a:rPr>
              <a:t>embeds </a:t>
            </a:r>
            <a:r>
              <a:t>the catalog → TD3 </a:t>
            </a:r>
            <a:r>
              <a:rPr>
                <a:solidFill>
                  <a:srgbClr val="E7EDF5"/>
                </a:solidFill>
              </a:rPr>
              <a:t>searches </a:t>
            </a:r>
            <a:r>
              <a:t>it → TD4 </a:t>
            </a:r>
            <a:r>
              <a:rPr>
                <a:solidFill>
                  <a:srgbClr val="E7EDF5"/>
                </a:solidFill>
              </a:rPr>
              <a:t>exposes </a:t>
            </a:r>
            <a:r>
              <a:t>that search as a tool → TD5 </a:t>
            </a:r>
            <a:r>
              <a:rPr>
                <a:solidFill>
                  <a:srgbClr val="E7EDF5"/>
                </a:solidFill>
              </a:rPr>
              <a:t>exploits </a:t>
            </a:r>
            <a:r>
              <a:t>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 txBox="1"/>
          <p:nvPr/>
        </p:nvSpPr>
        <p:spPr>
          <a:xfrm>
            <a:off x="1047750" y="800099"/>
            <a:ext cx="17811750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TOOLING</a:t>
            </a:r>
          </a:p>
        </p:txBody>
      </p:sp>
      <p:sp>
        <p:nvSpPr>
          <p:cNvPr id="166" name="Text 1"/>
          <p:cNvSpPr txBox="1"/>
          <p:nvPr/>
        </p:nvSpPr>
        <p:spPr>
          <a:xfrm>
            <a:off x="1047750" y="1271587"/>
            <a:ext cx="17811750" cy="63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000"/>
              </a:lnSpc>
              <a:defRPr b="1" spc="-92" sz="4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ways you'll use Claude</a:t>
            </a:r>
          </a:p>
        </p:txBody>
      </p:sp>
      <p:sp>
        <p:nvSpPr>
          <p:cNvPr id="167" name="Text 2"/>
          <p:cNvSpPr txBox="1"/>
          <p:nvPr/>
        </p:nvSpPr>
        <p:spPr>
          <a:xfrm>
            <a:off x="1047750" y="1980232"/>
            <a:ext cx="13830300" cy="42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 sz="21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separate channels, two separate budgets. Don't mix them up.</a:t>
            </a:r>
          </a:p>
        </p:txBody>
      </p:sp>
      <p:sp>
        <p:nvSpPr>
          <p:cNvPr id="168" name="Shape 3"/>
          <p:cNvSpPr/>
          <p:nvPr/>
        </p:nvSpPr>
        <p:spPr>
          <a:xfrm>
            <a:off x="1047750" y="2747888"/>
            <a:ext cx="7962900" cy="6796162"/>
          </a:xfrm>
          <a:prstGeom prst="roundRect">
            <a:avLst>
              <a:gd name="adj" fmla="val 2242"/>
            </a:avLst>
          </a:prstGeom>
          <a:solidFill>
            <a:srgbClr val="0F1A2C"/>
          </a:solidFill>
          <a:ln>
            <a:solidFill>
              <a:srgbClr val="38BDF8">
                <a:alpha val="3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4"/>
          <p:cNvSpPr txBox="1"/>
          <p:nvPr/>
        </p:nvSpPr>
        <p:spPr>
          <a:xfrm>
            <a:off x="1381124" y="3081263"/>
            <a:ext cx="802576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Claude Code · Pro plan</a:t>
            </a:r>
          </a:p>
        </p:txBody>
      </p:sp>
      <p:sp>
        <p:nvSpPr>
          <p:cNvPr id="170" name="Text 5"/>
          <p:cNvSpPr txBox="1"/>
          <p:nvPr/>
        </p:nvSpPr>
        <p:spPr>
          <a:xfrm>
            <a:off x="1381124" y="3552750"/>
            <a:ext cx="8025767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Helps you write code</a:t>
            </a:r>
          </a:p>
        </p:txBody>
      </p:sp>
      <p:sp>
        <p:nvSpPr>
          <p:cNvPr id="171" name="Text 6"/>
          <p:cNvSpPr txBox="1"/>
          <p:nvPr/>
        </p:nvSpPr>
        <p:spPr>
          <a:xfrm>
            <a:off x="1381124" y="4124250"/>
            <a:ext cx="7515037" cy="783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5000"/>
              </a:lnSpc>
              <a:defRPr sz="20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Your coding assistant in the terminal. A $20/mo subscription — the human-in-the-loop tool you reach for while building.</a:t>
            </a:r>
          </a:p>
        </p:txBody>
      </p:sp>
      <p:sp>
        <p:nvSpPr>
          <p:cNvPr id="172" name="Shape 7"/>
          <p:cNvSpPr/>
          <p:nvPr/>
        </p:nvSpPr>
        <p:spPr>
          <a:xfrm>
            <a:off x="1381125" y="8453438"/>
            <a:ext cx="7296150" cy="757239"/>
          </a:xfrm>
          <a:prstGeom prst="roundRect">
            <a:avLst>
              <a:gd name="adj" fmla="val 12579"/>
            </a:avLst>
          </a:prstGeom>
          <a:solidFill>
            <a:srgbClr val="080F1B"/>
          </a:solidFill>
          <a:ln>
            <a:solidFill>
              <a:srgbClr val="94A3B8">
                <a:alpha val="1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8"/>
          <p:cNvSpPr txBox="1"/>
          <p:nvPr/>
        </p:nvSpPr>
        <p:spPr>
          <a:xfrm>
            <a:off x="1600199" y="8653463"/>
            <a:ext cx="7076887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0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Paid by subscription · usage limits, not per-token. </a:t>
            </a:r>
            <a:r>
              <a:rPr>
                <a:solidFill>
                  <a:srgbClr val="E7EDF5"/>
                </a:solidFill>
              </a:rPr>
              <a:t>Ask it first.</a:t>
            </a:r>
          </a:p>
        </p:txBody>
      </p:sp>
      <p:sp>
        <p:nvSpPr>
          <p:cNvPr id="174" name="Shape 9"/>
          <p:cNvSpPr/>
          <p:nvPr/>
        </p:nvSpPr>
        <p:spPr>
          <a:xfrm>
            <a:off x="9277350" y="2747888"/>
            <a:ext cx="7962900" cy="6796162"/>
          </a:xfrm>
          <a:prstGeom prst="roundRect">
            <a:avLst>
              <a:gd name="adj" fmla="val 2242"/>
            </a:avLst>
          </a:prstGeom>
          <a:solidFill>
            <a:srgbClr val="0F1A2C"/>
          </a:solidFill>
          <a:ln>
            <a:solidFill>
              <a:srgbClr val="A875E0">
                <a:alpha val="3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10"/>
          <p:cNvSpPr txBox="1"/>
          <p:nvPr/>
        </p:nvSpPr>
        <p:spPr>
          <a:xfrm>
            <a:off x="9610724" y="3081263"/>
            <a:ext cx="802576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A6E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Anthropic API · your key</a:t>
            </a:r>
          </a:p>
        </p:txBody>
      </p:sp>
      <p:sp>
        <p:nvSpPr>
          <p:cNvPr id="176" name="Text 11"/>
          <p:cNvSpPr txBox="1"/>
          <p:nvPr/>
        </p:nvSpPr>
        <p:spPr>
          <a:xfrm>
            <a:off x="9610724" y="3552750"/>
            <a:ext cx="8025767" cy="47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b="1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your code calls</a:t>
            </a:r>
          </a:p>
        </p:txBody>
      </p:sp>
      <p:sp>
        <p:nvSpPr>
          <p:cNvPr id="177" name="Text 12"/>
          <p:cNvSpPr txBox="1"/>
          <p:nvPr/>
        </p:nvSpPr>
        <p:spPr>
          <a:xfrm>
            <a:off x="9610724" y="4124250"/>
            <a:ext cx="7515037" cy="783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5000"/>
              </a:lnSpc>
              <a:defRPr sz="20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Your RAG, classification, and agent hit this at runtime. Billed per token — and the course budget is limited.</a:t>
            </a:r>
          </a:p>
        </p:txBody>
      </p:sp>
      <p:sp>
        <p:nvSpPr>
          <p:cNvPr id="178" name="Shape 13"/>
          <p:cNvSpPr/>
          <p:nvPr/>
        </p:nvSpPr>
        <p:spPr>
          <a:xfrm>
            <a:off x="9610725" y="8067675"/>
            <a:ext cx="7296150" cy="1143000"/>
          </a:xfrm>
          <a:prstGeom prst="roundRect">
            <a:avLst>
              <a:gd name="adj" fmla="val 8333"/>
            </a:avLst>
          </a:prstGeom>
          <a:solidFill>
            <a:srgbClr val="A875E0">
              <a:alpha val="10000"/>
            </a:srgbClr>
          </a:solidFill>
          <a:ln>
            <a:solidFill>
              <a:srgbClr val="A875E0">
                <a:alpha val="4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14"/>
          <p:cNvSpPr txBox="1"/>
          <p:nvPr/>
        </p:nvSpPr>
        <p:spPr>
          <a:xfrm>
            <a:off x="9829799" y="8267700"/>
            <a:ext cx="7076887" cy="781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50000"/>
              </a:lnSpc>
              <a:defRPr b="1" sz="1900">
                <a:solidFill>
                  <a:srgbClr val="C9A6E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Haiku only. </a:t>
            </a:r>
            <a:r>
              <a:rPr b="0">
                <a:solidFill>
                  <a:srgbClr val="E7EDF5"/>
                </a:solidFill>
              </a:rPr>
              <a:t>The cheapest model — $1 / $5 per million tokens. Never commit your key.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 txBox="1"/>
          <p:nvPr/>
        </p:nvSpPr>
        <p:spPr>
          <a:xfrm>
            <a:off x="1047750" y="800099"/>
            <a:ext cx="17811750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CLAUDE CODE · PRO PLAN</a:t>
            </a:r>
          </a:p>
        </p:txBody>
      </p:sp>
      <p:sp>
        <p:nvSpPr>
          <p:cNvPr id="184" name="Text 1"/>
          <p:cNvSpPr txBox="1"/>
          <p:nvPr/>
        </p:nvSpPr>
        <p:spPr>
          <a:xfrm>
            <a:off x="1047750" y="1271587"/>
            <a:ext cx="17811750" cy="63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000"/>
              </a:lnSpc>
              <a:defRPr b="1" spc="-92" sz="4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Know your Pro plan limits</a:t>
            </a:r>
          </a:p>
        </p:txBody>
      </p:sp>
      <p:sp>
        <p:nvSpPr>
          <p:cNvPr id="185" name="Text 2"/>
          <p:cNvSpPr txBox="1"/>
          <p:nvPr/>
        </p:nvSpPr>
        <p:spPr>
          <a:xfrm>
            <a:off x="1047750" y="1980232"/>
            <a:ext cx="13830300" cy="42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 sz="21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clocks govern how much you can use Claude Code. Plan your bursts around them.</a:t>
            </a:r>
          </a:p>
        </p:txBody>
      </p:sp>
      <p:sp>
        <p:nvSpPr>
          <p:cNvPr id="186" name="Shape 3"/>
          <p:cNvSpPr/>
          <p:nvPr/>
        </p:nvSpPr>
        <p:spPr>
          <a:xfrm>
            <a:off x="1047750" y="2747888"/>
            <a:ext cx="5219700" cy="6796162"/>
          </a:xfrm>
          <a:prstGeom prst="roundRect">
            <a:avLst>
              <a:gd name="adj" fmla="val 2920"/>
            </a:avLst>
          </a:prstGeom>
          <a:solidFill>
            <a:srgbClr val="0F1A2C"/>
          </a:solidFill>
          <a:ln>
            <a:solidFill>
              <a:srgbClr val="38BDF8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4"/>
          <p:cNvSpPr txBox="1"/>
          <p:nvPr/>
        </p:nvSpPr>
        <p:spPr>
          <a:xfrm>
            <a:off x="1381124" y="3081263"/>
            <a:ext cx="500824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rolling window</a:t>
            </a:r>
          </a:p>
        </p:txBody>
      </p:sp>
      <p:sp>
        <p:nvSpPr>
          <p:cNvPr id="188" name="Text 5"/>
          <p:cNvSpPr txBox="1"/>
          <p:nvPr/>
        </p:nvSpPr>
        <p:spPr>
          <a:xfrm>
            <a:off x="1381124" y="3571800"/>
            <a:ext cx="5008247" cy="798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58951">
              <a:lnSpc>
                <a:spcPct val="95000"/>
              </a:lnSpc>
              <a:defRPr b="1" sz="522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hours</a:t>
            </a:r>
          </a:p>
        </p:txBody>
      </p:sp>
      <p:sp>
        <p:nvSpPr>
          <p:cNvPr id="189" name="Text 6"/>
          <p:cNvSpPr txBox="1"/>
          <p:nvPr/>
        </p:nvSpPr>
        <p:spPr>
          <a:xfrm>
            <a:off x="1381125" y="4484265"/>
            <a:ext cx="4689539" cy="11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lnSpc>
                <a:spcPct val="145000"/>
              </a:lnSpc>
              <a:defRPr sz="1919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short-term session budget that resets ~5h after you start using it. Caps a burst of activity.</a:t>
            </a:r>
          </a:p>
        </p:txBody>
      </p:sp>
      <p:sp>
        <p:nvSpPr>
          <p:cNvPr id="190" name="Shape 7"/>
          <p:cNvSpPr/>
          <p:nvPr/>
        </p:nvSpPr>
        <p:spPr>
          <a:xfrm>
            <a:off x="6534150" y="2747888"/>
            <a:ext cx="5219700" cy="6796162"/>
          </a:xfrm>
          <a:prstGeom prst="roundRect">
            <a:avLst>
              <a:gd name="adj" fmla="val 2920"/>
            </a:avLst>
          </a:prstGeom>
          <a:solidFill>
            <a:srgbClr val="0F1A2C"/>
          </a:solidFill>
          <a:ln>
            <a:solidFill>
              <a:srgbClr val="A875E0">
                <a:alpha val="3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8"/>
          <p:cNvSpPr txBox="1"/>
          <p:nvPr/>
        </p:nvSpPr>
        <p:spPr>
          <a:xfrm>
            <a:off x="6867524" y="3081263"/>
            <a:ext cx="500824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A6E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longer term</a:t>
            </a:r>
          </a:p>
        </p:txBody>
      </p:sp>
      <p:sp>
        <p:nvSpPr>
          <p:cNvPr id="192" name="Text 9"/>
          <p:cNvSpPr txBox="1"/>
          <p:nvPr/>
        </p:nvSpPr>
        <p:spPr>
          <a:xfrm>
            <a:off x="6867524" y="3571800"/>
            <a:ext cx="5008247" cy="798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58951">
              <a:lnSpc>
                <a:spcPct val="95000"/>
              </a:lnSpc>
              <a:defRPr b="1" sz="522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Weekly</a:t>
            </a:r>
          </a:p>
        </p:txBody>
      </p:sp>
      <p:sp>
        <p:nvSpPr>
          <p:cNvPr id="193" name="Text 10"/>
          <p:cNvSpPr txBox="1"/>
          <p:nvPr/>
        </p:nvSpPr>
        <p:spPr>
          <a:xfrm>
            <a:off x="6867525" y="4484265"/>
            <a:ext cx="4689539" cy="11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lnSpc>
                <a:spcPct val="145000"/>
              </a:lnSpc>
              <a:defRPr sz="1919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weekly cap that resets at a fixed time for your account. Constrains heavy, day-after-day use.</a:t>
            </a:r>
          </a:p>
        </p:txBody>
      </p:sp>
      <p:sp>
        <p:nvSpPr>
          <p:cNvPr id="194" name="Shape 11"/>
          <p:cNvSpPr/>
          <p:nvPr/>
        </p:nvSpPr>
        <p:spPr>
          <a:xfrm>
            <a:off x="12020550" y="2747888"/>
            <a:ext cx="5219700" cy="6796162"/>
          </a:xfrm>
          <a:prstGeom prst="roundRect">
            <a:avLst>
              <a:gd name="adj" fmla="val 2920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12"/>
          <p:cNvSpPr txBox="1"/>
          <p:nvPr/>
        </p:nvSpPr>
        <p:spPr>
          <a:xfrm>
            <a:off x="12353924" y="3081263"/>
            <a:ext cx="500824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9FB0C4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one shared pool</a:t>
            </a:r>
          </a:p>
        </p:txBody>
      </p:sp>
      <p:sp>
        <p:nvSpPr>
          <p:cNvPr id="196" name="Text 13"/>
          <p:cNvSpPr txBox="1"/>
          <p:nvPr/>
        </p:nvSpPr>
        <p:spPr>
          <a:xfrm>
            <a:off x="12353925" y="3571800"/>
            <a:ext cx="4689539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77823">
              <a:lnSpc>
                <a:spcPct val="120000"/>
              </a:lnSpc>
              <a:defRPr b="1" sz="211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Code + chat draw from the same budget</a:t>
            </a:r>
          </a:p>
        </p:txBody>
      </p:sp>
      <p:sp>
        <p:nvSpPr>
          <p:cNvPr id="197" name="Text 14"/>
          <p:cNvSpPr txBox="1"/>
          <p:nvPr/>
        </p:nvSpPr>
        <p:spPr>
          <a:xfrm>
            <a:off x="12353925" y="4410000"/>
            <a:ext cx="4689539" cy="756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5000"/>
              </a:lnSpc>
              <a:defRPr sz="1900"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fixed message count — cost scales with model, context size and length.</a:t>
            </a:r>
          </a:p>
        </p:txBody>
      </p:sp>
      <p:sp>
        <p:nvSpPr>
          <p:cNvPr id="198" name="Shape 15"/>
          <p:cNvSpPr/>
          <p:nvPr/>
        </p:nvSpPr>
        <p:spPr>
          <a:xfrm>
            <a:off x="12353925" y="8586788"/>
            <a:ext cx="4552950" cy="623889"/>
          </a:xfrm>
          <a:prstGeom prst="roundRect">
            <a:avLst>
              <a:gd name="adj" fmla="val 15267"/>
            </a:avLst>
          </a:prstGeom>
          <a:solidFill>
            <a:srgbClr val="080F1B"/>
          </a:solidFill>
          <a:ln>
            <a:solidFill>
              <a:srgbClr val="94A3B8">
                <a:alpha val="1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16"/>
          <p:cNvSpPr txBox="1"/>
          <p:nvPr/>
        </p:nvSpPr>
        <p:spPr>
          <a:xfrm>
            <a:off x="12553950" y="8748713"/>
            <a:ext cx="4289489" cy="338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FD7F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/usage · /status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 txBox="1"/>
          <p:nvPr/>
        </p:nvSpPr>
        <p:spPr>
          <a:xfrm>
            <a:off x="1047750" y="800099"/>
            <a:ext cx="17811750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HABITS</a:t>
            </a:r>
          </a:p>
        </p:txBody>
      </p:sp>
      <p:sp>
        <p:nvSpPr>
          <p:cNvPr id="204" name="Text 1"/>
          <p:cNvSpPr txBox="1"/>
          <p:nvPr/>
        </p:nvSpPr>
        <p:spPr>
          <a:xfrm>
            <a:off x="1047750" y="1271587"/>
            <a:ext cx="17811750" cy="63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104000"/>
              </a:lnSpc>
              <a:defRPr b="1" spc="-92" sz="41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Working well with Claude Code</a:t>
            </a:r>
          </a:p>
        </p:txBody>
      </p:sp>
      <p:sp>
        <p:nvSpPr>
          <p:cNvPr id="205" name="Text 2"/>
          <p:cNvSpPr txBox="1"/>
          <p:nvPr/>
        </p:nvSpPr>
        <p:spPr>
          <a:xfrm>
            <a:off x="1047750" y="1980232"/>
            <a:ext cx="13830300" cy="42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 sz="21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Small habits stretch your budget and get you better results.</a:t>
            </a:r>
          </a:p>
        </p:txBody>
      </p:sp>
      <p:sp>
        <p:nvSpPr>
          <p:cNvPr id="206" name="Shape 3"/>
          <p:cNvSpPr/>
          <p:nvPr/>
        </p:nvSpPr>
        <p:spPr>
          <a:xfrm>
            <a:off x="1047750" y="2747888"/>
            <a:ext cx="5257800" cy="3293270"/>
          </a:xfrm>
          <a:prstGeom prst="roundRect">
            <a:avLst>
              <a:gd name="adj" fmla="val 4049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4"/>
          <p:cNvSpPr txBox="1"/>
          <p:nvPr/>
        </p:nvSpPr>
        <p:spPr>
          <a:xfrm>
            <a:off x="1343025" y="3024113"/>
            <a:ext cx="513397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FD7F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model choice</a:t>
            </a:r>
          </a:p>
        </p:txBody>
      </p:sp>
      <p:sp>
        <p:nvSpPr>
          <p:cNvPr id="208" name="Text 5"/>
          <p:cNvSpPr txBox="1"/>
          <p:nvPr/>
        </p:nvSpPr>
        <p:spPr>
          <a:xfrm>
            <a:off x="1343025" y="3457500"/>
            <a:ext cx="5133975" cy="375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z="2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Default to Sonnet</a:t>
            </a:r>
          </a:p>
        </p:txBody>
      </p:sp>
      <p:sp>
        <p:nvSpPr>
          <p:cNvPr id="209" name="Text 6"/>
          <p:cNvSpPr txBox="1"/>
          <p:nvPr/>
        </p:nvSpPr>
        <p:spPr>
          <a:xfrm>
            <a:off x="1343025" y="3862313"/>
            <a:ext cx="4807268" cy="70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Save the heavyweight model for genuinely hard reasoning.</a:t>
            </a:r>
          </a:p>
        </p:txBody>
      </p:sp>
      <p:sp>
        <p:nvSpPr>
          <p:cNvPr id="210" name="Shape 7"/>
          <p:cNvSpPr/>
          <p:nvPr/>
        </p:nvSpPr>
        <p:spPr>
          <a:xfrm>
            <a:off x="6515100" y="2747888"/>
            <a:ext cx="5257800" cy="3293270"/>
          </a:xfrm>
          <a:prstGeom prst="roundRect">
            <a:avLst>
              <a:gd name="adj" fmla="val 4049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8"/>
          <p:cNvSpPr txBox="1"/>
          <p:nvPr/>
        </p:nvSpPr>
        <p:spPr>
          <a:xfrm>
            <a:off x="6810375" y="3024113"/>
            <a:ext cx="513397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FD7F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/clear</a:t>
            </a:r>
          </a:p>
        </p:txBody>
      </p:sp>
      <p:sp>
        <p:nvSpPr>
          <p:cNvPr id="212" name="Text 9"/>
          <p:cNvSpPr txBox="1"/>
          <p:nvPr/>
        </p:nvSpPr>
        <p:spPr>
          <a:xfrm>
            <a:off x="6810375" y="3457500"/>
            <a:ext cx="5133975" cy="375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z="2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Reset between tasks</a:t>
            </a:r>
          </a:p>
        </p:txBody>
      </p:sp>
      <p:sp>
        <p:nvSpPr>
          <p:cNvPr id="213" name="Text 10"/>
          <p:cNvSpPr txBox="1"/>
          <p:nvPr/>
        </p:nvSpPr>
        <p:spPr>
          <a:xfrm>
            <a:off x="6810375" y="3862313"/>
            <a:ext cx="4807268" cy="70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Start each new task with a clean context — don't drag the last one along.</a:t>
            </a:r>
          </a:p>
        </p:txBody>
      </p:sp>
      <p:sp>
        <p:nvSpPr>
          <p:cNvPr id="214" name="Shape 11"/>
          <p:cNvSpPr/>
          <p:nvPr/>
        </p:nvSpPr>
        <p:spPr>
          <a:xfrm>
            <a:off x="11982450" y="2747888"/>
            <a:ext cx="5257800" cy="3293270"/>
          </a:xfrm>
          <a:prstGeom prst="roundRect">
            <a:avLst>
              <a:gd name="adj" fmla="val 4049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12"/>
          <p:cNvSpPr txBox="1"/>
          <p:nvPr/>
        </p:nvSpPr>
        <p:spPr>
          <a:xfrm>
            <a:off x="12277725" y="3024113"/>
            <a:ext cx="513397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FD7F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/compact</a:t>
            </a:r>
          </a:p>
        </p:txBody>
      </p:sp>
      <p:sp>
        <p:nvSpPr>
          <p:cNvPr id="216" name="Text 13"/>
          <p:cNvSpPr txBox="1"/>
          <p:nvPr/>
        </p:nvSpPr>
        <p:spPr>
          <a:xfrm>
            <a:off x="12277725" y="3457500"/>
            <a:ext cx="5133975" cy="375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z="2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Shrink long sessions</a:t>
            </a:r>
          </a:p>
        </p:txBody>
      </p:sp>
      <p:sp>
        <p:nvSpPr>
          <p:cNvPr id="217" name="Text 14"/>
          <p:cNvSpPr txBox="1"/>
          <p:nvPr/>
        </p:nvSpPr>
        <p:spPr>
          <a:xfrm>
            <a:off x="12277725" y="3862313"/>
            <a:ext cx="4807268" cy="70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Compress history so you resend less context every turn.</a:t>
            </a:r>
          </a:p>
        </p:txBody>
      </p:sp>
      <p:sp>
        <p:nvSpPr>
          <p:cNvPr id="218" name="Shape 15"/>
          <p:cNvSpPr/>
          <p:nvPr/>
        </p:nvSpPr>
        <p:spPr>
          <a:xfrm>
            <a:off x="1047750" y="6250706"/>
            <a:ext cx="5257800" cy="3293344"/>
          </a:xfrm>
          <a:prstGeom prst="roundRect">
            <a:avLst>
              <a:gd name="adj" fmla="val 4049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6"/>
          <p:cNvSpPr txBox="1"/>
          <p:nvPr/>
        </p:nvSpPr>
        <p:spPr>
          <a:xfrm>
            <a:off x="1343025" y="6526931"/>
            <a:ext cx="513397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FD7F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scope</a:t>
            </a:r>
          </a:p>
        </p:txBody>
      </p:sp>
      <p:sp>
        <p:nvSpPr>
          <p:cNvPr id="220" name="Text 17"/>
          <p:cNvSpPr txBox="1"/>
          <p:nvPr/>
        </p:nvSpPr>
        <p:spPr>
          <a:xfrm>
            <a:off x="1343025" y="6960319"/>
            <a:ext cx="5133975" cy="37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z="2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task per session</a:t>
            </a:r>
          </a:p>
        </p:txBody>
      </p:sp>
      <p:sp>
        <p:nvSpPr>
          <p:cNvPr id="221" name="Text 18"/>
          <p:cNvSpPr txBox="1"/>
          <p:nvPr/>
        </p:nvSpPr>
        <p:spPr>
          <a:xfrm>
            <a:off x="1343025" y="7365131"/>
            <a:ext cx="4807268" cy="70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Small, finished tasks beat one giant marathon prompt.</a:t>
            </a:r>
          </a:p>
        </p:txBody>
      </p:sp>
      <p:sp>
        <p:nvSpPr>
          <p:cNvPr id="222" name="Shape 19"/>
          <p:cNvSpPr/>
          <p:nvPr/>
        </p:nvSpPr>
        <p:spPr>
          <a:xfrm>
            <a:off x="6515100" y="6250706"/>
            <a:ext cx="5257800" cy="3293344"/>
          </a:xfrm>
          <a:prstGeom prst="roundRect">
            <a:avLst>
              <a:gd name="adj" fmla="val 4049"/>
            </a:avLst>
          </a:prstGeom>
          <a:solidFill>
            <a:srgbClr val="0F1A2C"/>
          </a:solidFill>
          <a:ln>
            <a:solidFill>
              <a:srgbClr val="94A3B8">
                <a:alpha val="14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20"/>
          <p:cNvSpPr txBox="1"/>
          <p:nvPr/>
        </p:nvSpPr>
        <p:spPr>
          <a:xfrm>
            <a:off x="6810375" y="6526931"/>
            <a:ext cx="513397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FD7F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prompts</a:t>
            </a:r>
          </a:p>
        </p:txBody>
      </p:sp>
      <p:sp>
        <p:nvSpPr>
          <p:cNvPr id="224" name="Text 21"/>
          <p:cNvSpPr txBox="1"/>
          <p:nvPr/>
        </p:nvSpPr>
        <p:spPr>
          <a:xfrm>
            <a:off x="6810375" y="6960319"/>
            <a:ext cx="5133975" cy="37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z="2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 specific</a:t>
            </a:r>
          </a:p>
        </p:txBody>
      </p:sp>
      <p:sp>
        <p:nvSpPr>
          <p:cNvPr id="225" name="Text 22"/>
          <p:cNvSpPr txBox="1"/>
          <p:nvPr/>
        </p:nvSpPr>
        <p:spPr>
          <a:xfrm>
            <a:off x="6810375" y="7365131"/>
            <a:ext cx="4807268" cy="70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Name the file, the goal, the constraints. Vague asks waste turns.</a:t>
            </a:r>
          </a:p>
        </p:txBody>
      </p:sp>
      <p:sp>
        <p:nvSpPr>
          <p:cNvPr id="226" name="Shape 23"/>
          <p:cNvSpPr/>
          <p:nvPr/>
        </p:nvSpPr>
        <p:spPr>
          <a:xfrm>
            <a:off x="11982450" y="6250706"/>
            <a:ext cx="5257800" cy="3293344"/>
          </a:xfrm>
          <a:prstGeom prst="roundRect">
            <a:avLst>
              <a:gd name="adj" fmla="val 4049"/>
            </a:avLst>
          </a:prstGeom>
          <a:solidFill>
            <a:srgbClr val="0F1A2C"/>
          </a:solidFill>
          <a:ln>
            <a:solidFill>
              <a:srgbClr val="A875E0">
                <a:alpha val="3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24"/>
          <p:cNvSpPr txBox="1"/>
          <p:nvPr/>
        </p:nvSpPr>
        <p:spPr>
          <a:xfrm>
            <a:off x="12277725" y="6526931"/>
            <a:ext cx="513397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A6E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CLAUDE.md</a:t>
            </a:r>
          </a:p>
        </p:txBody>
      </p:sp>
      <p:sp>
        <p:nvSpPr>
          <p:cNvPr id="228" name="Text 25"/>
          <p:cNvSpPr txBox="1"/>
          <p:nvPr/>
        </p:nvSpPr>
        <p:spPr>
          <a:xfrm>
            <a:off x="12277725" y="6960319"/>
            <a:ext cx="5133975" cy="37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z="213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Keep it lean</a:t>
            </a:r>
          </a:p>
        </p:txBody>
      </p:sp>
      <p:sp>
        <p:nvSpPr>
          <p:cNvPr id="229" name="Text 26"/>
          <p:cNvSpPr txBox="1"/>
          <p:nvPr/>
        </p:nvSpPr>
        <p:spPr>
          <a:xfrm>
            <a:off x="12277725" y="7365131"/>
            <a:ext cx="4807268" cy="704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40000"/>
              </a:lnSpc>
              <a:defRPr>
                <a:solidFill>
                  <a:srgbClr val="9FB0C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It's resent every request — short project notes, not an essay.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38BDF8">
                  <a:alpha val="16000"/>
                </a:srgbClr>
              </a:gs>
              <a:gs pos="55000">
                <a:srgbClr val="38BDF8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"/>
          <p:cNvSpPr txBox="1"/>
          <p:nvPr/>
        </p:nvSpPr>
        <p:spPr>
          <a:xfrm>
            <a:off x="1047750" y="914399"/>
            <a:ext cx="17811750" cy="33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 spc="200"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NEXT UP</a:t>
            </a:r>
          </a:p>
        </p:txBody>
      </p:sp>
      <p:sp>
        <p:nvSpPr>
          <p:cNvPr id="235" name="Text 2"/>
          <p:cNvSpPr txBox="1"/>
          <p:nvPr/>
        </p:nvSpPr>
        <p:spPr>
          <a:xfrm>
            <a:off x="1047750" y="4095303"/>
            <a:ext cx="14668500" cy="1008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95527">
              <a:lnSpc>
                <a:spcPct val="98000"/>
              </a:lnSpc>
              <a:defRPr b="1" spc="-174" sz="67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Start with TD1.</a:t>
            </a:r>
          </a:p>
        </p:txBody>
      </p:sp>
      <p:sp>
        <p:nvSpPr>
          <p:cNvPr id="236" name="Text 3"/>
          <p:cNvSpPr txBox="1"/>
          <p:nvPr/>
        </p:nvSpPr>
        <p:spPr>
          <a:xfrm>
            <a:off x="1047749" y="5389884"/>
            <a:ext cx="10203182" cy="954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45000"/>
              </a:lnSpc>
              <a:defRPr sz="2400">
                <a:solidFill>
                  <a:srgbClr val="AEBAC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Embeddings — the semantic space everything else is built on. Open </a:t>
            </a:r>
            <a:r>
              <a:rPr>
                <a:solidFill>
                  <a:srgbClr val="7FD7F5"/>
                </a:solidFill>
                <a:latin typeface="Courier New"/>
                <a:ea typeface="Courier New"/>
                <a:cs typeface="Courier New"/>
                <a:sym typeface="Courier New"/>
              </a:rPr>
              <a:t>getting_started.ipynb </a:t>
            </a:r>
            <a:r>
              <a:t>to check your setup, then jump in.</a:t>
            </a:r>
          </a:p>
        </p:txBody>
      </p:sp>
      <p:sp>
        <p:nvSpPr>
          <p:cNvPr id="237" name="Text 4"/>
          <p:cNvSpPr txBox="1"/>
          <p:nvPr/>
        </p:nvSpPr>
        <p:spPr>
          <a:xfrm>
            <a:off x="1047749" y="9186863"/>
            <a:ext cx="487712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38BDF8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TD1</a:t>
            </a:r>
          </a:p>
        </p:txBody>
      </p:sp>
      <p:sp>
        <p:nvSpPr>
          <p:cNvPr id="238" name="Text 5"/>
          <p:cNvSpPr txBox="1"/>
          <p:nvPr/>
        </p:nvSpPr>
        <p:spPr>
          <a:xfrm>
            <a:off x="1592609" y="9186863"/>
            <a:ext cx="21386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39" name="Text 6"/>
          <p:cNvSpPr txBox="1"/>
          <p:nvPr/>
        </p:nvSpPr>
        <p:spPr>
          <a:xfrm>
            <a:off x="1863625" y="9186863"/>
            <a:ext cx="48771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TD2</a:t>
            </a:r>
          </a:p>
        </p:txBody>
      </p:sp>
      <p:sp>
        <p:nvSpPr>
          <p:cNvPr id="240" name="Text 7"/>
          <p:cNvSpPr txBox="1"/>
          <p:nvPr/>
        </p:nvSpPr>
        <p:spPr>
          <a:xfrm>
            <a:off x="2408485" y="9186863"/>
            <a:ext cx="21386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1" name="Text 8"/>
          <p:cNvSpPr txBox="1"/>
          <p:nvPr/>
        </p:nvSpPr>
        <p:spPr>
          <a:xfrm>
            <a:off x="2679501" y="9186863"/>
            <a:ext cx="48771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TD3</a:t>
            </a:r>
          </a:p>
        </p:txBody>
      </p:sp>
      <p:sp>
        <p:nvSpPr>
          <p:cNvPr id="242" name="Text 9"/>
          <p:cNvSpPr txBox="1"/>
          <p:nvPr/>
        </p:nvSpPr>
        <p:spPr>
          <a:xfrm>
            <a:off x="3224360" y="9186863"/>
            <a:ext cx="21386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3" name="Text 10"/>
          <p:cNvSpPr txBox="1"/>
          <p:nvPr/>
        </p:nvSpPr>
        <p:spPr>
          <a:xfrm>
            <a:off x="3495376" y="9186863"/>
            <a:ext cx="48771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TD4</a:t>
            </a:r>
          </a:p>
        </p:txBody>
      </p:sp>
      <p:sp>
        <p:nvSpPr>
          <p:cNvPr id="244" name="Text 11"/>
          <p:cNvSpPr txBox="1"/>
          <p:nvPr/>
        </p:nvSpPr>
        <p:spPr>
          <a:xfrm>
            <a:off x="4040237" y="9186863"/>
            <a:ext cx="213866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788599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5" name="Text 12"/>
          <p:cNvSpPr txBox="1"/>
          <p:nvPr/>
        </p:nvSpPr>
        <p:spPr>
          <a:xfrm>
            <a:off x="4311253" y="9186863"/>
            <a:ext cx="487711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C9A6E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TD5</a:t>
            </a:r>
          </a:p>
        </p:txBody>
      </p:sp>
      <p:sp>
        <p:nvSpPr>
          <p:cNvPr id="246" name="Text 13"/>
          <p:cNvSpPr txBox="1"/>
          <p:nvPr/>
        </p:nvSpPr>
        <p:spPr>
          <a:xfrm>
            <a:off x="4951362" y="9186863"/>
            <a:ext cx="1660194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defRPr>
                <a:solidFill>
                  <a:srgbClr val="5A6677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→ hackathon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